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7-1.png"/><Relationship Id="rId6" Type="http://schemas.openxmlformats.org/officeDocument/2006/relationships/image" Target="../media/image-7-1.png"/><Relationship Id="rId7" Type="http://schemas.openxmlformats.org/officeDocument/2006/relationships/image" Target="../media/image-7-1.png"/><Relationship Id="rId8" Type="http://schemas.openxmlformats.org/officeDocument/2006/relationships/image" Target="../media/image-7-1.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2.png"/><Relationship Id="rId5" Type="http://schemas.openxmlformats.org/officeDocument/2006/relationships/image" Target="../media/image-8-2.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2.png"/><Relationship Id="rId9" Type="http://schemas.openxmlformats.org/officeDocument/2006/relationships/image" Target="../media/image-8-2.png"/><Relationship Id="rId10" Type="http://schemas.openxmlformats.org/officeDocument/2006/relationships/image" Target="../media/image-8-2.png"/><Relationship Id="rId11" Type="http://schemas.openxmlformats.org/officeDocument/2006/relationships/image" Target="../media/image-8-2.png"/><Relationship Id="rId12" Type="http://schemas.openxmlformats.org/officeDocument/2006/relationships/image" Target="../media/image-8-2.png"/><Relationship Id="rId13" Type="http://schemas.openxmlformats.org/officeDocument/2006/relationships/image" Target="../media/image-8-2.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1.png"/><Relationship Id="rId8" Type="http://schemas.openxmlformats.org/officeDocument/2006/relationships/image" Target="../media/image-11-8.png"/><Relationship Id="rId9" Type="http://schemas.openxmlformats.org/officeDocument/2006/relationships/image" Target="../media/image-11-8.png"/><Relationship Id="rId10" Type="http://schemas.openxmlformats.org/officeDocument/2006/relationships/image" Target="../media/image-11-8.png"/><Relationship Id="rId11" Type="http://schemas.openxmlformats.org/officeDocument/2006/relationships/image" Target="../media/image-11-8.png"/><Relationship Id="rId12" Type="http://schemas.openxmlformats.org/officeDocument/2006/relationships/image" Target="../media/image-11-8.png"/><Relationship Id="rId13" Type="http://schemas.openxmlformats.org/officeDocument/2006/relationships/image" Target="../media/image-11-8.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6.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6.png"/><Relationship Id="rId7" Type="http://schemas.openxmlformats.org/officeDocument/2006/relationships/image" Target="../media/image-13-2.png"/><Relationship Id="rId8" Type="http://schemas.openxmlformats.org/officeDocument/2006/relationships/image" Target="../media/image-13-2.png"/><Relationship Id="rId9" Type="http://schemas.openxmlformats.org/officeDocument/2006/relationships/image" Target="../media/image-13-2.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5.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pic>
        <p:nvPicPr>
          <p:cNvPr id="2" name="Image 0" descr="/home/claude/manjula/icons/skyline_gold_faint.png">    </p:cNvPr>
          <p:cNvPicPr>
            <a:picLocks noChangeAspect="1"/>
          </p:cNvPicPr>
          <p:nvPr/>
        </p:nvPicPr>
        <p:blipFill>
          <a:blip r:embed="rId1"/>
          <a:stretch>
            <a:fillRect/>
          </a:stretch>
        </p:blipFill>
        <p:spPr>
          <a:xfrm>
            <a:off x="-274320" y="4617720"/>
            <a:ext cx="12801600" cy="2377440"/>
          </a:xfrm>
          <a:prstGeom prst="rect">
            <a:avLst/>
          </a:prstGeom>
        </p:spPr>
      </p:pic>
      <p:sp>
        <p:nvSpPr>
          <p:cNvPr id="3" name="Text 0"/>
          <p:cNvSpPr/>
          <p:nvPr/>
        </p:nvSpPr>
        <p:spPr>
          <a:xfrm>
            <a:off x="822960" y="685800"/>
            <a:ext cx="7315200" cy="365760"/>
          </a:xfrm>
          <a:prstGeom prst="rect">
            <a:avLst/>
          </a:prstGeom>
          <a:noFill/>
          <a:ln/>
        </p:spPr>
        <p:txBody>
          <a:bodyPr wrap="square" rtlCol="0" anchor="ctr"/>
          <a:lstStyle/>
          <a:p>
            <a:pPr indent="0" marL="0">
              <a:buNone/>
            </a:pPr>
            <a:r>
              <a:rPr lang="en-US" sz="1200" b="1" spc="300" kern="0" dirty="0">
                <a:solidFill>
                  <a:srgbClr val="C89B3C"/>
                </a:solidFill>
                <a:latin typeface="Calibri" pitchFamily="34" charset="0"/>
                <a:ea typeface="Calibri" pitchFamily="34" charset="-122"/>
                <a:cs typeface="Calibri" pitchFamily="34" charset="-120"/>
              </a:rPr>
              <a:t>EST. 2005  •  20+ YEARS OF EXCELLENCE</a:t>
            </a:r>
            <a:endParaRPr lang="en-US" sz="1200" dirty="0"/>
          </a:p>
        </p:txBody>
      </p:sp>
      <p:sp>
        <p:nvSpPr>
          <p:cNvPr id="4" name="Text 1"/>
          <p:cNvSpPr/>
          <p:nvPr/>
        </p:nvSpPr>
        <p:spPr>
          <a:xfrm>
            <a:off x="777240" y="1143000"/>
            <a:ext cx="10058400" cy="1280160"/>
          </a:xfrm>
          <a:prstGeom prst="rect">
            <a:avLst/>
          </a:prstGeom>
          <a:noFill/>
          <a:ln/>
        </p:spPr>
        <p:txBody>
          <a:bodyPr wrap="square" rtlCol="0" anchor="ctr"/>
          <a:lstStyle/>
          <a:p>
            <a:pPr indent="0" marL="0">
              <a:buNone/>
            </a:pPr>
            <a:r>
              <a:rPr lang="en-US" sz="7000" b="1" spc="100" kern="0" dirty="0">
                <a:solidFill>
                  <a:srgbClr val="FFFFFF"/>
                </a:solidFill>
                <a:latin typeface="Cambria" pitchFamily="34" charset="0"/>
                <a:ea typeface="Cambria" pitchFamily="34" charset="-122"/>
                <a:cs typeface="Cambria" pitchFamily="34" charset="-120"/>
              </a:rPr>
              <a:t>MANJULA</a:t>
            </a:r>
            <a:endParaRPr lang="en-US" sz="7000" dirty="0"/>
          </a:p>
        </p:txBody>
      </p:sp>
      <p:sp>
        <p:nvSpPr>
          <p:cNvPr id="5" name="Text 2"/>
          <p:cNvSpPr/>
          <p:nvPr/>
        </p:nvSpPr>
        <p:spPr>
          <a:xfrm>
            <a:off x="822960" y="2148840"/>
            <a:ext cx="10058400" cy="777240"/>
          </a:xfrm>
          <a:prstGeom prst="rect">
            <a:avLst/>
          </a:prstGeom>
          <a:noFill/>
          <a:ln/>
        </p:spPr>
        <p:txBody>
          <a:bodyPr wrap="square" rtlCol="0" anchor="ctr"/>
          <a:lstStyle/>
          <a:p>
            <a:pPr indent="0" marL="0">
              <a:buNone/>
            </a:pPr>
            <a:r>
              <a:rPr lang="en-US" sz="3400" spc="600" kern="0" dirty="0">
                <a:solidFill>
                  <a:srgbClr val="E7CE94"/>
                </a:solidFill>
                <a:latin typeface="Cambria" pitchFamily="34" charset="0"/>
                <a:ea typeface="Cambria" pitchFamily="34" charset="-122"/>
                <a:cs typeface="Cambria" pitchFamily="34" charset="-120"/>
              </a:rPr>
              <a:t>CONSTRUCTION</a:t>
            </a:r>
            <a:endParaRPr lang="en-US" sz="3400" dirty="0"/>
          </a:p>
        </p:txBody>
      </p:sp>
      <p:sp>
        <p:nvSpPr>
          <p:cNvPr id="6" name="Shape 3"/>
          <p:cNvSpPr/>
          <p:nvPr/>
        </p:nvSpPr>
        <p:spPr>
          <a:xfrm>
            <a:off x="841248" y="3063240"/>
            <a:ext cx="1463040" cy="0"/>
          </a:xfrm>
          <a:prstGeom prst="line">
            <a:avLst/>
          </a:prstGeom>
          <a:noFill/>
          <a:ln w="25400">
            <a:solidFill>
              <a:srgbClr val="C89B3C"/>
            </a:solidFill>
            <a:prstDash val="solid"/>
          </a:ln>
        </p:spPr>
      </p:sp>
      <p:sp>
        <p:nvSpPr>
          <p:cNvPr id="7" name="Text 4"/>
          <p:cNvSpPr/>
          <p:nvPr/>
        </p:nvSpPr>
        <p:spPr>
          <a:xfrm>
            <a:off x="822960" y="3200400"/>
            <a:ext cx="7772400" cy="457200"/>
          </a:xfrm>
          <a:prstGeom prst="rect">
            <a:avLst/>
          </a:prstGeom>
          <a:noFill/>
          <a:ln/>
        </p:spPr>
        <p:txBody>
          <a:bodyPr wrap="square" rtlCol="0" anchor="ctr"/>
          <a:lstStyle/>
          <a:p>
            <a:pPr indent="0" marL="0">
              <a:buNone/>
            </a:pPr>
            <a:r>
              <a:rPr lang="en-US" sz="1800" i="1" dirty="0">
                <a:solidFill>
                  <a:srgbClr val="D8DEED"/>
                </a:solidFill>
                <a:latin typeface="Cambria" pitchFamily="34" charset="0"/>
                <a:ea typeface="Cambria" pitchFamily="34" charset="-122"/>
                <a:cs typeface="Cambria" pitchFamily="34" charset="-120"/>
              </a:rPr>
              <a:t>From Foundation to Finish, We Build Excellence.</a:t>
            </a:r>
            <a:endParaRPr lang="en-US" sz="1800" dirty="0"/>
          </a:p>
        </p:txBody>
      </p:sp>
      <p:sp>
        <p:nvSpPr>
          <p:cNvPr id="8" name="Text 5"/>
          <p:cNvSpPr/>
          <p:nvPr/>
        </p:nvSpPr>
        <p:spPr>
          <a:xfrm>
            <a:off x="822960" y="4617720"/>
            <a:ext cx="146304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p:txBody>
      </p:sp>
      <p:sp>
        <p:nvSpPr>
          <p:cNvPr id="9" name="Text 6"/>
          <p:cNvSpPr/>
          <p:nvPr/>
        </p:nvSpPr>
        <p:spPr>
          <a:xfrm>
            <a:off x="822960" y="5138928"/>
            <a:ext cx="2011680" cy="502920"/>
          </a:xfrm>
          <a:prstGeom prst="rect">
            <a:avLst/>
          </a:prstGeom>
          <a:noFill/>
          <a:ln/>
        </p:spPr>
        <p:txBody>
          <a:bodyPr wrap="square" rtlCol="0" anchor="ctr"/>
          <a:lstStyle/>
          <a:p>
            <a:pPr indent="0" marL="0">
              <a:lnSpc>
                <a:spcPct val="105000"/>
              </a:lnSpc>
              <a:buNone/>
            </a:pPr>
            <a:r>
              <a:rPr lang="en-US" sz="1050" dirty="0">
                <a:solidFill>
                  <a:srgbClr val="AEB9D6"/>
                </a:solidFill>
                <a:latin typeface="Calibri" pitchFamily="34" charset="0"/>
                <a:ea typeface="Calibri" pitchFamily="34" charset="-122"/>
                <a:cs typeface="Calibri" pitchFamily="34" charset="-120"/>
              </a:rPr>
              <a:t>Years of</a:t>
            </a:r>
            <a:endParaRPr lang="en-US" sz="1050" dirty="0"/>
          </a:p>
          <a:p>
            <a:pPr indent="0" marL="0">
              <a:lnSpc>
                <a:spcPct val="105000"/>
              </a:lnSpc>
              <a:buNone/>
            </a:pPr>
            <a:r>
              <a:rPr lang="en-US" sz="1050" dirty="0">
                <a:solidFill>
                  <a:srgbClr val="AEB9D6"/>
                </a:solidFill>
                <a:latin typeface="Calibri" pitchFamily="34" charset="0"/>
                <a:ea typeface="Calibri" pitchFamily="34" charset="-122"/>
                <a:cs typeface="Calibri" pitchFamily="34" charset="-120"/>
              </a:rPr>
              <a:t>Experience</a:t>
            </a:r>
            <a:endParaRPr lang="en-US" sz="1050" dirty="0"/>
          </a:p>
        </p:txBody>
      </p:sp>
      <p:sp>
        <p:nvSpPr>
          <p:cNvPr id="10" name="Text 7"/>
          <p:cNvSpPr/>
          <p:nvPr/>
        </p:nvSpPr>
        <p:spPr>
          <a:xfrm>
            <a:off x="2926080" y="4617720"/>
            <a:ext cx="146304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50+</a:t>
            </a:r>
            <a:endParaRPr lang="en-US" sz="3000" dirty="0"/>
          </a:p>
        </p:txBody>
      </p:sp>
      <p:sp>
        <p:nvSpPr>
          <p:cNvPr id="11" name="Text 8"/>
          <p:cNvSpPr/>
          <p:nvPr/>
        </p:nvSpPr>
        <p:spPr>
          <a:xfrm>
            <a:off x="2926080" y="5138928"/>
            <a:ext cx="2011680" cy="502920"/>
          </a:xfrm>
          <a:prstGeom prst="rect">
            <a:avLst/>
          </a:prstGeom>
          <a:noFill/>
          <a:ln/>
        </p:spPr>
        <p:txBody>
          <a:bodyPr wrap="square" rtlCol="0" anchor="ctr"/>
          <a:lstStyle/>
          <a:p>
            <a:pPr indent="0" marL="0">
              <a:lnSpc>
                <a:spcPct val="105000"/>
              </a:lnSpc>
              <a:buNone/>
            </a:pPr>
            <a:r>
              <a:rPr lang="en-US" sz="1050" dirty="0">
                <a:solidFill>
                  <a:srgbClr val="AEB9D6"/>
                </a:solidFill>
                <a:latin typeface="Calibri" pitchFamily="34" charset="0"/>
                <a:ea typeface="Calibri" pitchFamily="34" charset="-122"/>
                <a:cs typeface="Calibri" pitchFamily="34" charset="-120"/>
              </a:rPr>
              <a:t>Completed</a:t>
            </a:r>
            <a:endParaRPr lang="en-US" sz="1050" dirty="0"/>
          </a:p>
          <a:p>
            <a:pPr indent="0" marL="0">
              <a:lnSpc>
                <a:spcPct val="105000"/>
              </a:lnSpc>
              <a:buNone/>
            </a:pPr>
            <a:r>
              <a:rPr lang="en-US" sz="1050" dirty="0">
                <a:solidFill>
                  <a:srgbClr val="AEB9D6"/>
                </a:solidFill>
                <a:latin typeface="Calibri" pitchFamily="34" charset="0"/>
                <a:ea typeface="Calibri" pitchFamily="34" charset="-122"/>
                <a:cs typeface="Calibri" pitchFamily="34" charset="-120"/>
              </a:rPr>
              <a:t>Projects</a:t>
            </a:r>
            <a:endParaRPr lang="en-US" sz="1050" dirty="0"/>
          </a:p>
        </p:txBody>
      </p:sp>
      <p:sp>
        <p:nvSpPr>
          <p:cNvPr id="12" name="Text 9"/>
          <p:cNvSpPr/>
          <p:nvPr/>
        </p:nvSpPr>
        <p:spPr>
          <a:xfrm>
            <a:off x="822960" y="6291072"/>
            <a:ext cx="5486400" cy="320040"/>
          </a:xfrm>
          <a:prstGeom prst="rect">
            <a:avLst/>
          </a:prstGeom>
          <a:noFill/>
          <a:ln/>
        </p:spPr>
        <p:txBody>
          <a:bodyPr wrap="square" rtlCol="0" anchor="ctr"/>
          <a:lstStyle/>
          <a:p>
            <a:pPr indent="0" marL="0">
              <a:buNone/>
            </a:pPr>
            <a:r>
              <a:rPr lang="en-US" sz="1100" spc="200" kern="0" dirty="0">
                <a:solidFill>
                  <a:srgbClr val="8C97B8"/>
                </a:solidFill>
                <a:latin typeface="Calibri" pitchFamily="34" charset="0"/>
                <a:ea typeface="Calibri" pitchFamily="34" charset="-122"/>
                <a:cs typeface="Calibri" pitchFamily="34" charset="-120"/>
              </a:rPr>
              <a:t>COMPANY PROFILE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6233F"/>
          </a:solidFill>
          <a:ln/>
        </p:spPr>
      </p:sp>
      <p:pic>
        <p:nvPicPr>
          <p:cNvPr id="3" name="Image 0" descr="/home/claude/manjula/icons/skyline_gold_faint.png">    </p:cNvPr>
          <p:cNvPicPr>
            <a:picLocks noChangeAspect="1"/>
          </p:cNvPicPr>
          <p:nvPr/>
        </p:nvPicPr>
        <p:blipFill>
          <a:blip r:embed="rId1"/>
          <a:stretch>
            <a:fillRect/>
          </a:stretch>
        </p:blipFill>
        <p:spPr>
          <a:xfrm>
            <a:off x="-502920" y="5074920"/>
            <a:ext cx="4343400" cy="1783080"/>
          </a:xfrm>
          <a:prstGeom prst="rect">
            <a:avLst/>
          </a:prstGeom>
        </p:spPr>
      </p:pic>
      <p:sp>
        <p:nvSpPr>
          <p:cNvPr id="4" name="Text 1"/>
          <p:cNvSpPr/>
          <p:nvPr/>
        </p:nvSpPr>
        <p:spPr>
          <a:xfrm>
            <a:off x="502920" y="640080"/>
            <a:ext cx="3108960" cy="1554480"/>
          </a:xfrm>
          <a:prstGeom prst="rect">
            <a:avLst/>
          </a:prstGeom>
          <a:noFill/>
          <a:ln/>
        </p:spPr>
        <p:txBody>
          <a:bodyPr wrap="square"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TABLE OF</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CONTENTS</a:t>
            </a:r>
            <a:endParaRPr lang="en-US" sz="3400" dirty="0"/>
          </a:p>
        </p:txBody>
      </p:sp>
      <p:sp>
        <p:nvSpPr>
          <p:cNvPr id="5" name="Shape 2"/>
          <p:cNvSpPr/>
          <p:nvPr/>
        </p:nvSpPr>
        <p:spPr>
          <a:xfrm>
            <a:off x="548640" y="2148840"/>
            <a:ext cx="1188720" cy="0"/>
          </a:xfrm>
          <a:prstGeom prst="line">
            <a:avLst/>
          </a:prstGeom>
          <a:noFill/>
          <a:ln w="31750">
            <a:solidFill>
              <a:srgbClr val="C89B3C"/>
            </a:solidFill>
            <a:prstDash val="solid"/>
          </a:ln>
        </p:spPr>
      </p:sp>
      <p:sp>
        <p:nvSpPr>
          <p:cNvPr id="6" name="Text 3"/>
          <p:cNvSpPr/>
          <p:nvPr/>
        </p:nvSpPr>
        <p:spPr>
          <a:xfrm>
            <a:off x="502920" y="2331720"/>
            <a:ext cx="3200400" cy="822960"/>
          </a:xfrm>
          <a:prstGeom prst="rect">
            <a:avLst/>
          </a:prstGeom>
          <a:noFill/>
          <a:ln/>
        </p:spPr>
        <p:txBody>
          <a:bodyPr wrap="square" rtlCol="0" anchor="ctr"/>
          <a:lstStyle/>
          <a:p>
            <a:pPr indent="0" marL="0">
              <a:lnSpc>
                <a:spcPct val="130000"/>
              </a:lnSpc>
              <a:buNone/>
            </a:pPr>
            <a:r>
              <a:rPr lang="en-US" sz="1200" dirty="0">
                <a:solidFill>
                  <a:srgbClr val="AEB9D6"/>
                </a:solidFill>
                <a:latin typeface="Calibri" pitchFamily="34" charset="0"/>
                <a:ea typeface="Calibri" pitchFamily="34" charset="-122"/>
                <a:cs typeface="Calibri" pitchFamily="34" charset="-120"/>
              </a:rPr>
              <a:t>A complete overview of our company,</a:t>
            </a:r>
            <a:endParaRPr lang="en-US" sz="1200" dirty="0"/>
          </a:p>
          <a:p>
            <a:pPr indent="0" marL="0">
              <a:lnSpc>
                <a:spcPct val="130000"/>
              </a:lnSpc>
              <a:buNone/>
            </a:pPr>
            <a:r>
              <a:rPr lang="en-US" sz="1200" dirty="0">
                <a:solidFill>
                  <a:srgbClr val="AEB9D6"/>
                </a:solidFill>
                <a:latin typeface="Calibri" pitchFamily="34" charset="0"/>
                <a:ea typeface="Calibri" pitchFamily="34" charset="-122"/>
                <a:cs typeface="Calibri" pitchFamily="34" charset="-120"/>
              </a:rPr>
              <a:t>process, services, and portfolio.</a:t>
            </a:r>
            <a:endParaRPr lang="en-US" sz="1200" dirty="0"/>
          </a:p>
        </p:txBody>
      </p:sp>
      <p:sp>
        <p:nvSpPr>
          <p:cNvPr id="7" name="Text 4"/>
          <p:cNvSpPr/>
          <p:nvPr/>
        </p:nvSpPr>
        <p:spPr>
          <a:xfrm>
            <a:off x="4480560" y="68580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01</a:t>
            </a:r>
            <a:endParaRPr lang="en-US" sz="1400" dirty="0"/>
          </a:p>
        </p:txBody>
      </p:sp>
      <p:sp>
        <p:nvSpPr>
          <p:cNvPr id="8" name="Text 5"/>
          <p:cNvSpPr/>
          <p:nvPr/>
        </p:nvSpPr>
        <p:spPr>
          <a:xfrm>
            <a:off x="4983480" y="68580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Founder's Message</a:t>
            </a:r>
            <a:endParaRPr lang="en-US" sz="1300" dirty="0"/>
          </a:p>
        </p:txBody>
      </p:sp>
      <p:sp>
        <p:nvSpPr>
          <p:cNvPr id="9" name="Shape 6"/>
          <p:cNvSpPr/>
          <p:nvPr/>
        </p:nvSpPr>
        <p:spPr>
          <a:xfrm>
            <a:off x="4480560" y="1156716"/>
            <a:ext cx="3566160" cy="0"/>
          </a:xfrm>
          <a:prstGeom prst="line">
            <a:avLst/>
          </a:prstGeom>
          <a:noFill/>
          <a:ln w="9525">
            <a:solidFill>
              <a:srgbClr val="E1E1DE"/>
            </a:solidFill>
            <a:prstDash val="solid"/>
          </a:ln>
        </p:spPr>
      </p:sp>
      <p:sp>
        <p:nvSpPr>
          <p:cNvPr id="10" name="Text 7"/>
          <p:cNvSpPr/>
          <p:nvPr/>
        </p:nvSpPr>
        <p:spPr>
          <a:xfrm>
            <a:off x="4480560" y="121158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02</a:t>
            </a:r>
            <a:endParaRPr lang="en-US" sz="1400" dirty="0"/>
          </a:p>
        </p:txBody>
      </p:sp>
      <p:sp>
        <p:nvSpPr>
          <p:cNvPr id="11" name="Text 8"/>
          <p:cNvSpPr/>
          <p:nvPr/>
        </p:nvSpPr>
        <p:spPr>
          <a:xfrm>
            <a:off x="4983480" y="121158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About the Company</a:t>
            </a:r>
            <a:endParaRPr lang="en-US" sz="1300" dirty="0"/>
          </a:p>
        </p:txBody>
      </p:sp>
      <p:sp>
        <p:nvSpPr>
          <p:cNvPr id="12" name="Shape 9"/>
          <p:cNvSpPr/>
          <p:nvPr/>
        </p:nvSpPr>
        <p:spPr>
          <a:xfrm>
            <a:off x="4480560" y="1682496"/>
            <a:ext cx="3566160" cy="0"/>
          </a:xfrm>
          <a:prstGeom prst="line">
            <a:avLst/>
          </a:prstGeom>
          <a:noFill/>
          <a:ln w="9525">
            <a:solidFill>
              <a:srgbClr val="E1E1DE"/>
            </a:solidFill>
            <a:prstDash val="solid"/>
          </a:ln>
        </p:spPr>
      </p:sp>
      <p:sp>
        <p:nvSpPr>
          <p:cNvPr id="13" name="Text 10"/>
          <p:cNvSpPr/>
          <p:nvPr/>
        </p:nvSpPr>
        <p:spPr>
          <a:xfrm>
            <a:off x="4480560" y="173736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03</a:t>
            </a:r>
            <a:endParaRPr lang="en-US" sz="1400" dirty="0"/>
          </a:p>
        </p:txBody>
      </p:sp>
      <p:sp>
        <p:nvSpPr>
          <p:cNvPr id="14" name="Text 11"/>
          <p:cNvSpPr/>
          <p:nvPr/>
        </p:nvSpPr>
        <p:spPr>
          <a:xfrm>
            <a:off x="4983480" y="173736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Company Highlights</a:t>
            </a:r>
            <a:endParaRPr lang="en-US" sz="1300" dirty="0"/>
          </a:p>
        </p:txBody>
      </p:sp>
      <p:sp>
        <p:nvSpPr>
          <p:cNvPr id="15" name="Shape 12"/>
          <p:cNvSpPr/>
          <p:nvPr/>
        </p:nvSpPr>
        <p:spPr>
          <a:xfrm>
            <a:off x="4480560" y="2208276"/>
            <a:ext cx="3566160" cy="0"/>
          </a:xfrm>
          <a:prstGeom prst="line">
            <a:avLst/>
          </a:prstGeom>
          <a:noFill/>
          <a:ln w="9525">
            <a:solidFill>
              <a:srgbClr val="E1E1DE"/>
            </a:solidFill>
            <a:prstDash val="solid"/>
          </a:ln>
        </p:spPr>
      </p:sp>
      <p:sp>
        <p:nvSpPr>
          <p:cNvPr id="16" name="Text 13"/>
          <p:cNvSpPr/>
          <p:nvPr/>
        </p:nvSpPr>
        <p:spPr>
          <a:xfrm>
            <a:off x="4480560" y="226314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04</a:t>
            </a:r>
            <a:endParaRPr lang="en-US" sz="1400" dirty="0"/>
          </a:p>
        </p:txBody>
      </p:sp>
      <p:sp>
        <p:nvSpPr>
          <p:cNvPr id="17" name="Text 14"/>
          <p:cNvSpPr/>
          <p:nvPr/>
        </p:nvSpPr>
        <p:spPr>
          <a:xfrm>
            <a:off x="4983480" y="226314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Why Choose Us?</a:t>
            </a:r>
            <a:endParaRPr lang="en-US" sz="1300" dirty="0"/>
          </a:p>
        </p:txBody>
      </p:sp>
      <p:sp>
        <p:nvSpPr>
          <p:cNvPr id="18" name="Shape 15"/>
          <p:cNvSpPr/>
          <p:nvPr/>
        </p:nvSpPr>
        <p:spPr>
          <a:xfrm>
            <a:off x="4480560" y="2734056"/>
            <a:ext cx="3566160" cy="0"/>
          </a:xfrm>
          <a:prstGeom prst="line">
            <a:avLst/>
          </a:prstGeom>
          <a:noFill/>
          <a:ln w="9525">
            <a:solidFill>
              <a:srgbClr val="E1E1DE"/>
            </a:solidFill>
            <a:prstDash val="solid"/>
          </a:ln>
        </p:spPr>
      </p:sp>
      <p:sp>
        <p:nvSpPr>
          <p:cNvPr id="19" name="Text 16"/>
          <p:cNvSpPr/>
          <p:nvPr/>
        </p:nvSpPr>
        <p:spPr>
          <a:xfrm>
            <a:off x="4480560" y="278892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05</a:t>
            </a:r>
            <a:endParaRPr lang="en-US" sz="1400" dirty="0"/>
          </a:p>
        </p:txBody>
      </p:sp>
      <p:sp>
        <p:nvSpPr>
          <p:cNvPr id="20" name="Text 17"/>
          <p:cNvSpPr/>
          <p:nvPr/>
        </p:nvSpPr>
        <p:spPr>
          <a:xfrm>
            <a:off x="4983480" y="278892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Construction Workflow</a:t>
            </a:r>
            <a:endParaRPr lang="en-US" sz="1300" dirty="0"/>
          </a:p>
        </p:txBody>
      </p:sp>
      <p:sp>
        <p:nvSpPr>
          <p:cNvPr id="21" name="Shape 18"/>
          <p:cNvSpPr/>
          <p:nvPr/>
        </p:nvSpPr>
        <p:spPr>
          <a:xfrm>
            <a:off x="4480560" y="3259836"/>
            <a:ext cx="3566160" cy="0"/>
          </a:xfrm>
          <a:prstGeom prst="line">
            <a:avLst/>
          </a:prstGeom>
          <a:noFill/>
          <a:ln w="9525">
            <a:solidFill>
              <a:srgbClr val="E1E1DE"/>
            </a:solidFill>
            <a:prstDash val="solid"/>
          </a:ln>
        </p:spPr>
      </p:sp>
      <p:sp>
        <p:nvSpPr>
          <p:cNvPr id="22" name="Text 19"/>
          <p:cNvSpPr/>
          <p:nvPr/>
        </p:nvSpPr>
        <p:spPr>
          <a:xfrm>
            <a:off x="4480560" y="331470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06</a:t>
            </a:r>
            <a:endParaRPr lang="en-US" sz="1400" dirty="0"/>
          </a:p>
        </p:txBody>
      </p:sp>
      <p:sp>
        <p:nvSpPr>
          <p:cNvPr id="23" name="Text 20"/>
          <p:cNvSpPr/>
          <p:nvPr/>
        </p:nvSpPr>
        <p:spPr>
          <a:xfrm>
            <a:off x="4983480" y="331470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Design and Engineering</a:t>
            </a:r>
            <a:endParaRPr lang="en-US" sz="1300" dirty="0"/>
          </a:p>
        </p:txBody>
      </p:sp>
      <p:sp>
        <p:nvSpPr>
          <p:cNvPr id="24" name="Shape 21"/>
          <p:cNvSpPr/>
          <p:nvPr/>
        </p:nvSpPr>
        <p:spPr>
          <a:xfrm>
            <a:off x="4480560" y="3785616"/>
            <a:ext cx="3566160" cy="0"/>
          </a:xfrm>
          <a:prstGeom prst="line">
            <a:avLst/>
          </a:prstGeom>
          <a:noFill/>
          <a:ln w="9525">
            <a:solidFill>
              <a:srgbClr val="E1E1DE"/>
            </a:solidFill>
            <a:prstDash val="solid"/>
          </a:ln>
        </p:spPr>
      </p:sp>
      <p:sp>
        <p:nvSpPr>
          <p:cNvPr id="25" name="Text 22"/>
          <p:cNvSpPr/>
          <p:nvPr/>
        </p:nvSpPr>
        <p:spPr>
          <a:xfrm>
            <a:off x="4480560" y="384048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07</a:t>
            </a:r>
            <a:endParaRPr lang="en-US" sz="1400" dirty="0"/>
          </a:p>
        </p:txBody>
      </p:sp>
      <p:sp>
        <p:nvSpPr>
          <p:cNvPr id="26" name="Text 23"/>
          <p:cNvSpPr/>
          <p:nvPr/>
        </p:nvSpPr>
        <p:spPr>
          <a:xfrm>
            <a:off x="4983480" y="384048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Construction Services</a:t>
            </a:r>
            <a:endParaRPr lang="en-US" sz="1300" dirty="0"/>
          </a:p>
        </p:txBody>
      </p:sp>
      <p:sp>
        <p:nvSpPr>
          <p:cNvPr id="27" name="Shape 24"/>
          <p:cNvSpPr/>
          <p:nvPr/>
        </p:nvSpPr>
        <p:spPr>
          <a:xfrm>
            <a:off x="4480560" y="4311396"/>
            <a:ext cx="3566160" cy="0"/>
          </a:xfrm>
          <a:prstGeom prst="line">
            <a:avLst/>
          </a:prstGeom>
          <a:noFill/>
          <a:ln w="9525">
            <a:solidFill>
              <a:srgbClr val="E1E1DE"/>
            </a:solidFill>
            <a:prstDash val="solid"/>
          </a:ln>
        </p:spPr>
      </p:sp>
      <p:sp>
        <p:nvSpPr>
          <p:cNvPr id="28" name="Text 25"/>
          <p:cNvSpPr/>
          <p:nvPr/>
        </p:nvSpPr>
        <p:spPr>
          <a:xfrm>
            <a:off x="4480560" y="436626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08</a:t>
            </a:r>
            <a:endParaRPr lang="en-US" sz="1400" dirty="0"/>
          </a:p>
        </p:txBody>
      </p:sp>
      <p:sp>
        <p:nvSpPr>
          <p:cNvPr id="29" name="Text 26"/>
          <p:cNvSpPr/>
          <p:nvPr/>
        </p:nvSpPr>
        <p:spPr>
          <a:xfrm>
            <a:off x="4983480" y="436626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Package Comparison</a:t>
            </a:r>
            <a:endParaRPr lang="en-US" sz="1300" dirty="0"/>
          </a:p>
        </p:txBody>
      </p:sp>
      <p:sp>
        <p:nvSpPr>
          <p:cNvPr id="30" name="Shape 27"/>
          <p:cNvSpPr/>
          <p:nvPr/>
        </p:nvSpPr>
        <p:spPr>
          <a:xfrm>
            <a:off x="4480560" y="4837176"/>
            <a:ext cx="3566160" cy="0"/>
          </a:xfrm>
          <a:prstGeom prst="line">
            <a:avLst/>
          </a:prstGeom>
          <a:noFill/>
          <a:ln w="9525">
            <a:solidFill>
              <a:srgbClr val="E1E1DE"/>
            </a:solidFill>
            <a:prstDash val="solid"/>
          </a:ln>
        </p:spPr>
      </p:sp>
      <p:sp>
        <p:nvSpPr>
          <p:cNvPr id="31" name="Text 28"/>
          <p:cNvSpPr/>
          <p:nvPr/>
        </p:nvSpPr>
        <p:spPr>
          <a:xfrm>
            <a:off x="4480560" y="489204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09</a:t>
            </a:r>
            <a:endParaRPr lang="en-US" sz="1400" dirty="0"/>
          </a:p>
        </p:txBody>
      </p:sp>
      <p:sp>
        <p:nvSpPr>
          <p:cNvPr id="32" name="Text 29"/>
          <p:cNvSpPr/>
          <p:nvPr/>
        </p:nvSpPr>
        <p:spPr>
          <a:xfrm>
            <a:off x="4983480" y="489204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Standard Plan</a:t>
            </a:r>
            <a:endParaRPr lang="en-US" sz="1300" dirty="0"/>
          </a:p>
        </p:txBody>
      </p:sp>
      <p:sp>
        <p:nvSpPr>
          <p:cNvPr id="33" name="Shape 30"/>
          <p:cNvSpPr/>
          <p:nvPr/>
        </p:nvSpPr>
        <p:spPr>
          <a:xfrm>
            <a:off x="4480560" y="5362956"/>
            <a:ext cx="3566160" cy="0"/>
          </a:xfrm>
          <a:prstGeom prst="line">
            <a:avLst/>
          </a:prstGeom>
          <a:noFill/>
          <a:ln w="9525">
            <a:solidFill>
              <a:srgbClr val="E1E1DE"/>
            </a:solidFill>
            <a:prstDash val="solid"/>
          </a:ln>
        </p:spPr>
      </p:sp>
      <p:sp>
        <p:nvSpPr>
          <p:cNvPr id="34" name="Text 31"/>
          <p:cNvSpPr/>
          <p:nvPr/>
        </p:nvSpPr>
        <p:spPr>
          <a:xfrm>
            <a:off x="4480560" y="541782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10</a:t>
            </a:r>
            <a:endParaRPr lang="en-US" sz="1400" dirty="0"/>
          </a:p>
        </p:txBody>
      </p:sp>
      <p:sp>
        <p:nvSpPr>
          <p:cNvPr id="35" name="Text 32"/>
          <p:cNvSpPr/>
          <p:nvPr/>
        </p:nvSpPr>
        <p:spPr>
          <a:xfrm>
            <a:off x="4983480" y="541782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Premium Plan</a:t>
            </a:r>
            <a:endParaRPr lang="en-US" sz="1300" dirty="0"/>
          </a:p>
        </p:txBody>
      </p:sp>
      <p:sp>
        <p:nvSpPr>
          <p:cNvPr id="36" name="Text 33"/>
          <p:cNvSpPr/>
          <p:nvPr/>
        </p:nvSpPr>
        <p:spPr>
          <a:xfrm>
            <a:off x="8366760" y="68580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11</a:t>
            </a:r>
            <a:endParaRPr lang="en-US" sz="1400" dirty="0"/>
          </a:p>
        </p:txBody>
      </p:sp>
      <p:sp>
        <p:nvSpPr>
          <p:cNvPr id="37" name="Text 34"/>
          <p:cNvSpPr/>
          <p:nvPr/>
        </p:nvSpPr>
        <p:spPr>
          <a:xfrm>
            <a:off x="8869680" y="68580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Luxury Plan</a:t>
            </a:r>
            <a:endParaRPr lang="en-US" sz="1300" dirty="0"/>
          </a:p>
        </p:txBody>
      </p:sp>
      <p:sp>
        <p:nvSpPr>
          <p:cNvPr id="38" name="Shape 35"/>
          <p:cNvSpPr/>
          <p:nvPr/>
        </p:nvSpPr>
        <p:spPr>
          <a:xfrm>
            <a:off x="8366760" y="1156716"/>
            <a:ext cx="3566160" cy="0"/>
          </a:xfrm>
          <a:prstGeom prst="line">
            <a:avLst/>
          </a:prstGeom>
          <a:noFill/>
          <a:ln w="9525">
            <a:solidFill>
              <a:srgbClr val="E1E1DE"/>
            </a:solidFill>
            <a:prstDash val="solid"/>
          </a:ln>
        </p:spPr>
      </p:sp>
      <p:sp>
        <p:nvSpPr>
          <p:cNvPr id="39" name="Text 36"/>
          <p:cNvSpPr/>
          <p:nvPr/>
        </p:nvSpPr>
        <p:spPr>
          <a:xfrm>
            <a:off x="8366760" y="121158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12</a:t>
            </a:r>
            <a:endParaRPr lang="en-US" sz="1400" dirty="0"/>
          </a:p>
        </p:txBody>
      </p:sp>
      <p:sp>
        <p:nvSpPr>
          <p:cNvPr id="40" name="Text 37"/>
          <p:cNvSpPr/>
          <p:nvPr/>
        </p:nvSpPr>
        <p:spPr>
          <a:xfrm>
            <a:off x="8869680" y="121158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Residential Projects</a:t>
            </a:r>
            <a:endParaRPr lang="en-US" sz="1300" dirty="0"/>
          </a:p>
        </p:txBody>
      </p:sp>
      <p:sp>
        <p:nvSpPr>
          <p:cNvPr id="41" name="Shape 38"/>
          <p:cNvSpPr/>
          <p:nvPr/>
        </p:nvSpPr>
        <p:spPr>
          <a:xfrm>
            <a:off x="8366760" y="1682496"/>
            <a:ext cx="3566160" cy="0"/>
          </a:xfrm>
          <a:prstGeom prst="line">
            <a:avLst/>
          </a:prstGeom>
          <a:noFill/>
          <a:ln w="9525">
            <a:solidFill>
              <a:srgbClr val="E1E1DE"/>
            </a:solidFill>
            <a:prstDash val="solid"/>
          </a:ln>
        </p:spPr>
      </p:sp>
      <p:sp>
        <p:nvSpPr>
          <p:cNvPr id="42" name="Text 39"/>
          <p:cNvSpPr/>
          <p:nvPr/>
        </p:nvSpPr>
        <p:spPr>
          <a:xfrm>
            <a:off x="8366760" y="173736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13</a:t>
            </a:r>
            <a:endParaRPr lang="en-US" sz="1400" dirty="0"/>
          </a:p>
        </p:txBody>
      </p:sp>
      <p:sp>
        <p:nvSpPr>
          <p:cNvPr id="43" name="Text 40"/>
          <p:cNvSpPr/>
          <p:nvPr/>
        </p:nvSpPr>
        <p:spPr>
          <a:xfrm>
            <a:off x="8869680" y="173736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Commercial Projects</a:t>
            </a:r>
            <a:endParaRPr lang="en-US" sz="1300" dirty="0"/>
          </a:p>
        </p:txBody>
      </p:sp>
      <p:sp>
        <p:nvSpPr>
          <p:cNvPr id="44" name="Shape 41"/>
          <p:cNvSpPr/>
          <p:nvPr/>
        </p:nvSpPr>
        <p:spPr>
          <a:xfrm>
            <a:off x="8366760" y="2208276"/>
            <a:ext cx="3566160" cy="0"/>
          </a:xfrm>
          <a:prstGeom prst="line">
            <a:avLst/>
          </a:prstGeom>
          <a:noFill/>
          <a:ln w="9525">
            <a:solidFill>
              <a:srgbClr val="E1E1DE"/>
            </a:solidFill>
            <a:prstDash val="solid"/>
          </a:ln>
        </p:spPr>
      </p:sp>
      <p:sp>
        <p:nvSpPr>
          <p:cNvPr id="45" name="Text 42"/>
          <p:cNvSpPr/>
          <p:nvPr/>
        </p:nvSpPr>
        <p:spPr>
          <a:xfrm>
            <a:off x="8366760" y="226314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14</a:t>
            </a:r>
            <a:endParaRPr lang="en-US" sz="1400" dirty="0"/>
          </a:p>
        </p:txBody>
      </p:sp>
      <p:sp>
        <p:nvSpPr>
          <p:cNvPr id="46" name="Text 43"/>
          <p:cNvSpPr/>
          <p:nvPr/>
        </p:nvSpPr>
        <p:spPr>
          <a:xfrm>
            <a:off x="8869680" y="226314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Materials and Brands</a:t>
            </a:r>
            <a:endParaRPr lang="en-US" sz="1300" dirty="0"/>
          </a:p>
        </p:txBody>
      </p:sp>
      <p:sp>
        <p:nvSpPr>
          <p:cNvPr id="47" name="Shape 44"/>
          <p:cNvSpPr/>
          <p:nvPr/>
        </p:nvSpPr>
        <p:spPr>
          <a:xfrm>
            <a:off x="8366760" y="2734056"/>
            <a:ext cx="3566160" cy="0"/>
          </a:xfrm>
          <a:prstGeom prst="line">
            <a:avLst/>
          </a:prstGeom>
          <a:noFill/>
          <a:ln w="9525">
            <a:solidFill>
              <a:srgbClr val="E1E1DE"/>
            </a:solidFill>
            <a:prstDash val="solid"/>
          </a:ln>
        </p:spPr>
      </p:sp>
      <p:sp>
        <p:nvSpPr>
          <p:cNvPr id="48" name="Text 45"/>
          <p:cNvSpPr/>
          <p:nvPr/>
        </p:nvSpPr>
        <p:spPr>
          <a:xfrm>
            <a:off x="8366760" y="278892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15</a:t>
            </a:r>
            <a:endParaRPr lang="en-US" sz="1400" dirty="0"/>
          </a:p>
        </p:txBody>
      </p:sp>
      <p:sp>
        <p:nvSpPr>
          <p:cNvPr id="49" name="Text 46"/>
          <p:cNvSpPr/>
          <p:nvPr/>
        </p:nvSpPr>
        <p:spPr>
          <a:xfrm>
            <a:off x="8869680" y="278892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Quality and Safety</a:t>
            </a:r>
            <a:endParaRPr lang="en-US" sz="1300" dirty="0"/>
          </a:p>
        </p:txBody>
      </p:sp>
      <p:sp>
        <p:nvSpPr>
          <p:cNvPr id="50" name="Shape 47"/>
          <p:cNvSpPr/>
          <p:nvPr/>
        </p:nvSpPr>
        <p:spPr>
          <a:xfrm>
            <a:off x="8366760" y="3259836"/>
            <a:ext cx="3566160" cy="0"/>
          </a:xfrm>
          <a:prstGeom prst="line">
            <a:avLst/>
          </a:prstGeom>
          <a:noFill/>
          <a:ln w="9525">
            <a:solidFill>
              <a:srgbClr val="E1E1DE"/>
            </a:solidFill>
            <a:prstDash val="solid"/>
          </a:ln>
        </p:spPr>
      </p:sp>
      <p:sp>
        <p:nvSpPr>
          <p:cNvPr id="51" name="Text 48"/>
          <p:cNvSpPr/>
          <p:nvPr/>
        </p:nvSpPr>
        <p:spPr>
          <a:xfrm>
            <a:off x="8366760" y="331470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16</a:t>
            </a:r>
            <a:endParaRPr lang="en-US" sz="1400" dirty="0"/>
          </a:p>
        </p:txBody>
      </p:sp>
      <p:sp>
        <p:nvSpPr>
          <p:cNvPr id="52" name="Text 49"/>
          <p:cNvSpPr/>
          <p:nvPr/>
        </p:nvSpPr>
        <p:spPr>
          <a:xfrm>
            <a:off x="8869680" y="331470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Customer Testimonials</a:t>
            </a:r>
            <a:endParaRPr lang="en-US" sz="1300" dirty="0"/>
          </a:p>
        </p:txBody>
      </p:sp>
      <p:sp>
        <p:nvSpPr>
          <p:cNvPr id="53" name="Shape 50"/>
          <p:cNvSpPr/>
          <p:nvPr/>
        </p:nvSpPr>
        <p:spPr>
          <a:xfrm>
            <a:off x="8366760" y="3785616"/>
            <a:ext cx="3566160" cy="0"/>
          </a:xfrm>
          <a:prstGeom prst="line">
            <a:avLst/>
          </a:prstGeom>
          <a:noFill/>
          <a:ln w="9525">
            <a:solidFill>
              <a:srgbClr val="E1E1DE"/>
            </a:solidFill>
            <a:prstDash val="solid"/>
          </a:ln>
        </p:spPr>
      </p:sp>
      <p:sp>
        <p:nvSpPr>
          <p:cNvPr id="54" name="Text 51"/>
          <p:cNvSpPr/>
          <p:nvPr/>
        </p:nvSpPr>
        <p:spPr>
          <a:xfrm>
            <a:off x="8366760" y="384048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17</a:t>
            </a:r>
            <a:endParaRPr lang="en-US" sz="1400" dirty="0"/>
          </a:p>
        </p:txBody>
      </p:sp>
      <p:sp>
        <p:nvSpPr>
          <p:cNvPr id="55" name="Text 52"/>
          <p:cNvSpPr/>
          <p:nvPr/>
        </p:nvSpPr>
        <p:spPr>
          <a:xfrm>
            <a:off x="8869680" y="384048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Project Statistics</a:t>
            </a:r>
            <a:endParaRPr lang="en-US" sz="1300" dirty="0"/>
          </a:p>
        </p:txBody>
      </p:sp>
      <p:sp>
        <p:nvSpPr>
          <p:cNvPr id="56" name="Shape 53"/>
          <p:cNvSpPr/>
          <p:nvPr/>
        </p:nvSpPr>
        <p:spPr>
          <a:xfrm>
            <a:off x="8366760" y="4311396"/>
            <a:ext cx="3566160" cy="0"/>
          </a:xfrm>
          <a:prstGeom prst="line">
            <a:avLst/>
          </a:prstGeom>
          <a:noFill/>
          <a:ln w="9525">
            <a:solidFill>
              <a:srgbClr val="E1E1DE"/>
            </a:solidFill>
            <a:prstDash val="solid"/>
          </a:ln>
        </p:spPr>
      </p:sp>
      <p:sp>
        <p:nvSpPr>
          <p:cNvPr id="57" name="Text 54"/>
          <p:cNvSpPr/>
          <p:nvPr/>
        </p:nvSpPr>
        <p:spPr>
          <a:xfrm>
            <a:off x="8366760" y="436626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18</a:t>
            </a:r>
            <a:endParaRPr lang="en-US" sz="1400" dirty="0"/>
          </a:p>
        </p:txBody>
      </p:sp>
      <p:sp>
        <p:nvSpPr>
          <p:cNvPr id="58" name="Text 55"/>
          <p:cNvSpPr/>
          <p:nvPr/>
        </p:nvSpPr>
        <p:spPr>
          <a:xfrm>
            <a:off x="8869680" y="436626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Future Vision</a:t>
            </a:r>
            <a:endParaRPr lang="en-US" sz="1300" dirty="0"/>
          </a:p>
        </p:txBody>
      </p:sp>
      <p:sp>
        <p:nvSpPr>
          <p:cNvPr id="59" name="Shape 56"/>
          <p:cNvSpPr/>
          <p:nvPr/>
        </p:nvSpPr>
        <p:spPr>
          <a:xfrm>
            <a:off x="8366760" y="4837176"/>
            <a:ext cx="3566160" cy="0"/>
          </a:xfrm>
          <a:prstGeom prst="line">
            <a:avLst/>
          </a:prstGeom>
          <a:noFill/>
          <a:ln w="9525">
            <a:solidFill>
              <a:srgbClr val="E1E1DE"/>
            </a:solidFill>
            <a:prstDash val="solid"/>
          </a:ln>
        </p:spPr>
      </p:sp>
      <p:sp>
        <p:nvSpPr>
          <p:cNvPr id="60" name="Text 57"/>
          <p:cNvSpPr/>
          <p:nvPr/>
        </p:nvSpPr>
        <p:spPr>
          <a:xfrm>
            <a:off x="8366760" y="489204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19</a:t>
            </a:r>
            <a:endParaRPr lang="en-US" sz="1400" dirty="0"/>
          </a:p>
        </p:txBody>
      </p:sp>
      <p:sp>
        <p:nvSpPr>
          <p:cNvPr id="61" name="Text 58"/>
          <p:cNvSpPr/>
          <p:nvPr/>
        </p:nvSpPr>
        <p:spPr>
          <a:xfrm>
            <a:off x="8869680" y="489204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Contact Information</a:t>
            </a:r>
            <a:endParaRPr lang="en-US" sz="1300" dirty="0"/>
          </a:p>
        </p:txBody>
      </p:sp>
      <p:sp>
        <p:nvSpPr>
          <p:cNvPr id="62" name="Shape 59"/>
          <p:cNvSpPr/>
          <p:nvPr/>
        </p:nvSpPr>
        <p:spPr>
          <a:xfrm>
            <a:off x="8366760" y="5362956"/>
            <a:ext cx="3566160" cy="0"/>
          </a:xfrm>
          <a:prstGeom prst="line">
            <a:avLst/>
          </a:prstGeom>
          <a:noFill/>
          <a:ln w="9525">
            <a:solidFill>
              <a:srgbClr val="E1E1DE"/>
            </a:solidFill>
            <a:prstDash val="solid"/>
          </a:ln>
        </p:spPr>
      </p:sp>
      <p:sp>
        <p:nvSpPr>
          <p:cNvPr id="63" name="Text 60"/>
          <p:cNvSpPr/>
          <p:nvPr/>
        </p:nvSpPr>
        <p:spPr>
          <a:xfrm>
            <a:off x="8366760" y="5417820"/>
            <a:ext cx="502920" cy="452628"/>
          </a:xfrm>
          <a:prstGeom prst="rect">
            <a:avLst/>
          </a:prstGeom>
          <a:noFill/>
          <a:ln/>
        </p:spPr>
        <p:txBody>
          <a:bodyPr wrap="square" rtlCol="0" anchor="ctr"/>
          <a:lstStyle/>
          <a:p>
            <a:pPr indent="0" marL="0">
              <a:buNone/>
            </a:pPr>
            <a:r>
              <a:rPr lang="en-US" sz="1400" b="1" dirty="0">
                <a:solidFill>
                  <a:srgbClr val="C89B3C"/>
                </a:solidFill>
                <a:latin typeface="Cambria" pitchFamily="34" charset="0"/>
                <a:ea typeface="Cambria" pitchFamily="34" charset="-122"/>
                <a:cs typeface="Cambria" pitchFamily="34" charset="-120"/>
              </a:rPr>
              <a:t>20</a:t>
            </a:r>
            <a:endParaRPr lang="en-US" sz="1400" dirty="0"/>
          </a:p>
        </p:txBody>
      </p:sp>
      <p:sp>
        <p:nvSpPr>
          <p:cNvPr id="64" name="Text 61"/>
          <p:cNvSpPr/>
          <p:nvPr/>
        </p:nvSpPr>
        <p:spPr>
          <a:xfrm>
            <a:off x="8869680" y="5417820"/>
            <a:ext cx="3063240" cy="452628"/>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Back Cover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03</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FOUNDER'S MESSAGE</a:t>
            </a:r>
            <a:endParaRPr lang="en-US" sz="1200" dirty="0"/>
          </a:p>
        </p:txBody>
      </p:sp>
      <p:sp>
        <p:nvSpPr>
          <p:cNvPr id="4" name="Shape 2"/>
          <p:cNvSpPr/>
          <p:nvPr/>
        </p:nvSpPr>
        <p:spPr>
          <a:xfrm>
            <a:off x="548640" y="1051560"/>
            <a:ext cx="3749040" cy="5074920"/>
          </a:xfrm>
          <a:prstGeom prst="rect">
            <a:avLst/>
          </a:prstGeom>
          <a:solidFill>
            <a:srgbClr val="F4F4F2"/>
          </a:solidFill>
          <a:ln/>
        </p:spPr>
      </p:sp>
      <p:sp>
        <p:nvSpPr>
          <p:cNvPr id="5" name="Shape 3"/>
          <p:cNvSpPr/>
          <p:nvPr/>
        </p:nvSpPr>
        <p:spPr>
          <a:xfrm>
            <a:off x="2093976" y="2468880"/>
            <a:ext cx="1371600" cy="1371600"/>
          </a:xfrm>
          <a:prstGeom prst="ellipse">
            <a:avLst/>
          </a:prstGeom>
          <a:solidFill>
            <a:srgbClr val="16233F"/>
          </a:solidFill>
          <a:ln/>
        </p:spPr>
      </p:sp>
      <p:pic>
        <p:nvPicPr>
          <p:cNvPr id="6" name="Image 0" descr="/home/claude/manjula/icons/users_white.png">    </p:cNvPr>
          <p:cNvPicPr>
            <a:picLocks noChangeAspect="1"/>
          </p:cNvPicPr>
          <p:nvPr/>
        </p:nvPicPr>
        <p:blipFill>
          <a:blip r:embed="rId1"/>
          <a:stretch>
            <a:fillRect/>
          </a:stretch>
        </p:blipFill>
        <p:spPr>
          <a:xfrm>
            <a:off x="2340864" y="2715768"/>
            <a:ext cx="877824" cy="877824"/>
          </a:xfrm>
          <a:prstGeom prst="rect">
            <a:avLst/>
          </a:prstGeom>
        </p:spPr>
      </p:pic>
      <p:sp>
        <p:nvSpPr>
          <p:cNvPr id="7" name="Text 4"/>
          <p:cNvSpPr/>
          <p:nvPr/>
        </p:nvSpPr>
        <p:spPr>
          <a:xfrm>
            <a:off x="822960" y="4114800"/>
            <a:ext cx="3200400" cy="640080"/>
          </a:xfrm>
          <a:prstGeom prst="rect">
            <a:avLst/>
          </a:prstGeom>
          <a:noFill/>
          <a:ln/>
        </p:spPr>
        <p:txBody>
          <a:bodyPr wrap="square" rtlCol="0" anchor="ctr"/>
          <a:lstStyle/>
          <a:p>
            <a:pPr algn="ctr" indent="0" marL="0">
              <a:buNone/>
            </a:pPr>
            <a:r>
              <a:rPr lang="en-US" sz="1500" b="1" dirty="0">
                <a:solidFill>
                  <a:srgbClr val="16233F"/>
                </a:solidFill>
                <a:latin typeface="Cambria" pitchFamily="34" charset="0"/>
                <a:ea typeface="Cambria" pitchFamily="34" charset="-122"/>
                <a:cs typeface="Cambria" pitchFamily="34" charset="-120"/>
              </a:rPr>
              <a:t>MANJULA</a:t>
            </a:r>
            <a:endParaRPr lang="en-US" sz="1500" dirty="0"/>
          </a:p>
          <a:p>
            <a:pPr algn="ctr" indent="0" marL="0">
              <a:buNone/>
            </a:pPr>
            <a:r>
              <a:rPr lang="en-US" sz="1500" b="1" dirty="0">
                <a:solidFill>
                  <a:srgbClr val="16233F"/>
                </a:solidFill>
                <a:latin typeface="Cambria" pitchFamily="34" charset="0"/>
                <a:ea typeface="Cambria" pitchFamily="34" charset="-122"/>
                <a:cs typeface="Cambria" pitchFamily="34" charset="-120"/>
              </a:rPr>
              <a:t>CONSTRUCTION</a:t>
            </a:r>
            <a:endParaRPr lang="en-US" sz="1500" dirty="0"/>
          </a:p>
        </p:txBody>
      </p:sp>
      <p:sp>
        <p:nvSpPr>
          <p:cNvPr id="8" name="Text 5"/>
          <p:cNvSpPr/>
          <p:nvPr/>
        </p:nvSpPr>
        <p:spPr>
          <a:xfrm>
            <a:off x="822960" y="4572000"/>
            <a:ext cx="3200400" cy="320040"/>
          </a:xfrm>
          <a:prstGeom prst="rect">
            <a:avLst/>
          </a:prstGeom>
          <a:noFill/>
          <a:ln/>
        </p:spPr>
        <p:txBody>
          <a:bodyPr wrap="square" rtlCol="0" anchor="ctr"/>
          <a:lstStyle/>
          <a:p>
            <a:pPr algn="ctr" indent="0" marL="0">
              <a:buNone/>
            </a:pPr>
            <a:r>
              <a:rPr lang="en-US" sz="1100" dirty="0">
                <a:solidFill>
                  <a:srgbClr val="6E6E72"/>
                </a:solidFill>
                <a:latin typeface="Calibri" pitchFamily="34" charset="0"/>
                <a:ea typeface="Calibri" pitchFamily="34" charset="-122"/>
                <a:cs typeface="Calibri" pitchFamily="34" charset="-120"/>
              </a:rPr>
              <a:t>Founder</a:t>
            </a:r>
            <a:endParaRPr lang="en-US" sz="1100" dirty="0"/>
          </a:p>
        </p:txBody>
      </p:sp>
      <p:pic>
        <p:nvPicPr>
          <p:cNvPr id="9" name="Image 1" descr="/home/claude/manjula/icons/quote_gold.png">    </p:cNvPr>
          <p:cNvPicPr>
            <a:picLocks noChangeAspect="1"/>
          </p:cNvPicPr>
          <p:nvPr/>
        </p:nvPicPr>
        <p:blipFill>
          <a:blip r:embed="rId2"/>
          <a:stretch>
            <a:fillRect/>
          </a:stretch>
        </p:blipFill>
        <p:spPr>
          <a:xfrm>
            <a:off x="4709160" y="1143000"/>
            <a:ext cx="502920" cy="502920"/>
          </a:xfrm>
          <a:prstGeom prst="rect">
            <a:avLst/>
          </a:prstGeom>
        </p:spPr>
      </p:pic>
      <p:sp>
        <p:nvSpPr>
          <p:cNvPr id="10" name="Text 6"/>
          <p:cNvSpPr/>
          <p:nvPr/>
        </p:nvSpPr>
        <p:spPr>
          <a:xfrm>
            <a:off x="4709160" y="1783080"/>
            <a:ext cx="6903720" cy="3657600"/>
          </a:xfrm>
          <a:prstGeom prst="rect">
            <a:avLst/>
          </a:prstGeom>
          <a:noFill/>
          <a:ln/>
        </p:spPr>
        <p:txBody>
          <a:bodyPr wrap="square" rtlCol="0" anchor="ctr"/>
          <a:lstStyle/>
          <a:p>
            <a:pPr indent="0" marL="0">
              <a:lnSpc>
                <a:spcPct val="145000"/>
              </a:lnSpc>
              <a:buNone/>
            </a:pPr>
            <a:r>
              <a:rPr lang="en-US" sz="1900" i="1" dirty="0">
                <a:solidFill>
                  <a:srgbClr val="26262A"/>
                </a:solidFill>
                <a:latin typeface="Cambria" pitchFamily="34" charset="0"/>
                <a:ea typeface="Cambria" pitchFamily="34" charset="-122"/>
                <a:cs typeface="Cambria" pitchFamily="34" charset="-120"/>
              </a:rPr>
              <a:t>Welcome to Manjula Construction. For more than 20 years, our company has been committed to delivering high-quality construction solutions built on trust, integrity, and professional excellence. Every completed project represents our dedication to superior craftsmanship and customer satisfaction. Our mission is to create buildings that stand as symbols of quality, innovation, and long-term value. We thank our clients for placing their trust in us and allowing us to be part of their journey.</a:t>
            </a:r>
            <a:endParaRPr lang="en-US" sz="1900" dirty="0"/>
          </a:p>
        </p:txBody>
      </p:sp>
      <p:sp>
        <p:nvSpPr>
          <p:cNvPr id="11" name="Shape 7"/>
          <p:cNvSpPr/>
          <p:nvPr/>
        </p:nvSpPr>
        <p:spPr>
          <a:xfrm>
            <a:off x="4727448" y="5623560"/>
            <a:ext cx="1188720" cy="0"/>
          </a:xfrm>
          <a:prstGeom prst="line">
            <a:avLst/>
          </a:prstGeom>
          <a:noFill/>
          <a:ln w="31750">
            <a:solidFill>
              <a:srgbClr val="C89B3C"/>
            </a:solidFill>
            <a:prstDash val="solid"/>
          </a:ln>
        </p:spPr>
      </p:sp>
      <p:sp>
        <p:nvSpPr>
          <p:cNvPr id="12" name="Text 8"/>
          <p:cNvSpPr/>
          <p:nvPr/>
        </p:nvSpPr>
        <p:spPr>
          <a:xfrm>
            <a:off x="4709160" y="5760720"/>
            <a:ext cx="6400800" cy="320040"/>
          </a:xfrm>
          <a:prstGeom prst="rect">
            <a:avLst/>
          </a:prstGeom>
          <a:noFill/>
          <a:ln/>
        </p:spPr>
        <p:txBody>
          <a:bodyPr wrap="square" rtlCol="0" anchor="ctr"/>
          <a:lstStyle/>
          <a:p>
            <a:pPr indent="0" marL="0">
              <a:buNone/>
            </a:pPr>
            <a:r>
              <a:rPr lang="en-US" sz="1100" b="1" spc="200" kern="0" dirty="0">
                <a:solidFill>
                  <a:srgbClr val="6E6E72"/>
                </a:solidFill>
                <a:latin typeface="Calibri" pitchFamily="34" charset="0"/>
                <a:ea typeface="Calibri" pitchFamily="34" charset="-122"/>
                <a:cs typeface="Calibri" pitchFamily="34" charset="-120"/>
              </a:rPr>
              <a:t>A MESSAGE FROM THE FOUNDER</a:t>
            </a:r>
            <a:endParaRPr lang="en-US" sz="1100" dirty="0"/>
          </a:p>
        </p:txBody>
      </p:sp>
      <p:sp>
        <p:nvSpPr>
          <p:cNvPr id="13" name="Text 9"/>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14" name="Text 1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04</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ABOUT THE COMPANY</a:t>
            </a:r>
            <a:endParaRPr lang="en-US" sz="1200" dirty="0"/>
          </a:p>
        </p:txBody>
      </p:sp>
      <p:sp>
        <p:nvSpPr>
          <p:cNvPr id="4" name="Text 2"/>
          <p:cNvSpPr/>
          <p:nvPr/>
        </p:nvSpPr>
        <p:spPr>
          <a:xfrm>
            <a:off x="548640" y="960120"/>
            <a:ext cx="5486400" cy="548640"/>
          </a:xfrm>
          <a:prstGeom prst="rect">
            <a:avLst/>
          </a:prstGeom>
          <a:noFill/>
          <a:ln/>
        </p:spPr>
        <p:txBody>
          <a:bodyPr wrap="square"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Who We Are</a:t>
            </a:r>
            <a:endParaRPr lang="en-US" sz="2800" dirty="0"/>
          </a:p>
        </p:txBody>
      </p:sp>
      <p:sp>
        <p:nvSpPr>
          <p:cNvPr id="5" name="Text 3"/>
          <p:cNvSpPr/>
          <p:nvPr/>
        </p:nvSpPr>
        <p:spPr>
          <a:xfrm>
            <a:off x="548640" y="1600200"/>
            <a:ext cx="5486400" cy="1920240"/>
          </a:xfrm>
          <a:prstGeom prst="rect">
            <a:avLst/>
          </a:prstGeom>
          <a:noFill/>
          <a:ln/>
        </p:spPr>
        <p:txBody>
          <a:bodyPr wrap="square" rtlCol="0" anchor="ctr"/>
          <a:lstStyle/>
          <a:p>
            <a:pPr indent="0" marL="0">
              <a:lnSpc>
                <a:spcPct val="135000"/>
              </a:lnSpc>
              <a:buNone/>
            </a:pPr>
            <a:r>
              <a:rPr lang="en-US" sz="1350" dirty="0">
                <a:solidFill>
                  <a:srgbClr val="26262A"/>
                </a:solidFill>
                <a:latin typeface="Calibri" pitchFamily="34" charset="0"/>
                <a:ea typeface="Calibri" pitchFamily="34" charset="-122"/>
                <a:cs typeface="Calibri" pitchFamily="34" charset="-120"/>
              </a:rPr>
              <a:t>Manjula Construction is a professional construction company specializing in residential and commercial projects. With over two decades of industry experience and more than 50 completed projects, we provide complete construction solutions — from planning and design to execution and final handover.</a:t>
            </a:r>
            <a:endParaRPr lang="en-US" sz="1350" dirty="0"/>
          </a:p>
        </p:txBody>
      </p:sp>
      <p:sp>
        <p:nvSpPr>
          <p:cNvPr id="6" name="Shape 4"/>
          <p:cNvSpPr/>
          <p:nvPr/>
        </p:nvSpPr>
        <p:spPr>
          <a:xfrm>
            <a:off x="548640" y="3657600"/>
            <a:ext cx="5486400" cy="2514600"/>
          </a:xfrm>
          <a:prstGeom prst="roundRect">
            <a:avLst>
              <a:gd name="adj" fmla="val 2909"/>
            </a:avLst>
          </a:prstGeom>
          <a:solidFill>
            <a:srgbClr val="16233F"/>
          </a:solidFill>
          <a:ln/>
        </p:spPr>
      </p:sp>
      <p:pic>
        <p:nvPicPr>
          <p:cNvPr id="7" name="Image 0" descr="/home/claude/manjula/icons/skyline_white_faint.png">    </p:cNvPr>
          <p:cNvPicPr>
            <a:picLocks noChangeAspect="1"/>
          </p:cNvPicPr>
          <p:nvPr/>
        </p:nvPicPr>
        <p:blipFill>
          <a:blip r:embed="rId1"/>
          <a:stretch>
            <a:fillRect/>
          </a:stretch>
        </p:blipFill>
        <p:spPr>
          <a:xfrm>
            <a:off x="548640" y="4892040"/>
            <a:ext cx="5486400" cy="1280160"/>
          </a:xfrm>
          <a:prstGeom prst="rect">
            <a:avLst/>
          </a:prstGeom>
        </p:spPr>
      </p:pic>
      <p:sp>
        <p:nvSpPr>
          <p:cNvPr id="8" name="Text 5"/>
          <p:cNvSpPr/>
          <p:nvPr/>
        </p:nvSpPr>
        <p:spPr>
          <a:xfrm>
            <a:off x="868680" y="3931920"/>
            <a:ext cx="484632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BUILT ON TWO DECADES OF TRUST</a:t>
            </a:r>
            <a:endParaRPr lang="en-US" sz="1600" dirty="0"/>
          </a:p>
        </p:txBody>
      </p:sp>
      <p:sp>
        <p:nvSpPr>
          <p:cNvPr id="9" name="Text 6"/>
          <p:cNvSpPr/>
          <p:nvPr/>
        </p:nvSpPr>
        <p:spPr>
          <a:xfrm>
            <a:off x="868680" y="4434840"/>
            <a:ext cx="4754880" cy="822960"/>
          </a:xfrm>
          <a:prstGeom prst="rect">
            <a:avLst/>
          </a:prstGeom>
          <a:noFill/>
          <a:ln/>
        </p:spPr>
        <p:txBody>
          <a:bodyPr wrap="square" rtlCol="0" anchor="ctr"/>
          <a:lstStyle/>
          <a:p>
            <a:pPr indent="0" marL="0">
              <a:lnSpc>
                <a:spcPct val="130000"/>
              </a:lnSpc>
              <a:buNone/>
            </a:pPr>
            <a:r>
              <a:rPr lang="en-US" sz="1150" dirty="0">
                <a:solidFill>
                  <a:srgbClr val="C7CFE6"/>
                </a:solidFill>
                <a:latin typeface="Calibri" pitchFamily="34" charset="0"/>
                <a:ea typeface="Calibri" pitchFamily="34" charset="-122"/>
                <a:cs typeface="Calibri" pitchFamily="34" charset="-120"/>
              </a:rPr>
              <a:t>Complete, end-to-end construction — planning, design, engineering, and execution under one roof.</a:t>
            </a:r>
            <a:endParaRPr lang="en-US" sz="1150" dirty="0"/>
          </a:p>
        </p:txBody>
      </p:sp>
      <p:sp>
        <p:nvSpPr>
          <p:cNvPr id="10" name="Text 7"/>
          <p:cNvSpPr/>
          <p:nvPr/>
        </p:nvSpPr>
        <p:spPr>
          <a:xfrm>
            <a:off x="6492240" y="960120"/>
            <a:ext cx="4572000" cy="36576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OUR SERVICES</a:t>
            </a:r>
            <a:endParaRPr lang="en-US" sz="1200" dirty="0"/>
          </a:p>
        </p:txBody>
      </p:sp>
      <p:sp>
        <p:nvSpPr>
          <p:cNvPr id="11" name="Shape 8"/>
          <p:cNvSpPr/>
          <p:nvPr/>
        </p:nvSpPr>
        <p:spPr>
          <a:xfrm>
            <a:off x="6492240" y="1417320"/>
            <a:ext cx="457200" cy="457200"/>
          </a:xfrm>
          <a:prstGeom prst="ellipse">
            <a:avLst/>
          </a:prstGeom>
          <a:solidFill>
            <a:srgbClr val="C89B3C"/>
          </a:solidFill>
          <a:ln/>
        </p:spPr>
      </p:sp>
      <p:pic>
        <p:nvPicPr>
          <p:cNvPr id="12" name="Image 1" descr="/home/claude/manjula/icons/home_white.png">    </p:cNvPr>
          <p:cNvPicPr>
            <a:picLocks noChangeAspect="1"/>
          </p:cNvPicPr>
          <p:nvPr/>
        </p:nvPicPr>
        <p:blipFill>
          <a:blip r:embed="rId2"/>
          <a:stretch>
            <a:fillRect/>
          </a:stretch>
        </p:blipFill>
        <p:spPr>
          <a:xfrm>
            <a:off x="6574536" y="1499616"/>
            <a:ext cx="292608" cy="292608"/>
          </a:xfrm>
          <a:prstGeom prst="rect">
            <a:avLst/>
          </a:prstGeom>
        </p:spPr>
      </p:pic>
      <p:sp>
        <p:nvSpPr>
          <p:cNvPr id="13" name="Text 9"/>
          <p:cNvSpPr/>
          <p:nvPr/>
        </p:nvSpPr>
        <p:spPr>
          <a:xfrm>
            <a:off x="7114032" y="1417320"/>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Residential Construction</a:t>
            </a:r>
            <a:endParaRPr lang="en-US" sz="1350" dirty="0"/>
          </a:p>
        </p:txBody>
      </p:sp>
      <p:sp>
        <p:nvSpPr>
          <p:cNvPr id="14" name="Shape 10"/>
          <p:cNvSpPr/>
          <p:nvPr/>
        </p:nvSpPr>
        <p:spPr>
          <a:xfrm>
            <a:off x="6492240" y="2075688"/>
            <a:ext cx="457200" cy="457200"/>
          </a:xfrm>
          <a:prstGeom prst="ellipse">
            <a:avLst/>
          </a:prstGeom>
          <a:solidFill>
            <a:srgbClr val="C89B3C"/>
          </a:solidFill>
          <a:ln/>
        </p:spPr>
      </p:sp>
      <p:pic>
        <p:nvPicPr>
          <p:cNvPr id="15" name="Image 2" descr="/home/claude/manjula/icons/city_white.png">    </p:cNvPr>
          <p:cNvPicPr>
            <a:picLocks noChangeAspect="1"/>
          </p:cNvPicPr>
          <p:nvPr/>
        </p:nvPicPr>
        <p:blipFill>
          <a:blip r:embed="rId3"/>
          <a:stretch>
            <a:fillRect/>
          </a:stretch>
        </p:blipFill>
        <p:spPr>
          <a:xfrm>
            <a:off x="6574536" y="2157984"/>
            <a:ext cx="292608" cy="292608"/>
          </a:xfrm>
          <a:prstGeom prst="rect">
            <a:avLst/>
          </a:prstGeom>
        </p:spPr>
      </p:pic>
      <p:sp>
        <p:nvSpPr>
          <p:cNvPr id="16" name="Text 11"/>
          <p:cNvSpPr/>
          <p:nvPr/>
        </p:nvSpPr>
        <p:spPr>
          <a:xfrm>
            <a:off x="7114032" y="2075688"/>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Commercial Construction</a:t>
            </a:r>
            <a:endParaRPr lang="en-US" sz="1350" dirty="0"/>
          </a:p>
        </p:txBody>
      </p:sp>
      <p:sp>
        <p:nvSpPr>
          <p:cNvPr id="17" name="Shape 12"/>
          <p:cNvSpPr/>
          <p:nvPr/>
        </p:nvSpPr>
        <p:spPr>
          <a:xfrm>
            <a:off x="6492240" y="2734056"/>
            <a:ext cx="457200" cy="457200"/>
          </a:xfrm>
          <a:prstGeom prst="ellipse">
            <a:avLst/>
          </a:prstGeom>
          <a:solidFill>
            <a:srgbClr val="C89B3C"/>
          </a:solidFill>
          <a:ln/>
        </p:spPr>
      </p:sp>
      <p:pic>
        <p:nvPicPr>
          <p:cNvPr id="18" name="Image 3" descr="/home/claude/manjula/icons/compass_white.png">    </p:cNvPr>
          <p:cNvPicPr>
            <a:picLocks noChangeAspect="1"/>
          </p:cNvPicPr>
          <p:nvPr/>
        </p:nvPicPr>
        <p:blipFill>
          <a:blip r:embed="rId4"/>
          <a:stretch>
            <a:fillRect/>
          </a:stretch>
        </p:blipFill>
        <p:spPr>
          <a:xfrm>
            <a:off x="6574536" y="2816352"/>
            <a:ext cx="292608" cy="292608"/>
          </a:xfrm>
          <a:prstGeom prst="rect">
            <a:avLst/>
          </a:prstGeom>
        </p:spPr>
      </p:pic>
      <p:sp>
        <p:nvSpPr>
          <p:cNvPr id="19" name="Text 13"/>
          <p:cNvSpPr/>
          <p:nvPr/>
        </p:nvSpPr>
        <p:spPr>
          <a:xfrm>
            <a:off x="7114032" y="2734056"/>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Architectural Planning</a:t>
            </a:r>
            <a:endParaRPr lang="en-US" sz="1350" dirty="0"/>
          </a:p>
        </p:txBody>
      </p:sp>
      <p:sp>
        <p:nvSpPr>
          <p:cNvPr id="20" name="Shape 14"/>
          <p:cNvSpPr/>
          <p:nvPr/>
        </p:nvSpPr>
        <p:spPr>
          <a:xfrm>
            <a:off x="6492240" y="3392424"/>
            <a:ext cx="457200" cy="457200"/>
          </a:xfrm>
          <a:prstGeom prst="ellipse">
            <a:avLst/>
          </a:prstGeom>
          <a:solidFill>
            <a:srgbClr val="C89B3C"/>
          </a:solidFill>
          <a:ln/>
        </p:spPr>
      </p:sp>
      <p:pic>
        <p:nvPicPr>
          <p:cNvPr id="21" name="Image 4" descr="/home/claude/manjula/icons/layer_white.png">    </p:cNvPr>
          <p:cNvPicPr>
            <a:picLocks noChangeAspect="1"/>
          </p:cNvPicPr>
          <p:nvPr/>
        </p:nvPicPr>
        <p:blipFill>
          <a:blip r:embed="rId5"/>
          <a:stretch>
            <a:fillRect/>
          </a:stretch>
        </p:blipFill>
        <p:spPr>
          <a:xfrm>
            <a:off x="6574536" y="3474720"/>
            <a:ext cx="292608" cy="292608"/>
          </a:xfrm>
          <a:prstGeom prst="rect">
            <a:avLst/>
          </a:prstGeom>
        </p:spPr>
      </p:pic>
      <p:sp>
        <p:nvSpPr>
          <p:cNvPr id="22" name="Text 15"/>
          <p:cNvSpPr/>
          <p:nvPr/>
        </p:nvSpPr>
        <p:spPr>
          <a:xfrm>
            <a:off x="7114032" y="3392424"/>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Structural Engineering</a:t>
            </a:r>
            <a:endParaRPr lang="en-US" sz="1350" dirty="0"/>
          </a:p>
        </p:txBody>
      </p:sp>
      <p:sp>
        <p:nvSpPr>
          <p:cNvPr id="23" name="Shape 16"/>
          <p:cNvSpPr/>
          <p:nvPr/>
        </p:nvSpPr>
        <p:spPr>
          <a:xfrm>
            <a:off x="6492240" y="4050792"/>
            <a:ext cx="457200" cy="457200"/>
          </a:xfrm>
          <a:prstGeom prst="ellipse">
            <a:avLst/>
          </a:prstGeom>
          <a:solidFill>
            <a:srgbClr val="C89B3C"/>
          </a:solidFill>
          <a:ln/>
        </p:spPr>
      </p:sp>
      <p:pic>
        <p:nvPicPr>
          <p:cNvPr id="24" name="Image 5" descr="/home/claude/manjula/icons/roller_white.png">    </p:cNvPr>
          <p:cNvPicPr>
            <a:picLocks noChangeAspect="1"/>
          </p:cNvPicPr>
          <p:nvPr/>
        </p:nvPicPr>
        <p:blipFill>
          <a:blip r:embed="rId6"/>
          <a:stretch>
            <a:fillRect/>
          </a:stretch>
        </p:blipFill>
        <p:spPr>
          <a:xfrm>
            <a:off x="6574536" y="4133088"/>
            <a:ext cx="292608" cy="292608"/>
          </a:xfrm>
          <a:prstGeom prst="rect">
            <a:avLst/>
          </a:prstGeom>
        </p:spPr>
      </p:pic>
      <p:sp>
        <p:nvSpPr>
          <p:cNvPr id="25" name="Text 17"/>
          <p:cNvSpPr/>
          <p:nvPr/>
        </p:nvSpPr>
        <p:spPr>
          <a:xfrm>
            <a:off x="7114032" y="4050792"/>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Flooring &amp; Finishing</a:t>
            </a:r>
            <a:endParaRPr lang="en-US" sz="1350" dirty="0"/>
          </a:p>
        </p:txBody>
      </p:sp>
      <p:sp>
        <p:nvSpPr>
          <p:cNvPr id="26" name="Shape 18"/>
          <p:cNvSpPr/>
          <p:nvPr/>
        </p:nvSpPr>
        <p:spPr>
          <a:xfrm>
            <a:off x="6492240" y="4709160"/>
            <a:ext cx="457200" cy="457200"/>
          </a:xfrm>
          <a:prstGeom prst="ellipse">
            <a:avLst/>
          </a:prstGeom>
          <a:solidFill>
            <a:srgbClr val="C89B3C"/>
          </a:solidFill>
          <a:ln/>
        </p:spPr>
      </p:sp>
      <p:pic>
        <p:nvPicPr>
          <p:cNvPr id="27" name="Image 6" descr="/home/claude/manjula/icons/bolt_white.png">    </p:cNvPr>
          <p:cNvPicPr>
            <a:picLocks noChangeAspect="1"/>
          </p:cNvPicPr>
          <p:nvPr/>
        </p:nvPicPr>
        <p:blipFill>
          <a:blip r:embed="rId7"/>
          <a:stretch>
            <a:fillRect/>
          </a:stretch>
        </p:blipFill>
        <p:spPr>
          <a:xfrm>
            <a:off x="6574536" y="4791456"/>
            <a:ext cx="292608" cy="292608"/>
          </a:xfrm>
          <a:prstGeom prst="rect">
            <a:avLst/>
          </a:prstGeom>
        </p:spPr>
      </p:pic>
      <p:sp>
        <p:nvSpPr>
          <p:cNvPr id="28" name="Text 19"/>
          <p:cNvSpPr/>
          <p:nvPr/>
        </p:nvSpPr>
        <p:spPr>
          <a:xfrm>
            <a:off x="7114032" y="4709160"/>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Electrical Installation</a:t>
            </a:r>
            <a:endParaRPr lang="en-US" sz="1350" dirty="0"/>
          </a:p>
        </p:txBody>
      </p:sp>
      <p:sp>
        <p:nvSpPr>
          <p:cNvPr id="29" name="Shape 20"/>
          <p:cNvSpPr/>
          <p:nvPr/>
        </p:nvSpPr>
        <p:spPr>
          <a:xfrm>
            <a:off x="6492240" y="5367528"/>
            <a:ext cx="457200" cy="457200"/>
          </a:xfrm>
          <a:prstGeom prst="ellipse">
            <a:avLst/>
          </a:prstGeom>
          <a:solidFill>
            <a:srgbClr val="C89B3C"/>
          </a:solidFill>
          <a:ln/>
        </p:spPr>
      </p:sp>
      <p:pic>
        <p:nvPicPr>
          <p:cNvPr id="30" name="Image 7" descr="/home/claude/manjula/icons/building_white.png">    </p:cNvPr>
          <p:cNvPicPr>
            <a:picLocks noChangeAspect="1"/>
          </p:cNvPicPr>
          <p:nvPr/>
        </p:nvPicPr>
        <p:blipFill>
          <a:blip r:embed="rId8"/>
          <a:stretch>
            <a:fillRect/>
          </a:stretch>
        </p:blipFill>
        <p:spPr>
          <a:xfrm>
            <a:off x="6574536" y="5449824"/>
            <a:ext cx="292608" cy="292608"/>
          </a:xfrm>
          <a:prstGeom prst="rect">
            <a:avLst/>
          </a:prstGeom>
        </p:spPr>
      </p:pic>
      <p:sp>
        <p:nvSpPr>
          <p:cNvPr id="31" name="Text 21"/>
          <p:cNvSpPr/>
          <p:nvPr/>
        </p:nvSpPr>
        <p:spPr>
          <a:xfrm>
            <a:off x="7114032" y="5367528"/>
            <a:ext cx="4206240" cy="457200"/>
          </a:xfrm>
          <a:prstGeom prst="rect">
            <a:avLst/>
          </a:prstGeom>
          <a:noFill/>
          <a:ln/>
        </p:spPr>
        <p:txBody>
          <a:bodyPr wrap="square" rtlCol="0" anchor="ctr"/>
          <a:lstStyle/>
          <a:p>
            <a:pPr indent="0" marL="0">
              <a:buNone/>
            </a:pPr>
            <a:r>
              <a:rPr lang="en-US" sz="1350" b="1" dirty="0">
                <a:solidFill>
                  <a:srgbClr val="26262A"/>
                </a:solidFill>
                <a:latin typeface="Calibri" pitchFamily="34" charset="0"/>
                <a:ea typeface="Calibri" pitchFamily="34" charset="-122"/>
                <a:cs typeface="Calibri" pitchFamily="34" charset="-120"/>
              </a:rPr>
              <a:t>Turnkey Construction</a:t>
            </a:r>
            <a:endParaRPr lang="en-US" sz="1350" dirty="0"/>
          </a:p>
        </p:txBody>
      </p:sp>
      <p:sp>
        <p:nvSpPr>
          <p:cNvPr id="32" name="Text 22"/>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33"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05</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AEB9D6"/>
                </a:solidFill>
                <a:latin typeface="Calibri" pitchFamily="34" charset="0"/>
                <a:ea typeface="Calibri" pitchFamily="34" charset="-122"/>
                <a:cs typeface="Calibri" pitchFamily="34" charset="-120"/>
              </a:rPr>
              <a:t>COMPANY HIGHLIGHTS</a:t>
            </a:r>
            <a:endParaRPr lang="en-US" sz="1200" dirty="0"/>
          </a:p>
        </p:txBody>
      </p:sp>
      <p:sp>
        <p:nvSpPr>
          <p:cNvPr id="4" name="Text 2"/>
          <p:cNvSpPr/>
          <p:nvPr/>
        </p:nvSpPr>
        <p:spPr>
          <a:xfrm>
            <a:off x="548640" y="960120"/>
            <a:ext cx="91440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Decades of Measurable Impact</a:t>
            </a:r>
            <a:endParaRPr lang="en-US" sz="2600" dirty="0"/>
          </a:p>
        </p:txBody>
      </p:sp>
      <p:sp>
        <p:nvSpPr>
          <p:cNvPr id="5" name="Shape 3"/>
          <p:cNvSpPr/>
          <p:nvPr/>
        </p:nvSpPr>
        <p:spPr>
          <a:xfrm>
            <a:off x="548640" y="2148840"/>
            <a:ext cx="2606040" cy="3291840"/>
          </a:xfrm>
          <a:prstGeom prst="roundRect">
            <a:avLst>
              <a:gd name="adj" fmla="val 3158"/>
            </a:avLst>
          </a:prstGeom>
          <a:solidFill>
            <a:srgbClr val="1E2E52"/>
          </a:solidFill>
          <a:ln w="12700">
            <a:solidFill>
              <a:srgbClr val="2C3E68"/>
            </a:solidFill>
            <a:prstDash val="solid"/>
          </a:ln>
        </p:spPr>
      </p:sp>
      <p:sp>
        <p:nvSpPr>
          <p:cNvPr id="6" name="Shape 4"/>
          <p:cNvSpPr/>
          <p:nvPr/>
        </p:nvSpPr>
        <p:spPr>
          <a:xfrm>
            <a:off x="1531620" y="2560320"/>
            <a:ext cx="640080" cy="640080"/>
          </a:xfrm>
          <a:prstGeom prst="ellipse">
            <a:avLst/>
          </a:prstGeom>
          <a:solidFill>
            <a:srgbClr val="C89B3C"/>
          </a:solidFill>
          <a:ln/>
        </p:spPr>
      </p:sp>
      <p:pic>
        <p:nvPicPr>
          <p:cNvPr id="7" name="Image 0" descr="/home/claude/manjula/icons/home_navy.png">    </p:cNvPr>
          <p:cNvPicPr>
            <a:picLocks noChangeAspect="1"/>
          </p:cNvPicPr>
          <p:nvPr/>
        </p:nvPicPr>
        <p:blipFill>
          <a:blip r:embed="rId1"/>
          <a:stretch>
            <a:fillRect/>
          </a:stretch>
        </p:blipFill>
        <p:spPr>
          <a:xfrm>
            <a:off x="1646834" y="2675534"/>
            <a:ext cx="409651" cy="409651"/>
          </a:xfrm>
          <a:prstGeom prst="rect">
            <a:avLst/>
          </a:prstGeom>
        </p:spPr>
      </p:pic>
      <p:sp>
        <p:nvSpPr>
          <p:cNvPr id="8" name="Text 5"/>
          <p:cNvSpPr/>
          <p:nvPr/>
        </p:nvSpPr>
        <p:spPr>
          <a:xfrm>
            <a:off x="548640" y="3520440"/>
            <a:ext cx="2606040" cy="8686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20+</a:t>
            </a:r>
            <a:endParaRPr lang="en-US" sz="4000" dirty="0"/>
          </a:p>
        </p:txBody>
      </p:sp>
      <p:sp>
        <p:nvSpPr>
          <p:cNvPr id="9" name="Text 6"/>
          <p:cNvSpPr/>
          <p:nvPr/>
        </p:nvSpPr>
        <p:spPr>
          <a:xfrm>
            <a:off x="731520" y="4480560"/>
            <a:ext cx="2240280" cy="731520"/>
          </a:xfrm>
          <a:prstGeom prst="rect">
            <a:avLst/>
          </a:prstGeom>
          <a:noFill/>
          <a:ln/>
        </p:spPr>
        <p:txBody>
          <a:bodyPr wrap="square" rtlCol="0" anchor="ctr"/>
          <a:lstStyle/>
          <a:p>
            <a:pPr algn="ctr" indent="0" marL="0">
              <a:lnSpc>
                <a:spcPct val="120000"/>
              </a:lnSpc>
              <a:buNone/>
            </a:pPr>
            <a:r>
              <a:rPr lang="en-US" sz="1250" dirty="0">
                <a:solidFill>
                  <a:srgbClr val="AEB9D6"/>
                </a:solidFill>
                <a:latin typeface="Calibri" pitchFamily="34" charset="0"/>
                <a:ea typeface="Calibri" pitchFamily="34" charset="-122"/>
                <a:cs typeface="Calibri" pitchFamily="34" charset="-120"/>
              </a:rPr>
              <a:t>Years of Experience</a:t>
            </a:r>
            <a:endParaRPr lang="en-US" sz="1250" dirty="0"/>
          </a:p>
        </p:txBody>
      </p:sp>
      <p:sp>
        <p:nvSpPr>
          <p:cNvPr id="10" name="Shape 7"/>
          <p:cNvSpPr/>
          <p:nvPr/>
        </p:nvSpPr>
        <p:spPr>
          <a:xfrm>
            <a:off x="3410712" y="2148840"/>
            <a:ext cx="2606040" cy="3291840"/>
          </a:xfrm>
          <a:prstGeom prst="roundRect">
            <a:avLst>
              <a:gd name="adj" fmla="val 3158"/>
            </a:avLst>
          </a:prstGeom>
          <a:solidFill>
            <a:srgbClr val="1E2E52"/>
          </a:solidFill>
          <a:ln w="12700">
            <a:solidFill>
              <a:srgbClr val="2C3E68"/>
            </a:solidFill>
            <a:prstDash val="solid"/>
          </a:ln>
        </p:spPr>
      </p:sp>
      <p:sp>
        <p:nvSpPr>
          <p:cNvPr id="11" name="Shape 8"/>
          <p:cNvSpPr/>
          <p:nvPr/>
        </p:nvSpPr>
        <p:spPr>
          <a:xfrm>
            <a:off x="4393692" y="2560320"/>
            <a:ext cx="640080" cy="640080"/>
          </a:xfrm>
          <a:prstGeom prst="ellipse">
            <a:avLst/>
          </a:prstGeom>
          <a:solidFill>
            <a:srgbClr val="C89B3C"/>
          </a:solidFill>
          <a:ln/>
        </p:spPr>
      </p:sp>
      <p:pic>
        <p:nvPicPr>
          <p:cNvPr id="12" name="Image 1" descr="/home/claude/manjula/icons/building_navy.png">    </p:cNvPr>
          <p:cNvPicPr>
            <a:picLocks noChangeAspect="1"/>
          </p:cNvPicPr>
          <p:nvPr/>
        </p:nvPicPr>
        <p:blipFill>
          <a:blip r:embed="rId2"/>
          <a:stretch>
            <a:fillRect/>
          </a:stretch>
        </p:blipFill>
        <p:spPr>
          <a:xfrm>
            <a:off x="4508906" y="2675534"/>
            <a:ext cx="409651" cy="409651"/>
          </a:xfrm>
          <a:prstGeom prst="rect">
            <a:avLst/>
          </a:prstGeom>
        </p:spPr>
      </p:pic>
      <p:sp>
        <p:nvSpPr>
          <p:cNvPr id="13" name="Text 9"/>
          <p:cNvSpPr/>
          <p:nvPr/>
        </p:nvSpPr>
        <p:spPr>
          <a:xfrm>
            <a:off x="3410712" y="3520440"/>
            <a:ext cx="2606040" cy="8686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50+</a:t>
            </a:r>
            <a:endParaRPr lang="en-US" sz="4000" dirty="0"/>
          </a:p>
        </p:txBody>
      </p:sp>
      <p:sp>
        <p:nvSpPr>
          <p:cNvPr id="14" name="Text 10"/>
          <p:cNvSpPr/>
          <p:nvPr/>
        </p:nvSpPr>
        <p:spPr>
          <a:xfrm>
            <a:off x="3593592" y="4480560"/>
            <a:ext cx="2240280" cy="731520"/>
          </a:xfrm>
          <a:prstGeom prst="rect">
            <a:avLst/>
          </a:prstGeom>
          <a:noFill/>
          <a:ln/>
        </p:spPr>
        <p:txBody>
          <a:bodyPr wrap="square" rtlCol="0" anchor="ctr"/>
          <a:lstStyle/>
          <a:p>
            <a:pPr algn="ctr" indent="0" marL="0">
              <a:lnSpc>
                <a:spcPct val="120000"/>
              </a:lnSpc>
              <a:buNone/>
            </a:pPr>
            <a:r>
              <a:rPr lang="en-US" sz="1250" dirty="0">
                <a:solidFill>
                  <a:srgbClr val="AEB9D6"/>
                </a:solidFill>
                <a:latin typeface="Calibri" pitchFamily="34" charset="0"/>
                <a:ea typeface="Calibri" pitchFamily="34" charset="-122"/>
                <a:cs typeface="Calibri" pitchFamily="34" charset="-120"/>
              </a:rPr>
              <a:t>Completed Projects</a:t>
            </a:r>
            <a:endParaRPr lang="en-US" sz="1250" dirty="0"/>
          </a:p>
        </p:txBody>
      </p:sp>
      <p:sp>
        <p:nvSpPr>
          <p:cNvPr id="15" name="Shape 11"/>
          <p:cNvSpPr/>
          <p:nvPr/>
        </p:nvSpPr>
        <p:spPr>
          <a:xfrm>
            <a:off x="6272784" y="2148840"/>
            <a:ext cx="2606040" cy="3291840"/>
          </a:xfrm>
          <a:prstGeom prst="roundRect">
            <a:avLst>
              <a:gd name="adj" fmla="val 3158"/>
            </a:avLst>
          </a:prstGeom>
          <a:solidFill>
            <a:srgbClr val="1E2E52"/>
          </a:solidFill>
          <a:ln w="12700">
            <a:solidFill>
              <a:srgbClr val="2C3E68"/>
            </a:solidFill>
            <a:prstDash val="solid"/>
          </a:ln>
        </p:spPr>
      </p:sp>
      <p:sp>
        <p:nvSpPr>
          <p:cNvPr id="16" name="Shape 12"/>
          <p:cNvSpPr/>
          <p:nvPr/>
        </p:nvSpPr>
        <p:spPr>
          <a:xfrm>
            <a:off x="7255764" y="2560320"/>
            <a:ext cx="640080" cy="640080"/>
          </a:xfrm>
          <a:prstGeom prst="ellipse">
            <a:avLst/>
          </a:prstGeom>
          <a:solidFill>
            <a:srgbClr val="C89B3C"/>
          </a:solidFill>
          <a:ln/>
        </p:spPr>
      </p:sp>
      <p:pic>
        <p:nvPicPr>
          <p:cNvPr id="17" name="Image 2" descr="/home/claude/manjula/icons/award_navy.png">    </p:cNvPr>
          <p:cNvPicPr>
            <a:picLocks noChangeAspect="1"/>
          </p:cNvPicPr>
          <p:nvPr/>
        </p:nvPicPr>
        <p:blipFill>
          <a:blip r:embed="rId3"/>
          <a:stretch>
            <a:fillRect/>
          </a:stretch>
        </p:blipFill>
        <p:spPr>
          <a:xfrm>
            <a:off x="7370978" y="2675534"/>
            <a:ext cx="409651" cy="409651"/>
          </a:xfrm>
          <a:prstGeom prst="rect">
            <a:avLst/>
          </a:prstGeom>
        </p:spPr>
      </p:pic>
      <p:sp>
        <p:nvSpPr>
          <p:cNvPr id="18" name="Text 13"/>
          <p:cNvSpPr/>
          <p:nvPr/>
        </p:nvSpPr>
        <p:spPr>
          <a:xfrm>
            <a:off x="6272784" y="3520440"/>
            <a:ext cx="2606040" cy="8686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100%</a:t>
            </a:r>
            <a:endParaRPr lang="en-US" sz="4000" dirty="0"/>
          </a:p>
        </p:txBody>
      </p:sp>
      <p:sp>
        <p:nvSpPr>
          <p:cNvPr id="19" name="Text 14"/>
          <p:cNvSpPr/>
          <p:nvPr/>
        </p:nvSpPr>
        <p:spPr>
          <a:xfrm>
            <a:off x="6455664" y="4480560"/>
            <a:ext cx="2240280" cy="731520"/>
          </a:xfrm>
          <a:prstGeom prst="rect">
            <a:avLst/>
          </a:prstGeom>
          <a:noFill/>
          <a:ln/>
        </p:spPr>
        <p:txBody>
          <a:bodyPr wrap="square" rtlCol="0" anchor="ctr"/>
          <a:lstStyle/>
          <a:p>
            <a:pPr algn="ctr" indent="0" marL="0">
              <a:lnSpc>
                <a:spcPct val="120000"/>
              </a:lnSpc>
              <a:buNone/>
            </a:pPr>
            <a:r>
              <a:rPr lang="en-US" sz="1250" dirty="0">
                <a:solidFill>
                  <a:srgbClr val="AEB9D6"/>
                </a:solidFill>
                <a:latin typeface="Calibri" pitchFamily="34" charset="0"/>
                <a:ea typeface="Calibri" pitchFamily="34" charset="-122"/>
                <a:cs typeface="Calibri" pitchFamily="34" charset="-120"/>
              </a:rPr>
              <a:t>Commitment to Quality</a:t>
            </a:r>
            <a:endParaRPr lang="en-US" sz="1250" dirty="0"/>
          </a:p>
        </p:txBody>
      </p:sp>
      <p:sp>
        <p:nvSpPr>
          <p:cNvPr id="20" name="Shape 15"/>
          <p:cNvSpPr/>
          <p:nvPr/>
        </p:nvSpPr>
        <p:spPr>
          <a:xfrm>
            <a:off x="9134856" y="2148840"/>
            <a:ext cx="2606040" cy="3291840"/>
          </a:xfrm>
          <a:prstGeom prst="roundRect">
            <a:avLst>
              <a:gd name="adj" fmla="val 3158"/>
            </a:avLst>
          </a:prstGeom>
          <a:solidFill>
            <a:srgbClr val="1E2E52"/>
          </a:solidFill>
          <a:ln w="12700">
            <a:solidFill>
              <a:srgbClr val="2C3E68"/>
            </a:solidFill>
            <a:prstDash val="solid"/>
          </a:ln>
        </p:spPr>
      </p:sp>
      <p:sp>
        <p:nvSpPr>
          <p:cNvPr id="21" name="Shape 16"/>
          <p:cNvSpPr/>
          <p:nvPr/>
        </p:nvSpPr>
        <p:spPr>
          <a:xfrm>
            <a:off x="10117836" y="2560320"/>
            <a:ext cx="640080" cy="640080"/>
          </a:xfrm>
          <a:prstGeom prst="ellipse">
            <a:avLst/>
          </a:prstGeom>
          <a:solidFill>
            <a:srgbClr val="C89B3C"/>
          </a:solidFill>
          <a:ln/>
        </p:spPr>
      </p:sp>
      <p:pic>
        <p:nvPicPr>
          <p:cNvPr id="22" name="Image 3" descr="/home/claude/manjula/icons/cube_navy.png">    </p:cNvPr>
          <p:cNvPicPr>
            <a:picLocks noChangeAspect="1"/>
          </p:cNvPicPr>
          <p:nvPr/>
        </p:nvPicPr>
        <p:blipFill>
          <a:blip r:embed="rId4"/>
          <a:stretch>
            <a:fillRect/>
          </a:stretch>
        </p:blipFill>
        <p:spPr>
          <a:xfrm>
            <a:off x="10233050" y="2675534"/>
            <a:ext cx="409651" cy="409651"/>
          </a:xfrm>
          <a:prstGeom prst="rect">
            <a:avLst/>
          </a:prstGeom>
        </p:spPr>
      </p:pic>
      <p:sp>
        <p:nvSpPr>
          <p:cNvPr id="23" name="Text 17"/>
          <p:cNvSpPr/>
          <p:nvPr/>
        </p:nvSpPr>
        <p:spPr>
          <a:xfrm>
            <a:off x="9134856" y="3520440"/>
            <a:ext cx="2606040" cy="8686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360°</a:t>
            </a:r>
            <a:endParaRPr lang="en-US" sz="4000" dirty="0"/>
          </a:p>
        </p:txBody>
      </p:sp>
      <p:sp>
        <p:nvSpPr>
          <p:cNvPr id="24" name="Text 18"/>
          <p:cNvSpPr/>
          <p:nvPr/>
        </p:nvSpPr>
        <p:spPr>
          <a:xfrm>
            <a:off x="9317736" y="4480560"/>
            <a:ext cx="2240280" cy="731520"/>
          </a:xfrm>
          <a:prstGeom prst="rect">
            <a:avLst/>
          </a:prstGeom>
          <a:noFill/>
          <a:ln/>
        </p:spPr>
        <p:txBody>
          <a:bodyPr wrap="square" rtlCol="0" anchor="ctr"/>
          <a:lstStyle/>
          <a:p>
            <a:pPr algn="ctr" indent="0" marL="0">
              <a:lnSpc>
                <a:spcPct val="120000"/>
              </a:lnSpc>
              <a:buNone/>
            </a:pPr>
            <a:r>
              <a:rPr lang="en-US" sz="1250" dirty="0">
                <a:solidFill>
                  <a:srgbClr val="AEB9D6"/>
                </a:solidFill>
                <a:latin typeface="Calibri" pitchFamily="34" charset="0"/>
                <a:ea typeface="Calibri" pitchFamily="34" charset="-122"/>
                <a:cs typeface="Calibri" pitchFamily="34" charset="-120"/>
              </a:rPr>
              <a:t>End-to-End Solutions</a:t>
            </a:r>
            <a:endParaRPr lang="en-US" sz="1250" dirty="0"/>
          </a:p>
        </p:txBody>
      </p:sp>
      <p:sp>
        <p:nvSpPr>
          <p:cNvPr id="25" name="Text 19"/>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9BA6C4"/>
                </a:solidFill>
                <a:latin typeface="Calibri" pitchFamily="34" charset="0"/>
                <a:ea typeface="Calibri" pitchFamily="34" charset="-122"/>
                <a:cs typeface="Calibri" pitchFamily="34" charset="-120"/>
              </a:rPr>
              <a:t>MANJULA CONSTRUCTION</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BA6C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06</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WHY CHOOSE US?</a:t>
            </a:r>
            <a:endParaRPr lang="en-US" sz="1200" dirty="0"/>
          </a:p>
        </p:txBody>
      </p:sp>
      <p:sp>
        <p:nvSpPr>
          <p:cNvPr id="4" name="Text 2"/>
          <p:cNvSpPr/>
          <p:nvPr/>
        </p:nvSpPr>
        <p:spPr>
          <a:xfrm>
            <a:off x="548640" y="960120"/>
            <a:ext cx="7315200" cy="59436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What Sets Us Apart</a:t>
            </a:r>
            <a:endParaRPr lang="en-US" sz="2600" dirty="0"/>
          </a:p>
        </p:txBody>
      </p:sp>
      <p:sp>
        <p:nvSpPr>
          <p:cNvPr id="5" name="Shape 3"/>
          <p:cNvSpPr/>
          <p:nvPr/>
        </p:nvSpPr>
        <p:spPr>
          <a:xfrm>
            <a:off x="548640" y="1874520"/>
            <a:ext cx="3584448" cy="1783080"/>
          </a:xfrm>
          <a:prstGeom prst="roundRect">
            <a:avLst>
              <a:gd name="adj" fmla="val 4103"/>
            </a:avLst>
          </a:prstGeom>
          <a:solidFill>
            <a:srgbClr val="F4F4F2"/>
          </a:solidFill>
          <a:ln/>
        </p:spPr>
      </p:sp>
      <p:sp>
        <p:nvSpPr>
          <p:cNvPr id="6" name="Shape 4"/>
          <p:cNvSpPr/>
          <p:nvPr/>
        </p:nvSpPr>
        <p:spPr>
          <a:xfrm>
            <a:off x="804672" y="2130552"/>
            <a:ext cx="512064" cy="512064"/>
          </a:xfrm>
          <a:prstGeom prst="ellipse">
            <a:avLst/>
          </a:prstGeom>
          <a:solidFill>
            <a:srgbClr val="16233F"/>
          </a:solidFill>
          <a:ln/>
        </p:spPr>
      </p:sp>
      <p:pic>
        <p:nvPicPr>
          <p:cNvPr id="7" name="Image 0" descr="/home/claude/manjula/icons/clock_white.png">    </p:cNvPr>
          <p:cNvPicPr>
            <a:picLocks noChangeAspect="1"/>
          </p:cNvPicPr>
          <p:nvPr/>
        </p:nvPicPr>
        <p:blipFill>
          <a:blip r:embed="rId1"/>
          <a:stretch>
            <a:fillRect/>
          </a:stretch>
        </p:blipFill>
        <p:spPr>
          <a:xfrm>
            <a:off x="896844" y="2222724"/>
            <a:ext cx="327721" cy="327721"/>
          </a:xfrm>
          <a:prstGeom prst="rect">
            <a:avLst/>
          </a:prstGeom>
        </p:spPr>
      </p:pic>
      <p:sp>
        <p:nvSpPr>
          <p:cNvPr id="8" name="Text 5"/>
          <p:cNvSpPr/>
          <p:nvPr/>
        </p:nvSpPr>
        <p:spPr>
          <a:xfrm>
            <a:off x="804672" y="2770632"/>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Experience</a:t>
            </a:r>
            <a:endParaRPr lang="en-US" sz="1450" dirty="0"/>
          </a:p>
        </p:txBody>
      </p:sp>
      <p:sp>
        <p:nvSpPr>
          <p:cNvPr id="9" name="Text 6"/>
          <p:cNvSpPr/>
          <p:nvPr/>
        </p:nvSpPr>
        <p:spPr>
          <a:xfrm>
            <a:off x="804672" y="3108960"/>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20+ years of proven expertise across residential and commercial builds.</a:t>
            </a:r>
            <a:endParaRPr lang="en-US" sz="1050" dirty="0"/>
          </a:p>
        </p:txBody>
      </p:sp>
      <p:sp>
        <p:nvSpPr>
          <p:cNvPr id="10" name="Shape 7"/>
          <p:cNvSpPr/>
          <p:nvPr/>
        </p:nvSpPr>
        <p:spPr>
          <a:xfrm>
            <a:off x="4389120" y="1874520"/>
            <a:ext cx="3584448" cy="1783080"/>
          </a:xfrm>
          <a:prstGeom prst="roundRect">
            <a:avLst>
              <a:gd name="adj" fmla="val 4103"/>
            </a:avLst>
          </a:prstGeom>
          <a:solidFill>
            <a:srgbClr val="F4F4F2"/>
          </a:solidFill>
          <a:ln/>
        </p:spPr>
      </p:sp>
      <p:sp>
        <p:nvSpPr>
          <p:cNvPr id="11" name="Shape 8"/>
          <p:cNvSpPr/>
          <p:nvPr/>
        </p:nvSpPr>
        <p:spPr>
          <a:xfrm>
            <a:off x="4645152" y="2130552"/>
            <a:ext cx="512064" cy="512064"/>
          </a:xfrm>
          <a:prstGeom prst="ellipse">
            <a:avLst/>
          </a:prstGeom>
          <a:solidFill>
            <a:srgbClr val="16233F"/>
          </a:solidFill>
          <a:ln/>
        </p:spPr>
      </p:sp>
      <p:pic>
        <p:nvPicPr>
          <p:cNvPr id="12" name="Image 1" descr="/home/claude/manjula/icons/users_white.png">    </p:cNvPr>
          <p:cNvPicPr>
            <a:picLocks noChangeAspect="1"/>
          </p:cNvPicPr>
          <p:nvPr/>
        </p:nvPicPr>
        <p:blipFill>
          <a:blip r:embed="rId2"/>
          <a:stretch>
            <a:fillRect/>
          </a:stretch>
        </p:blipFill>
        <p:spPr>
          <a:xfrm>
            <a:off x="4737324" y="2222724"/>
            <a:ext cx="327721" cy="327721"/>
          </a:xfrm>
          <a:prstGeom prst="rect">
            <a:avLst/>
          </a:prstGeom>
        </p:spPr>
      </p:pic>
      <p:sp>
        <p:nvSpPr>
          <p:cNvPr id="13" name="Text 9"/>
          <p:cNvSpPr/>
          <p:nvPr/>
        </p:nvSpPr>
        <p:spPr>
          <a:xfrm>
            <a:off x="4645152" y="2770632"/>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Professional Team</a:t>
            </a:r>
            <a:endParaRPr lang="en-US" sz="1450" dirty="0"/>
          </a:p>
        </p:txBody>
      </p:sp>
      <p:sp>
        <p:nvSpPr>
          <p:cNvPr id="14" name="Text 10"/>
          <p:cNvSpPr/>
          <p:nvPr/>
        </p:nvSpPr>
        <p:spPr>
          <a:xfrm>
            <a:off x="4645152" y="3108960"/>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Experienced architects, engineers, and skilled technicians.</a:t>
            </a:r>
            <a:endParaRPr lang="en-US" sz="1050" dirty="0"/>
          </a:p>
        </p:txBody>
      </p:sp>
      <p:sp>
        <p:nvSpPr>
          <p:cNvPr id="15" name="Shape 11"/>
          <p:cNvSpPr/>
          <p:nvPr/>
        </p:nvSpPr>
        <p:spPr>
          <a:xfrm>
            <a:off x="8229600" y="1874520"/>
            <a:ext cx="3584448" cy="1783080"/>
          </a:xfrm>
          <a:prstGeom prst="roundRect">
            <a:avLst>
              <a:gd name="adj" fmla="val 4103"/>
            </a:avLst>
          </a:prstGeom>
          <a:solidFill>
            <a:srgbClr val="F4F4F2"/>
          </a:solidFill>
          <a:ln/>
        </p:spPr>
      </p:sp>
      <p:sp>
        <p:nvSpPr>
          <p:cNvPr id="16" name="Shape 12"/>
          <p:cNvSpPr/>
          <p:nvPr/>
        </p:nvSpPr>
        <p:spPr>
          <a:xfrm>
            <a:off x="8485632" y="2130552"/>
            <a:ext cx="512064" cy="512064"/>
          </a:xfrm>
          <a:prstGeom prst="ellipse">
            <a:avLst/>
          </a:prstGeom>
          <a:solidFill>
            <a:srgbClr val="16233F"/>
          </a:solidFill>
          <a:ln/>
        </p:spPr>
      </p:sp>
      <p:pic>
        <p:nvPicPr>
          <p:cNvPr id="17" name="Image 2" descr="/home/claude/manjula/icons/gem_white.png">    </p:cNvPr>
          <p:cNvPicPr>
            <a:picLocks noChangeAspect="1"/>
          </p:cNvPicPr>
          <p:nvPr/>
        </p:nvPicPr>
        <p:blipFill>
          <a:blip r:embed="rId3"/>
          <a:stretch>
            <a:fillRect/>
          </a:stretch>
        </p:blipFill>
        <p:spPr>
          <a:xfrm>
            <a:off x="8577804" y="2222724"/>
            <a:ext cx="327721" cy="327721"/>
          </a:xfrm>
          <a:prstGeom prst="rect">
            <a:avLst/>
          </a:prstGeom>
        </p:spPr>
      </p:pic>
      <p:sp>
        <p:nvSpPr>
          <p:cNvPr id="18" name="Text 13"/>
          <p:cNvSpPr/>
          <p:nvPr/>
        </p:nvSpPr>
        <p:spPr>
          <a:xfrm>
            <a:off x="8485632" y="2770632"/>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Quality Materials</a:t>
            </a:r>
            <a:endParaRPr lang="en-US" sz="1450" dirty="0"/>
          </a:p>
        </p:txBody>
      </p:sp>
      <p:sp>
        <p:nvSpPr>
          <p:cNvPr id="19" name="Text 14"/>
          <p:cNvSpPr/>
          <p:nvPr/>
        </p:nvSpPr>
        <p:spPr>
          <a:xfrm>
            <a:off x="8485632" y="3108960"/>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Premium brands and carefully selected materials, always.</a:t>
            </a:r>
            <a:endParaRPr lang="en-US" sz="1050" dirty="0"/>
          </a:p>
        </p:txBody>
      </p:sp>
      <p:sp>
        <p:nvSpPr>
          <p:cNvPr id="20" name="Shape 15"/>
          <p:cNvSpPr/>
          <p:nvPr/>
        </p:nvSpPr>
        <p:spPr>
          <a:xfrm>
            <a:off x="548640" y="3913632"/>
            <a:ext cx="3584448" cy="1783080"/>
          </a:xfrm>
          <a:prstGeom prst="roundRect">
            <a:avLst>
              <a:gd name="adj" fmla="val 4103"/>
            </a:avLst>
          </a:prstGeom>
          <a:solidFill>
            <a:srgbClr val="F4F4F2"/>
          </a:solidFill>
          <a:ln/>
        </p:spPr>
      </p:sp>
      <p:sp>
        <p:nvSpPr>
          <p:cNvPr id="21" name="Shape 16"/>
          <p:cNvSpPr/>
          <p:nvPr/>
        </p:nvSpPr>
        <p:spPr>
          <a:xfrm>
            <a:off x="804672" y="4169664"/>
            <a:ext cx="512064" cy="512064"/>
          </a:xfrm>
          <a:prstGeom prst="ellipse">
            <a:avLst/>
          </a:prstGeom>
          <a:solidFill>
            <a:srgbClr val="16233F"/>
          </a:solidFill>
          <a:ln/>
        </p:spPr>
      </p:sp>
      <p:pic>
        <p:nvPicPr>
          <p:cNvPr id="22" name="Image 3" descr="/home/claude/manjula/icons/chart_white.png">    </p:cNvPr>
          <p:cNvPicPr>
            <a:picLocks noChangeAspect="1"/>
          </p:cNvPicPr>
          <p:nvPr/>
        </p:nvPicPr>
        <p:blipFill>
          <a:blip r:embed="rId4"/>
          <a:stretch>
            <a:fillRect/>
          </a:stretch>
        </p:blipFill>
        <p:spPr>
          <a:xfrm>
            <a:off x="896844" y="4261836"/>
            <a:ext cx="327721" cy="327721"/>
          </a:xfrm>
          <a:prstGeom prst="rect">
            <a:avLst/>
          </a:prstGeom>
        </p:spPr>
      </p:pic>
      <p:sp>
        <p:nvSpPr>
          <p:cNvPr id="23" name="Text 17"/>
          <p:cNvSpPr/>
          <p:nvPr/>
        </p:nvSpPr>
        <p:spPr>
          <a:xfrm>
            <a:off x="804672" y="4809744"/>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Transparent Pricing</a:t>
            </a:r>
            <a:endParaRPr lang="en-US" sz="1450" dirty="0"/>
          </a:p>
        </p:txBody>
      </p:sp>
      <p:sp>
        <p:nvSpPr>
          <p:cNvPr id="24" name="Text 18"/>
          <p:cNvSpPr/>
          <p:nvPr/>
        </p:nvSpPr>
        <p:spPr>
          <a:xfrm>
            <a:off x="804672" y="5148072"/>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Clear, upfront package options with no hidden costs.</a:t>
            </a:r>
            <a:endParaRPr lang="en-US" sz="1050" dirty="0"/>
          </a:p>
        </p:txBody>
      </p:sp>
      <p:sp>
        <p:nvSpPr>
          <p:cNvPr id="25" name="Shape 19"/>
          <p:cNvSpPr/>
          <p:nvPr/>
        </p:nvSpPr>
        <p:spPr>
          <a:xfrm>
            <a:off x="4389120" y="3913632"/>
            <a:ext cx="3584448" cy="1783080"/>
          </a:xfrm>
          <a:prstGeom prst="roundRect">
            <a:avLst>
              <a:gd name="adj" fmla="val 4103"/>
            </a:avLst>
          </a:prstGeom>
          <a:solidFill>
            <a:srgbClr val="F4F4F2"/>
          </a:solidFill>
          <a:ln/>
        </p:spPr>
      </p:sp>
      <p:sp>
        <p:nvSpPr>
          <p:cNvPr id="26" name="Shape 20"/>
          <p:cNvSpPr/>
          <p:nvPr/>
        </p:nvSpPr>
        <p:spPr>
          <a:xfrm>
            <a:off x="4645152" y="4169664"/>
            <a:ext cx="512064" cy="512064"/>
          </a:xfrm>
          <a:prstGeom prst="ellipse">
            <a:avLst/>
          </a:prstGeom>
          <a:solidFill>
            <a:srgbClr val="16233F"/>
          </a:solidFill>
          <a:ln/>
        </p:spPr>
      </p:sp>
      <p:pic>
        <p:nvPicPr>
          <p:cNvPr id="27" name="Image 4" descr="/home/claude/manjula/icons/hardhat_white.png">    </p:cNvPr>
          <p:cNvPicPr>
            <a:picLocks noChangeAspect="1"/>
          </p:cNvPicPr>
          <p:nvPr/>
        </p:nvPicPr>
        <p:blipFill>
          <a:blip r:embed="rId5"/>
          <a:stretch>
            <a:fillRect/>
          </a:stretch>
        </p:blipFill>
        <p:spPr>
          <a:xfrm>
            <a:off x="4737324" y="4261836"/>
            <a:ext cx="327721" cy="327721"/>
          </a:xfrm>
          <a:prstGeom prst="rect">
            <a:avLst/>
          </a:prstGeom>
        </p:spPr>
      </p:pic>
      <p:sp>
        <p:nvSpPr>
          <p:cNvPr id="28" name="Text 21"/>
          <p:cNvSpPr/>
          <p:nvPr/>
        </p:nvSpPr>
        <p:spPr>
          <a:xfrm>
            <a:off x="4645152" y="4809744"/>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Timely Delivery</a:t>
            </a:r>
            <a:endParaRPr lang="en-US" sz="1450" dirty="0"/>
          </a:p>
        </p:txBody>
      </p:sp>
      <p:sp>
        <p:nvSpPr>
          <p:cNvPr id="29" name="Text 22"/>
          <p:cNvSpPr/>
          <p:nvPr/>
        </p:nvSpPr>
        <p:spPr>
          <a:xfrm>
            <a:off x="4645152" y="5148072"/>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Projects completed on schedule, every time.</a:t>
            </a:r>
            <a:endParaRPr lang="en-US" sz="1050" dirty="0"/>
          </a:p>
        </p:txBody>
      </p:sp>
      <p:sp>
        <p:nvSpPr>
          <p:cNvPr id="30" name="Shape 23"/>
          <p:cNvSpPr/>
          <p:nvPr/>
        </p:nvSpPr>
        <p:spPr>
          <a:xfrm>
            <a:off x="8229600" y="3913632"/>
            <a:ext cx="3584448" cy="1783080"/>
          </a:xfrm>
          <a:prstGeom prst="roundRect">
            <a:avLst>
              <a:gd name="adj" fmla="val 4103"/>
            </a:avLst>
          </a:prstGeom>
          <a:solidFill>
            <a:srgbClr val="F4F4F2"/>
          </a:solidFill>
          <a:ln/>
        </p:spPr>
      </p:sp>
      <p:sp>
        <p:nvSpPr>
          <p:cNvPr id="31" name="Shape 24"/>
          <p:cNvSpPr/>
          <p:nvPr/>
        </p:nvSpPr>
        <p:spPr>
          <a:xfrm>
            <a:off x="8485632" y="4169664"/>
            <a:ext cx="512064" cy="512064"/>
          </a:xfrm>
          <a:prstGeom prst="ellipse">
            <a:avLst/>
          </a:prstGeom>
          <a:solidFill>
            <a:srgbClr val="16233F"/>
          </a:solidFill>
          <a:ln/>
        </p:spPr>
      </p:sp>
      <p:pic>
        <p:nvPicPr>
          <p:cNvPr id="32" name="Image 5" descr="/home/claude/manjula/icons/handshake_white.png">    </p:cNvPr>
          <p:cNvPicPr>
            <a:picLocks noChangeAspect="1"/>
          </p:cNvPicPr>
          <p:nvPr/>
        </p:nvPicPr>
        <p:blipFill>
          <a:blip r:embed="rId6"/>
          <a:stretch>
            <a:fillRect/>
          </a:stretch>
        </p:blipFill>
        <p:spPr>
          <a:xfrm>
            <a:off x="8577804" y="4261836"/>
            <a:ext cx="327721" cy="327721"/>
          </a:xfrm>
          <a:prstGeom prst="rect">
            <a:avLst/>
          </a:prstGeom>
        </p:spPr>
      </p:pic>
      <p:sp>
        <p:nvSpPr>
          <p:cNvPr id="33" name="Text 25"/>
          <p:cNvSpPr/>
          <p:nvPr/>
        </p:nvSpPr>
        <p:spPr>
          <a:xfrm>
            <a:off x="8485632" y="4809744"/>
            <a:ext cx="3072384" cy="365760"/>
          </a:xfrm>
          <a:prstGeom prst="rect">
            <a:avLst/>
          </a:prstGeom>
          <a:noFill/>
          <a:ln/>
        </p:spPr>
        <p:txBody>
          <a:bodyPr wrap="square" rtlCol="0" anchor="ctr"/>
          <a:lstStyle/>
          <a:p>
            <a:pPr indent="0" marL="0">
              <a:buNone/>
            </a:pPr>
            <a:r>
              <a:rPr lang="en-US" sz="1450" b="1" dirty="0">
                <a:solidFill>
                  <a:srgbClr val="16233F"/>
                </a:solidFill>
                <a:latin typeface="Calibri" pitchFamily="34" charset="0"/>
                <a:ea typeface="Calibri" pitchFamily="34" charset="-122"/>
                <a:cs typeface="Calibri" pitchFamily="34" charset="-120"/>
              </a:rPr>
              <a:t>Customer Satisfaction</a:t>
            </a:r>
            <a:endParaRPr lang="en-US" sz="1450" dirty="0"/>
          </a:p>
        </p:txBody>
      </p:sp>
      <p:sp>
        <p:nvSpPr>
          <p:cNvPr id="34" name="Text 26"/>
          <p:cNvSpPr/>
          <p:nvPr/>
        </p:nvSpPr>
        <p:spPr>
          <a:xfrm>
            <a:off x="8485632" y="5148072"/>
            <a:ext cx="3072384" cy="502920"/>
          </a:xfrm>
          <a:prstGeom prst="rect">
            <a:avLst/>
          </a:prstGeom>
          <a:noFill/>
          <a:ln/>
        </p:spPr>
        <p:txBody>
          <a:bodyPr wrap="square" rtlCol="0" anchor="ctr"/>
          <a:lstStyle/>
          <a:p>
            <a:pPr indent="0" marL="0">
              <a:lnSpc>
                <a:spcPct val="120000"/>
              </a:lnSpc>
              <a:buNone/>
            </a:pPr>
            <a:r>
              <a:rPr lang="en-US" sz="1050" dirty="0">
                <a:solidFill>
                  <a:srgbClr val="6E6E72"/>
                </a:solidFill>
                <a:latin typeface="Calibri" pitchFamily="34" charset="0"/>
                <a:ea typeface="Calibri" pitchFamily="34" charset="-122"/>
                <a:cs typeface="Calibri" pitchFamily="34" charset="-120"/>
              </a:rPr>
              <a:t>Long-term relationships built on trust and results.</a:t>
            </a:r>
            <a:endParaRPr lang="en-US" sz="1050" dirty="0"/>
          </a:p>
        </p:txBody>
      </p:sp>
      <p:sp>
        <p:nvSpPr>
          <p:cNvPr id="35" name="Text 27"/>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36" name="Text 2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07</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CONSTRUCTION WORKFLOW</a:t>
            </a:r>
            <a:endParaRPr lang="en-US" sz="1200" dirty="0"/>
          </a:p>
        </p:txBody>
      </p:sp>
      <p:sp>
        <p:nvSpPr>
          <p:cNvPr id="4" name="Text 2"/>
          <p:cNvSpPr/>
          <p:nvPr/>
        </p:nvSpPr>
        <p:spPr>
          <a:xfrm>
            <a:off x="548640" y="914400"/>
            <a:ext cx="73152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Our 10-Step Process</a:t>
            </a:r>
            <a:endParaRPr lang="en-US" sz="2600" dirty="0"/>
          </a:p>
        </p:txBody>
      </p:sp>
      <p:sp>
        <p:nvSpPr>
          <p:cNvPr id="5" name="Shape 3"/>
          <p:cNvSpPr/>
          <p:nvPr/>
        </p:nvSpPr>
        <p:spPr>
          <a:xfrm>
            <a:off x="548640" y="1965960"/>
            <a:ext cx="2084832" cy="1554480"/>
          </a:xfrm>
          <a:prstGeom prst="roundRect">
            <a:avLst>
              <a:gd name="adj" fmla="val 4706"/>
            </a:avLst>
          </a:prstGeom>
          <a:solidFill>
            <a:srgbClr val="16233F"/>
          </a:solidFill>
          <a:ln/>
        </p:spPr>
      </p:sp>
      <p:sp>
        <p:nvSpPr>
          <p:cNvPr id="6" name="Text 4"/>
          <p:cNvSpPr/>
          <p:nvPr/>
        </p:nvSpPr>
        <p:spPr>
          <a:xfrm>
            <a:off x="713232" y="213055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713232" y="2679192"/>
            <a:ext cx="1755648" cy="6858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Boundary Marking</a:t>
            </a:r>
            <a:endParaRPr lang="en-US" sz="1250" dirty="0"/>
          </a:p>
        </p:txBody>
      </p:sp>
      <p:pic>
        <p:nvPicPr>
          <p:cNvPr id="8" name="Image 0" descr="/home/claude/manjula/icons/arrow_gold.png">    </p:cNvPr>
          <p:cNvPicPr>
            <a:picLocks noChangeAspect="1"/>
          </p:cNvPicPr>
          <p:nvPr/>
        </p:nvPicPr>
        <p:blipFill>
          <a:blip r:embed="rId1"/>
          <a:stretch>
            <a:fillRect/>
          </a:stretch>
        </p:blipFill>
        <p:spPr>
          <a:xfrm>
            <a:off x="2638044" y="2642616"/>
            <a:ext cx="128016" cy="201168"/>
          </a:xfrm>
          <a:prstGeom prst="rect">
            <a:avLst/>
          </a:prstGeom>
        </p:spPr>
      </p:pic>
      <p:sp>
        <p:nvSpPr>
          <p:cNvPr id="9" name="Shape 6"/>
          <p:cNvSpPr/>
          <p:nvPr/>
        </p:nvSpPr>
        <p:spPr>
          <a:xfrm>
            <a:off x="2770632" y="1965960"/>
            <a:ext cx="2084832" cy="1554480"/>
          </a:xfrm>
          <a:prstGeom prst="roundRect">
            <a:avLst>
              <a:gd name="adj" fmla="val 4706"/>
            </a:avLst>
          </a:prstGeom>
          <a:solidFill>
            <a:srgbClr val="16233F"/>
          </a:solidFill>
          <a:ln/>
        </p:spPr>
      </p:sp>
      <p:sp>
        <p:nvSpPr>
          <p:cNvPr id="10" name="Text 7"/>
          <p:cNvSpPr/>
          <p:nvPr/>
        </p:nvSpPr>
        <p:spPr>
          <a:xfrm>
            <a:off x="2935224" y="213055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02</a:t>
            </a:r>
            <a:endParaRPr lang="en-US" sz="2200" dirty="0"/>
          </a:p>
        </p:txBody>
      </p:sp>
      <p:sp>
        <p:nvSpPr>
          <p:cNvPr id="11" name="Text 8"/>
          <p:cNvSpPr/>
          <p:nvPr/>
        </p:nvSpPr>
        <p:spPr>
          <a:xfrm>
            <a:off x="2935224" y="2679192"/>
            <a:ext cx="1755648" cy="6858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Planning</a:t>
            </a:r>
            <a:endParaRPr lang="en-US" sz="1250" dirty="0"/>
          </a:p>
        </p:txBody>
      </p:sp>
      <p:pic>
        <p:nvPicPr>
          <p:cNvPr id="12" name="Image 1" descr="/home/claude/manjula/icons/arrow_gold.png">    </p:cNvPr>
          <p:cNvPicPr>
            <a:picLocks noChangeAspect="1"/>
          </p:cNvPicPr>
          <p:nvPr/>
        </p:nvPicPr>
        <p:blipFill>
          <a:blip r:embed="rId2"/>
          <a:stretch>
            <a:fillRect/>
          </a:stretch>
        </p:blipFill>
        <p:spPr>
          <a:xfrm>
            <a:off x="4860036" y="2642616"/>
            <a:ext cx="128016" cy="201168"/>
          </a:xfrm>
          <a:prstGeom prst="rect">
            <a:avLst/>
          </a:prstGeom>
        </p:spPr>
      </p:pic>
      <p:sp>
        <p:nvSpPr>
          <p:cNvPr id="13" name="Shape 9"/>
          <p:cNvSpPr/>
          <p:nvPr/>
        </p:nvSpPr>
        <p:spPr>
          <a:xfrm>
            <a:off x="4992624" y="1965960"/>
            <a:ext cx="2084832" cy="1554480"/>
          </a:xfrm>
          <a:prstGeom prst="roundRect">
            <a:avLst>
              <a:gd name="adj" fmla="val 4706"/>
            </a:avLst>
          </a:prstGeom>
          <a:solidFill>
            <a:srgbClr val="16233F"/>
          </a:solidFill>
          <a:ln/>
        </p:spPr>
      </p:sp>
      <p:sp>
        <p:nvSpPr>
          <p:cNvPr id="14" name="Text 10"/>
          <p:cNvSpPr/>
          <p:nvPr/>
        </p:nvSpPr>
        <p:spPr>
          <a:xfrm>
            <a:off x="5157216" y="213055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03</a:t>
            </a:r>
            <a:endParaRPr lang="en-US" sz="2200" dirty="0"/>
          </a:p>
        </p:txBody>
      </p:sp>
      <p:sp>
        <p:nvSpPr>
          <p:cNvPr id="15" name="Text 11"/>
          <p:cNvSpPr/>
          <p:nvPr/>
        </p:nvSpPr>
        <p:spPr>
          <a:xfrm>
            <a:off x="5157216" y="2679192"/>
            <a:ext cx="1755648" cy="6858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Designing</a:t>
            </a:r>
            <a:endParaRPr lang="en-US" sz="1250" dirty="0"/>
          </a:p>
        </p:txBody>
      </p:sp>
      <p:pic>
        <p:nvPicPr>
          <p:cNvPr id="16" name="Image 2" descr="/home/claude/manjula/icons/arrow_gold.png">    </p:cNvPr>
          <p:cNvPicPr>
            <a:picLocks noChangeAspect="1"/>
          </p:cNvPicPr>
          <p:nvPr/>
        </p:nvPicPr>
        <p:blipFill>
          <a:blip r:embed="rId3"/>
          <a:stretch>
            <a:fillRect/>
          </a:stretch>
        </p:blipFill>
        <p:spPr>
          <a:xfrm>
            <a:off x="7082028" y="2642616"/>
            <a:ext cx="128016" cy="201168"/>
          </a:xfrm>
          <a:prstGeom prst="rect">
            <a:avLst/>
          </a:prstGeom>
        </p:spPr>
      </p:pic>
      <p:sp>
        <p:nvSpPr>
          <p:cNvPr id="17" name="Shape 12"/>
          <p:cNvSpPr/>
          <p:nvPr/>
        </p:nvSpPr>
        <p:spPr>
          <a:xfrm>
            <a:off x="7214616" y="1965960"/>
            <a:ext cx="2084832" cy="1554480"/>
          </a:xfrm>
          <a:prstGeom prst="roundRect">
            <a:avLst>
              <a:gd name="adj" fmla="val 4706"/>
            </a:avLst>
          </a:prstGeom>
          <a:solidFill>
            <a:srgbClr val="16233F"/>
          </a:solidFill>
          <a:ln/>
        </p:spPr>
      </p:sp>
      <p:sp>
        <p:nvSpPr>
          <p:cNvPr id="18" name="Text 13"/>
          <p:cNvSpPr/>
          <p:nvPr/>
        </p:nvSpPr>
        <p:spPr>
          <a:xfrm>
            <a:off x="7379208" y="213055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04</a:t>
            </a:r>
            <a:endParaRPr lang="en-US" sz="2200" dirty="0"/>
          </a:p>
        </p:txBody>
      </p:sp>
      <p:sp>
        <p:nvSpPr>
          <p:cNvPr id="19" name="Text 14"/>
          <p:cNvSpPr/>
          <p:nvPr/>
        </p:nvSpPr>
        <p:spPr>
          <a:xfrm>
            <a:off x="7379208" y="2679192"/>
            <a:ext cx="1755648" cy="6858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Structural Drawing</a:t>
            </a:r>
            <a:endParaRPr lang="en-US" sz="1250" dirty="0"/>
          </a:p>
        </p:txBody>
      </p:sp>
      <p:pic>
        <p:nvPicPr>
          <p:cNvPr id="20" name="Image 3" descr="/home/claude/manjula/icons/arrow_gold.png">    </p:cNvPr>
          <p:cNvPicPr>
            <a:picLocks noChangeAspect="1"/>
          </p:cNvPicPr>
          <p:nvPr/>
        </p:nvPicPr>
        <p:blipFill>
          <a:blip r:embed="rId4"/>
          <a:stretch>
            <a:fillRect/>
          </a:stretch>
        </p:blipFill>
        <p:spPr>
          <a:xfrm>
            <a:off x="9304020" y="2642616"/>
            <a:ext cx="128016" cy="201168"/>
          </a:xfrm>
          <a:prstGeom prst="rect">
            <a:avLst/>
          </a:prstGeom>
        </p:spPr>
      </p:pic>
      <p:sp>
        <p:nvSpPr>
          <p:cNvPr id="21" name="Shape 15"/>
          <p:cNvSpPr/>
          <p:nvPr/>
        </p:nvSpPr>
        <p:spPr>
          <a:xfrm>
            <a:off x="9436608" y="1965960"/>
            <a:ext cx="2084832" cy="1554480"/>
          </a:xfrm>
          <a:prstGeom prst="roundRect">
            <a:avLst>
              <a:gd name="adj" fmla="val 4706"/>
            </a:avLst>
          </a:prstGeom>
          <a:solidFill>
            <a:srgbClr val="16233F"/>
          </a:solidFill>
          <a:ln/>
        </p:spPr>
      </p:sp>
      <p:sp>
        <p:nvSpPr>
          <p:cNvPr id="22" name="Text 16"/>
          <p:cNvSpPr/>
          <p:nvPr/>
        </p:nvSpPr>
        <p:spPr>
          <a:xfrm>
            <a:off x="9601200" y="213055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05</a:t>
            </a:r>
            <a:endParaRPr lang="en-US" sz="2200" dirty="0"/>
          </a:p>
        </p:txBody>
      </p:sp>
      <p:sp>
        <p:nvSpPr>
          <p:cNvPr id="23" name="Text 17"/>
          <p:cNvSpPr/>
          <p:nvPr/>
        </p:nvSpPr>
        <p:spPr>
          <a:xfrm>
            <a:off x="9601200" y="2679192"/>
            <a:ext cx="1755648" cy="685800"/>
          </a:xfrm>
          <a:prstGeom prst="rect">
            <a:avLst/>
          </a:prstGeom>
          <a:noFill/>
          <a:ln/>
        </p:spPr>
        <p:txBody>
          <a:bodyPr wrap="square"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Construction</a:t>
            </a:r>
            <a:endParaRPr lang="en-US" sz="1250" dirty="0"/>
          </a:p>
        </p:txBody>
      </p:sp>
      <p:sp>
        <p:nvSpPr>
          <p:cNvPr id="24" name="Shape 18"/>
          <p:cNvSpPr/>
          <p:nvPr/>
        </p:nvSpPr>
        <p:spPr>
          <a:xfrm>
            <a:off x="548640" y="3977640"/>
            <a:ext cx="2084832" cy="1554480"/>
          </a:xfrm>
          <a:prstGeom prst="roundRect">
            <a:avLst>
              <a:gd name="adj" fmla="val 4706"/>
            </a:avLst>
          </a:prstGeom>
          <a:solidFill>
            <a:srgbClr val="F4F4F2"/>
          </a:solidFill>
          <a:ln/>
        </p:spPr>
      </p:sp>
      <p:sp>
        <p:nvSpPr>
          <p:cNvPr id="25" name="Text 19"/>
          <p:cNvSpPr/>
          <p:nvPr/>
        </p:nvSpPr>
        <p:spPr>
          <a:xfrm>
            <a:off x="713232" y="414223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06</a:t>
            </a:r>
            <a:endParaRPr lang="en-US" sz="2200" dirty="0"/>
          </a:p>
        </p:txBody>
      </p:sp>
      <p:sp>
        <p:nvSpPr>
          <p:cNvPr id="26" name="Text 20"/>
          <p:cNvSpPr/>
          <p:nvPr/>
        </p:nvSpPr>
        <p:spPr>
          <a:xfrm>
            <a:off x="713232" y="4690872"/>
            <a:ext cx="1755648" cy="685800"/>
          </a:xfrm>
          <a:prstGeom prst="rect">
            <a:avLst/>
          </a:prstGeom>
          <a:noFill/>
          <a:ln/>
        </p:spPr>
        <p:txBody>
          <a:bodyPr wrap="square" rtlCol="0" anchor="ctr"/>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Flooring &amp; Wall Tiling</a:t>
            </a:r>
            <a:endParaRPr lang="en-US" sz="1250" dirty="0"/>
          </a:p>
        </p:txBody>
      </p:sp>
      <p:pic>
        <p:nvPicPr>
          <p:cNvPr id="27" name="Image 4" descr="/home/claude/manjula/icons/arrow_gold.png">    </p:cNvPr>
          <p:cNvPicPr>
            <a:picLocks noChangeAspect="1"/>
          </p:cNvPicPr>
          <p:nvPr/>
        </p:nvPicPr>
        <p:blipFill>
          <a:blip r:embed="rId5"/>
          <a:stretch>
            <a:fillRect/>
          </a:stretch>
        </p:blipFill>
        <p:spPr>
          <a:xfrm>
            <a:off x="2638044" y="4654296"/>
            <a:ext cx="128016" cy="201168"/>
          </a:xfrm>
          <a:prstGeom prst="rect">
            <a:avLst/>
          </a:prstGeom>
        </p:spPr>
      </p:pic>
      <p:sp>
        <p:nvSpPr>
          <p:cNvPr id="28" name="Shape 21"/>
          <p:cNvSpPr/>
          <p:nvPr/>
        </p:nvSpPr>
        <p:spPr>
          <a:xfrm>
            <a:off x="2770632" y="3977640"/>
            <a:ext cx="2084832" cy="1554480"/>
          </a:xfrm>
          <a:prstGeom prst="roundRect">
            <a:avLst>
              <a:gd name="adj" fmla="val 4706"/>
            </a:avLst>
          </a:prstGeom>
          <a:solidFill>
            <a:srgbClr val="F4F4F2"/>
          </a:solidFill>
          <a:ln/>
        </p:spPr>
      </p:sp>
      <p:sp>
        <p:nvSpPr>
          <p:cNvPr id="29" name="Text 22"/>
          <p:cNvSpPr/>
          <p:nvPr/>
        </p:nvSpPr>
        <p:spPr>
          <a:xfrm>
            <a:off x="2935224" y="414223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07</a:t>
            </a:r>
            <a:endParaRPr lang="en-US" sz="2200" dirty="0"/>
          </a:p>
        </p:txBody>
      </p:sp>
      <p:sp>
        <p:nvSpPr>
          <p:cNvPr id="30" name="Text 23"/>
          <p:cNvSpPr/>
          <p:nvPr/>
        </p:nvSpPr>
        <p:spPr>
          <a:xfrm>
            <a:off x="2935224" y="4690872"/>
            <a:ext cx="1755648" cy="685800"/>
          </a:xfrm>
          <a:prstGeom prst="rect">
            <a:avLst/>
          </a:prstGeom>
          <a:noFill/>
          <a:ln/>
        </p:spPr>
        <p:txBody>
          <a:bodyPr wrap="square" rtlCol="0" anchor="ctr"/>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Painting</a:t>
            </a:r>
            <a:endParaRPr lang="en-US" sz="1250" dirty="0"/>
          </a:p>
        </p:txBody>
      </p:sp>
      <p:pic>
        <p:nvPicPr>
          <p:cNvPr id="31" name="Image 5" descr="/home/claude/manjula/icons/arrow_gold.png">    </p:cNvPr>
          <p:cNvPicPr>
            <a:picLocks noChangeAspect="1"/>
          </p:cNvPicPr>
          <p:nvPr/>
        </p:nvPicPr>
        <p:blipFill>
          <a:blip r:embed="rId6"/>
          <a:stretch>
            <a:fillRect/>
          </a:stretch>
        </p:blipFill>
        <p:spPr>
          <a:xfrm>
            <a:off x="4860036" y="4654296"/>
            <a:ext cx="128016" cy="201168"/>
          </a:xfrm>
          <a:prstGeom prst="rect">
            <a:avLst/>
          </a:prstGeom>
        </p:spPr>
      </p:pic>
      <p:sp>
        <p:nvSpPr>
          <p:cNvPr id="32" name="Shape 24"/>
          <p:cNvSpPr/>
          <p:nvPr/>
        </p:nvSpPr>
        <p:spPr>
          <a:xfrm>
            <a:off x="4992624" y="3977640"/>
            <a:ext cx="2084832" cy="1554480"/>
          </a:xfrm>
          <a:prstGeom prst="roundRect">
            <a:avLst>
              <a:gd name="adj" fmla="val 4706"/>
            </a:avLst>
          </a:prstGeom>
          <a:solidFill>
            <a:srgbClr val="F4F4F2"/>
          </a:solidFill>
          <a:ln/>
        </p:spPr>
      </p:sp>
      <p:sp>
        <p:nvSpPr>
          <p:cNvPr id="33" name="Text 25"/>
          <p:cNvSpPr/>
          <p:nvPr/>
        </p:nvSpPr>
        <p:spPr>
          <a:xfrm>
            <a:off x="5157216" y="414223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08</a:t>
            </a:r>
            <a:endParaRPr lang="en-US" sz="2200" dirty="0"/>
          </a:p>
        </p:txBody>
      </p:sp>
      <p:sp>
        <p:nvSpPr>
          <p:cNvPr id="34" name="Text 26"/>
          <p:cNvSpPr/>
          <p:nvPr/>
        </p:nvSpPr>
        <p:spPr>
          <a:xfrm>
            <a:off x="5157216" y="4690872"/>
            <a:ext cx="1755648" cy="685800"/>
          </a:xfrm>
          <a:prstGeom prst="rect">
            <a:avLst/>
          </a:prstGeom>
          <a:noFill/>
          <a:ln/>
        </p:spPr>
        <p:txBody>
          <a:bodyPr wrap="square" rtlCol="0" anchor="ctr"/>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Electrical</a:t>
            </a:r>
            <a:endParaRPr lang="en-US" sz="1250" dirty="0"/>
          </a:p>
        </p:txBody>
      </p:sp>
      <p:pic>
        <p:nvPicPr>
          <p:cNvPr id="35" name="Image 6" descr="/home/claude/manjula/icons/arrow_gold.png">    </p:cNvPr>
          <p:cNvPicPr>
            <a:picLocks noChangeAspect="1"/>
          </p:cNvPicPr>
          <p:nvPr/>
        </p:nvPicPr>
        <p:blipFill>
          <a:blip r:embed="rId7"/>
          <a:stretch>
            <a:fillRect/>
          </a:stretch>
        </p:blipFill>
        <p:spPr>
          <a:xfrm>
            <a:off x="7082028" y="4654296"/>
            <a:ext cx="128016" cy="201168"/>
          </a:xfrm>
          <a:prstGeom prst="rect">
            <a:avLst/>
          </a:prstGeom>
        </p:spPr>
      </p:pic>
      <p:sp>
        <p:nvSpPr>
          <p:cNvPr id="36" name="Shape 27"/>
          <p:cNvSpPr/>
          <p:nvPr/>
        </p:nvSpPr>
        <p:spPr>
          <a:xfrm>
            <a:off x="7214616" y="3977640"/>
            <a:ext cx="2084832" cy="1554480"/>
          </a:xfrm>
          <a:prstGeom prst="roundRect">
            <a:avLst>
              <a:gd name="adj" fmla="val 4706"/>
            </a:avLst>
          </a:prstGeom>
          <a:solidFill>
            <a:srgbClr val="F4F4F2"/>
          </a:solidFill>
          <a:ln/>
        </p:spPr>
      </p:sp>
      <p:sp>
        <p:nvSpPr>
          <p:cNvPr id="37" name="Text 28"/>
          <p:cNvSpPr/>
          <p:nvPr/>
        </p:nvSpPr>
        <p:spPr>
          <a:xfrm>
            <a:off x="7379208" y="414223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09</a:t>
            </a:r>
            <a:endParaRPr lang="en-US" sz="2200" dirty="0"/>
          </a:p>
        </p:txBody>
      </p:sp>
      <p:sp>
        <p:nvSpPr>
          <p:cNvPr id="38" name="Text 29"/>
          <p:cNvSpPr/>
          <p:nvPr/>
        </p:nvSpPr>
        <p:spPr>
          <a:xfrm>
            <a:off x="7379208" y="4690872"/>
            <a:ext cx="1755648" cy="685800"/>
          </a:xfrm>
          <a:prstGeom prst="rect">
            <a:avLst/>
          </a:prstGeom>
          <a:noFill/>
          <a:ln/>
        </p:spPr>
        <p:txBody>
          <a:bodyPr wrap="square" rtlCol="0" anchor="ctr"/>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Other Inclusions</a:t>
            </a:r>
            <a:endParaRPr lang="en-US" sz="1250" dirty="0"/>
          </a:p>
        </p:txBody>
      </p:sp>
      <p:pic>
        <p:nvPicPr>
          <p:cNvPr id="39" name="Image 7" descr="/home/claude/manjula/icons/arrow_gold.png">    </p:cNvPr>
          <p:cNvPicPr>
            <a:picLocks noChangeAspect="1"/>
          </p:cNvPicPr>
          <p:nvPr/>
        </p:nvPicPr>
        <p:blipFill>
          <a:blip r:embed="rId8"/>
          <a:stretch>
            <a:fillRect/>
          </a:stretch>
        </p:blipFill>
        <p:spPr>
          <a:xfrm>
            <a:off x="9304020" y="4654296"/>
            <a:ext cx="128016" cy="201168"/>
          </a:xfrm>
          <a:prstGeom prst="rect">
            <a:avLst/>
          </a:prstGeom>
        </p:spPr>
      </p:pic>
      <p:sp>
        <p:nvSpPr>
          <p:cNvPr id="40" name="Shape 30"/>
          <p:cNvSpPr/>
          <p:nvPr/>
        </p:nvSpPr>
        <p:spPr>
          <a:xfrm>
            <a:off x="9436608" y="3977640"/>
            <a:ext cx="2084832" cy="1554480"/>
          </a:xfrm>
          <a:prstGeom prst="roundRect">
            <a:avLst>
              <a:gd name="adj" fmla="val 4706"/>
            </a:avLst>
          </a:prstGeom>
          <a:solidFill>
            <a:srgbClr val="F4F4F2"/>
          </a:solidFill>
          <a:ln/>
        </p:spPr>
      </p:sp>
      <p:sp>
        <p:nvSpPr>
          <p:cNvPr id="41" name="Text 31"/>
          <p:cNvSpPr/>
          <p:nvPr/>
        </p:nvSpPr>
        <p:spPr>
          <a:xfrm>
            <a:off x="9601200" y="4142232"/>
            <a:ext cx="914400" cy="457200"/>
          </a:xfrm>
          <a:prstGeom prst="rect">
            <a:avLst/>
          </a:prstGeom>
          <a:noFill/>
          <a:ln/>
        </p:spPr>
        <p:txBody>
          <a:bodyPr wrap="square" rtlCol="0" anchor="ctr"/>
          <a:lstStyle/>
          <a:p>
            <a:pPr indent="0" marL="0">
              <a:buNone/>
            </a:pPr>
            <a:r>
              <a:rPr lang="en-US" sz="2200" b="1" dirty="0">
                <a:solidFill>
                  <a:srgbClr val="C89B3C"/>
                </a:solidFill>
                <a:latin typeface="Cambria" pitchFamily="34" charset="0"/>
                <a:ea typeface="Cambria" pitchFamily="34" charset="-122"/>
                <a:cs typeface="Cambria" pitchFamily="34" charset="-120"/>
              </a:rPr>
              <a:t>10</a:t>
            </a:r>
            <a:endParaRPr lang="en-US" sz="2200" dirty="0"/>
          </a:p>
        </p:txBody>
      </p:sp>
      <p:sp>
        <p:nvSpPr>
          <p:cNvPr id="42" name="Text 32"/>
          <p:cNvSpPr/>
          <p:nvPr/>
        </p:nvSpPr>
        <p:spPr>
          <a:xfrm>
            <a:off x="9601200" y="4690872"/>
            <a:ext cx="1755648" cy="685800"/>
          </a:xfrm>
          <a:prstGeom prst="rect">
            <a:avLst/>
          </a:prstGeom>
          <a:noFill/>
          <a:ln/>
        </p:spPr>
        <p:txBody>
          <a:bodyPr wrap="square" rtlCol="0" anchor="ctr"/>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Project Handover</a:t>
            </a:r>
            <a:endParaRPr lang="en-US" sz="1250" dirty="0"/>
          </a:p>
        </p:txBody>
      </p:sp>
      <p:pic>
        <p:nvPicPr>
          <p:cNvPr id="43" name="Image 8" descr="/home/claude/manjula/icons/arrow_navy.png">    </p:cNvPr>
          <p:cNvPicPr>
            <a:picLocks noChangeAspect="1"/>
          </p:cNvPicPr>
          <p:nvPr/>
        </p:nvPicPr>
        <p:blipFill>
          <a:blip r:embed="rId9"/>
          <a:stretch>
            <a:fillRect/>
          </a:stretch>
        </p:blipFill>
        <p:spPr>
          <a:xfrm rot="5400000">
            <a:off x="1527048" y="3593592"/>
            <a:ext cx="128016" cy="201168"/>
          </a:xfrm>
          <a:prstGeom prst="rect">
            <a:avLst/>
          </a:prstGeom>
        </p:spPr>
      </p:pic>
      <p:sp>
        <p:nvSpPr>
          <p:cNvPr id="44" name="Text 33"/>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45" name="Text 3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08</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DESIGN AND ENGINEERING</a:t>
            </a:r>
            <a:endParaRPr lang="en-US" sz="1200" dirty="0"/>
          </a:p>
        </p:txBody>
      </p:sp>
      <p:sp>
        <p:nvSpPr>
          <p:cNvPr id="4" name="Text 2"/>
          <p:cNvSpPr/>
          <p:nvPr/>
        </p:nvSpPr>
        <p:spPr>
          <a:xfrm>
            <a:off x="548640" y="914400"/>
            <a:ext cx="9601200" cy="548640"/>
          </a:xfrm>
          <a:prstGeom prst="rect">
            <a:avLst/>
          </a:prstGeom>
          <a:noFill/>
          <a:ln/>
        </p:spPr>
        <p:txBody>
          <a:bodyPr wrap="square" rtlCol="0" anchor="ctr"/>
          <a:lstStyle/>
          <a:p>
            <a:pPr indent="0" marL="0">
              <a:buNone/>
            </a:pPr>
            <a:r>
              <a:rPr lang="en-US" sz="2400" b="1" dirty="0">
                <a:solidFill>
                  <a:srgbClr val="16233F"/>
                </a:solidFill>
                <a:latin typeface="Cambria" pitchFamily="34" charset="0"/>
                <a:ea typeface="Cambria" pitchFamily="34" charset="-122"/>
                <a:cs typeface="Cambria" pitchFamily="34" charset="-120"/>
              </a:rPr>
              <a:t>Precision from Concept to Blueprint</a:t>
            </a:r>
            <a:endParaRPr lang="en-US" sz="2400" dirty="0"/>
          </a:p>
        </p:txBody>
      </p:sp>
      <p:sp>
        <p:nvSpPr>
          <p:cNvPr id="5" name="Shape 3"/>
          <p:cNvSpPr/>
          <p:nvPr/>
        </p:nvSpPr>
        <p:spPr>
          <a:xfrm>
            <a:off x="548640" y="1691640"/>
            <a:ext cx="5349240" cy="4434840"/>
          </a:xfrm>
          <a:prstGeom prst="roundRect">
            <a:avLst>
              <a:gd name="adj" fmla="val 1649"/>
            </a:avLst>
          </a:prstGeom>
          <a:solidFill>
            <a:srgbClr val="F4F4F2"/>
          </a:solidFill>
          <a:ln/>
        </p:spPr>
      </p:sp>
      <p:sp>
        <p:nvSpPr>
          <p:cNvPr id="6" name="Shape 4"/>
          <p:cNvSpPr/>
          <p:nvPr/>
        </p:nvSpPr>
        <p:spPr>
          <a:xfrm>
            <a:off x="868680" y="2011680"/>
            <a:ext cx="594360" cy="594360"/>
          </a:xfrm>
          <a:prstGeom prst="ellipse">
            <a:avLst/>
          </a:prstGeom>
          <a:solidFill>
            <a:srgbClr val="16233F"/>
          </a:solidFill>
          <a:ln/>
        </p:spPr>
      </p:sp>
      <p:pic>
        <p:nvPicPr>
          <p:cNvPr id="7" name="Image 0" descr="/home/claude/manjula/icons/compass_white.png">    </p:cNvPr>
          <p:cNvPicPr>
            <a:picLocks noChangeAspect="1"/>
          </p:cNvPicPr>
          <p:nvPr/>
        </p:nvPicPr>
        <p:blipFill>
          <a:blip r:embed="rId1"/>
          <a:stretch>
            <a:fillRect/>
          </a:stretch>
        </p:blipFill>
        <p:spPr>
          <a:xfrm>
            <a:off x="975665" y="2118665"/>
            <a:ext cx="380390" cy="380390"/>
          </a:xfrm>
          <a:prstGeom prst="rect">
            <a:avLst/>
          </a:prstGeom>
        </p:spPr>
      </p:pic>
      <p:sp>
        <p:nvSpPr>
          <p:cNvPr id="8" name="Text 5"/>
          <p:cNvSpPr/>
          <p:nvPr/>
        </p:nvSpPr>
        <p:spPr>
          <a:xfrm>
            <a:off x="1600200" y="2011680"/>
            <a:ext cx="3931920" cy="594360"/>
          </a:xfrm>
          <a:prstGeom prst="rect">
            <a:avLst/>
          </a:prstGeom>
          <a:noFill/>
          <a:ln/>
        </p:spPr>
        <p:txBody>
          <a:bodyPr wrap="square"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Architectural Design</a:t>
            </a:r>
            <a:endParaRPr lang="en-US" sz="1800" dirty="0"/>
          </a:p>
        </p:txBody>
      </p:sp>
      <p:pic>
        <p:nvPicPr>
          <p:cNvPr id="9" name="Image 1" descr="/home/claude/manjula/icons/check_gold.png">    </p:cNvPr>
          <p:cNvPicPr>
            <a:picLocks noChangeAspect="1"/>
          </p:cNvPicPr>
          <p:nvPr/>
        </p:nvPicPr>
        <p:blipFill>
          <a:blip r:embed="rId2"/>
          <a:stretch>
            <a:fillRect/>
          </a:stretch>
        </p:blipFill>
        <p:spPr>
          <a:xfrm>
            <a:off x="868680" y="2862072"/>
            <a:ext cx="219456" cy="219456"/>
          </a:xfrm>
          <a:prstGeom prst="rect">
            <a:avLst/>
          </a:prstGeom>
        </p:spPr>
      </p:pic>
      <p:sp>
        <p:nvSpPr>
          <p:cNvPr id="10" name="Text 6"/>
          <p:cNvSpPr/>
          <p:nvPr/>
        </p:nvSpPr>
        <p:spPr>
          <a:xfrm>
            <a:off x="1207008" y="283464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Floor plans</a:t>
            </a:r>
            <a:endParaRPr lang="en-US" sz="1350" dirty="0"/>
          </a:p>
        </p:txBody>
      </p:sp>
      <p:pic>
        <p:nvPicPr>
          <p:cNvPr id="11" name="Image 2" descr="/home/claude/manjula/icons/check_gold.png">    </p:cNvPr>
          <p:cNvPicPr>
            <a:picLocks noChangeAspect="1"/>
          </p:cNvPicPr>
          <p:nvPr/>
        </p:nvPicPr>
        <p:blipFill>
          <a:blip r:embed="rId3"/>
          <a:stretch>
            <a:fillRect/>
          </a:stretch>
        </p:blipFill>
        <p:spPr>
          <a:xfrm>
            <a:off x="868680" y="3364992"/>
            <a:ext cx="219456" cy="219456"/>
          </a:xfrm>
          <a:prstGeom prst="rect">
            <a:avLst/>
          </a:prstGeom>
        </p:spPr>
      </p:pic>
      <p:sp>
        <p:nvSpPr>
          <p:cNvPr id="12" name="Text 7"/>
          <p:cNvSpPr/>
          <p:nvPr/>
        </p:nvSpPr>
        <p:spPr>
          <a:xfrm>
            <a:off x="1207008" y="333756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Architectural layouts</a:t>
            </a:r>
            <a:endParaRPr lang="en-US" sz="1350" dirty="0"/>
          </a:p>
        </p:txBody>
      </p:sp>
      <p:pic>
        <p:nvPicPr>
          <p:cNvPr id="13" name="Image 3" descr="/home/claude/manjula/icons/check_gold.png">    </p:cNvPr>
          <p:cNvPicPr>
            <a:picLocks noChangeAspect="1"/>
          </p:cNvPicPr>
          <p:nvPr/>
        </p:nvPicPr>
        <p:blipFill>
          <a:blip r:embed="rId4"/>
          <a:stretch>
            <a:fillRect/>
          </a:stretch>
        </p:blipFill>
        <p:spPr>
          <a:xfrm>
            <a:off x="868680" y="3867912"/>
            <a:ext cx="219456" cy="219456"/>
          </a:xfrm>
          <a:prstGeom prst="rect">
            <a:avLst/>
          </a:prstGeom>
        </p:spPr>
      </p:pic>
      <p:sp>
        <p:nvSpPr>
          <p:cNvPr id="14" name="Text 8"/>
          <p:cNvSpPr/>
          <p:nvPr/>
        </p:nvSpPr>
        <p:spPr>
          <a:xfrm>
            <a:off x="1207008" y="384048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Elevation drawings</a:t>
            </a:r>
            <a:endParaRPr lang="en-US" sz="1350" dirty="0"/>
          </a:p>
        </p:txBody>
      </p:sp>
      <p:pic>
        <p:nvPicPr>
          <p:cNvPr id="15" name="Image 4" descr="/home/claude/manjula/icons/check_gold.png">    </p:cNvPr>
          <p:cNvPicPr>
            <a:picLocks noChangeAspect="1"/>
          </p:cNvPicPr>
          <p:nvPr/>
        </p:nvPicPr>
        <p:blipFill>
          <a:blip r:embed="rId5"/>
          <a:stretch>
            <a:fillRect/>
          </a:stretch>
        </p:blipFill>
        <p:spPr>
          <a:xfrm>
            <a:off x="868680" y="4370832"/>
            <a:ext cx="219456" cy="219456"/>
          </a:xfrm>
          <a:prstGeom prst="rect">
            <a:avLst/>
          </a:prstGeom>
        </p:spPr>
      </p:pic>
      <p:sp>
        <p:nvSpPr>
          <p:cNvPr id="16" name="Text 9"/>
          <p:cNvSpPr/>
          <p:nvPr/>
        </p:nvSpPr>
        <p:spPr>
          <a:xfrm>
            <a:off x="1207008" y="434340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Working drawings</a:t>
            </a:r>
            <a:endParaRPr lang="en-US" sz="1350" dirty="0"/>
          </a:p>
        </p:txBody>
      </p:sp>
      <p:pic>
        <p:nvPicPr>
          <p:cNvPr id="17" name="Image 5" descr="/home/claude/manjula/icons/check_gold.png">    </p:cNvPr>
          <p:cNvPicPr>
            <a:picLocks noChangeAspect="1"/>
          </p:cNvPicPr>
          <p:nvPr/>
        </p:nvPicPr>
        <p:blipFill>
          <a:blip r:embed="rId6"/>
          <a:stretch>
            <a:fillRect/>
          </a:stretch>
        </p:blipFill>
        <p:spPr>
          <a:xfrm>
            <a:off x="868680" y="4873752"/>
            <a:ext cx="219456" cy="219456"/>
          </a:xfrm>
          <a:prstGeom prst="rect">
            <a:avLst/>
          </a:prstGeom>
        </p:spPr>
      </p:pic>
      <p:sp>
        <p:nvSpPr>
          <p:cNvPr id="18" name="Text 10"/>
          <p:cNvSpPr/>
          <p:nvPr/>
        </p:nvSpPr>
        <p:spPr>
          <a:xfrm>
            <a:off x="1207008" y="484632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3D visualization</a:t>
            </a:r>
            <a:endParaRPr lang="en-US" sz="1350" dirty="0"/>
          </a:p>
        </p:txBody>
      </p:sp>
      <p:sp>
        <p:nvSpPr>
          <p:cNvPr id="19" name="Shape 11"/>
          <p:cNvSpPr/>
          <p:nvPr/>
        </p:nvSpPr>
        <p:spPr>
          <a:xfrm>
            <a:off x="6263640" y="1691640"/>
            <a:ext cx="5349240" cy="4434840"/>
          </a:xfrm>
          <a:prstGeom prst="roundRect">
            <a:avLst>
              <a:gd name="adj" fmla="val 1649"/>
            </a:avLst>
          </a:prstGeom>
          <a:solidFill>
            <a:srgbClr val="F4F4F2"/>
          </a:solidFill>
          <a:ln/>
        </p:spPr>
      </p:sp>
      <p:sp>
        <p:nvSpPr>
          <p:cNvPr id="20" name="Shape 12"/>
          <p:cNvSpPr/>
          <p:nvPr/>
        </p:nvSpPr>
        <p:spPr>
          <a:xfrm>
            <a:off x="6583680" y="2011680"/>
            <a:ext cx="594360" cy="594360"/>
          </a:xfrm>
          <a:prstGeom prst="ellipse">
            <a:avLst/>
          </a:prstGeom>
          <a:solidFill>
            <a:srgbClr val="16233F"/>
          </a:solidFill>
          <a:ln/>
        </p:spPr>
      </p:sp>
      <p:pic>
        <p:nvPicPr>
          <p:cNvPr id="21" name="Image 6" descr="/home/claude/manjula/icons/ruler_white.png">    </p:cNvPr>
          <p:cNvPicPr>
            <a:picLocks noChangeAspect="1"/>
          </p:cNvPicPr>
          <p:nvPr/>
        </p:nvPicPr>
        <p:blipFill>
          <a:blip r:embed="rId7"/>
          <a:stretch>
            <a:fillRect/>
          </a:stretch>
        </p:blipFill>
        <p:spPr>
          <a:xfrm>
            <a:off x="6690665" y="2118665"/>
            <a:ext cx="380390" cy="380390"/>
          </a:xfrm>
          <a:prstGeom prst="rect">
            <a:avLst/>
          </a:prstGeom>
        </p:spPr>
      </p:pic>
      <p:sp>
        <p:nvSpPr>
          <p:cNvPr id="22" name="Text 13"/>
          <p:cNvSpPr/>
          <p:nvPr/>
        </p:nvSpPr>
        <p:spPr>
          <a:xfrm>
            <a:off x="7315200" y="2011680"/>
            <a:ext cx="3931920" cy="594360"/>
          </a:xfrm>
          <a:prstGeom prst="rect">
            <a:avLst/>
          </a:prstGeom>
          <a:noFill/>
          <a:ln/>
        </p:spPr>
        <p:txBody>
          <a:bodyPr wrap="square"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Structural Engineering</a:t>
            </a:r>
            <a:endParaRPr lang="en-US" sz="1800" dirty="0"/>
          </a:p>
        </p:txBody>
      </p:sp>
      <p:pic>
        <p:nvPicPr>
          <p:cNvPr id="23" name="Image 7" descr="/home/claude/manjula/icons/check_gold.png">    </p:cNvPr>
          <p:cNvPicPr>
            <a:picLocks noChangeAspect="1"/>
          </p:cNvPicPr>
          <p:nvPr/>
        </p:nvPicPr>
        <p:blipFill>
          <a:blip r:embed="rId8"/>
          <a:stretch>
            <a:fillRect/>
          </a:stretch>
        </p:blipFill>
        <p:spPr>
          <a:xfrm>
            <a:off x="6583680" y="2862072"/>
            <a:ext cx="219456" cy="219456"/>
          </a:xfrm>
          <a:prstGeom prst="rect">
            <a:avLst/>
          </a:prstGeom>
        </p:spPr>
      </p:pic>
      <p:sp>
        <p:nvSpPr>
          <p:cNvPr id="24" name="Text 14"/>
          <p:cNvSpPr/>
          <p:nvPr/>
        </p:nvSpPr>
        <p:spPr>
          <a:xfrm>
            <a:off x="6922008" y="283464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Center line drawings</a:t>
            </a:r>
            <a:endParaRPr lang="en-US" sz="1350" dirty="0"/>
          </a:p>
        </p:txBody>
      </p:sp>
      <p:pic>
        <p:nvPicPr>
          <p:cNvPr id="25" name="Image 8" descr="/home/claude/manjula/icons/check_gold.png">    </p:cNvPr>
          <p:cNvPicPr>
            <a:picLocks noChangeAspect="1"/>
          </p:cNvPicPr>
          <p:nvPr/>
        </p:nvPicPr>
        <p:blipFill>
          <a:blip r:embed="rId9"/>
          <a:stretch>
            <a:fillRect/>
          </a:stretch>
        </p:blipFill>
        <p:spPr>
          <a:xfrm>
            <a:off x="6583680" y="3364992"/>
            <a:ext cx="219456" cy="219456"/>
          </a:xfrm>
          <a:prstGeom prst="rect">
            <a:avLst/>
          </a:prstGeom>
        </p:spPr>
      </p:pic>
      <p:sp>
        <p:nvSpPr>
          <p:cNvPr id="26" name="Text 15"/>
          <p:cNvSpPr/>
          <p:nvPr/>
        </p:nvSpPr>
        <p:spPr>
          <a:xfrm>
            <a:off x="6922008" y="333756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Footing drawings</a:t>
            </a:r>
            <a:endParaRPr lang="en-US" sz="1350" dirty="0"/>
          </a:p>
        </p:txBody>
      </p:sp>
      <p:pic>
        <p:nvPicPr>
          <p:cNvPr id="27" name="Image 9" descr="/home/claude/manjula/icons/check_gold.png">    </p:cNvPr>
          <p:cNvPicPr>
            <a:picLocks noChangeAspect="1"/>
          </p:cNvPicPr>
          <p:nvPr/>
        </p:nvPicPr>
        <p:blipFill>
          <a:blip r:embed="rId10"/>
          <a:stretch>
            <a:fillRect/>
          </a:stretch>
        </p:blipFill>
        <p:spPr>
          <a:xfrm>
            <a:off x="6583680" y="3867912"/>
            <a:ext cx="219456" cy="219456"/>
          </a:xfrm>
          <a:prstGeom prst="rect">
            <a:avLst/>
          </a:prstGeom>
        </p:spPr>
      </p:pic>
      <p:sp>
        <p:nvSpPr>
          <p:cNvPr id="28" name="Text 16"/>
          <p:cNvSpPr/>
          <p:nvPr/>
        </p:nvSpPr>
        <p:spPr>
          <a:xfrm>
            <a:off x="6922008" y="384048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Column drawings</a:t>
            </a:r>
            <a:endParaRPr lang="en-US" sz="1350" dirty="0"/>
          </a:p>
        </p:txBody>
      </p:sp>
      <p:pic>
        <p:nvPicPr>
          <p:cNvPr id="29" name="Image 10" descr="/home/claude/manjula/icons/check_gold.png">    </p:cNvPr>
          <p:cNvPicPr>
            <a:picLocks noChangeAspect="1"/>
          </p:cNvPicPr>
          <p:nvPr/>
        </p:nvPicPr>
        <p:blipFill>
          <a:blip r:embed="rId11"/>
          <a:stretch>
            <a:fillRect/>
          </a:stretch>
        </p:blipFill>
        <p:spPr>
          <a:xfrm>
            <a:off x="6583680" y="4370832"/>
            <a:ext cx="219456" cy="219456"/>
          </a:xfrm>
          <a:prstGeom prst="rect">
            <a:avLst/>
          </a:prstGeom>
        </p:spPr>
      </p:pic>
      <p:sp>
        <p:nvSpPr>
          <p:cNvPr id="30" name="Text 17"/>
          <p:cNvSpPr/>
          <p:nvPr/>
        </p:nvSpPr>
        <p:spPr>
          <a:xfrm>
            <a:off x="6922008" y="434340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Beam drawings</a:t>
            </a:r>
            <a:endParaRPr lang="en-US" sz="1350" dirty="0"/>
          </a:p>
        </p:txBody>
      </p:sp>
      <p:pic>
        <p:nvPicPr>
          <p:cNvPr id="31" name="Image 11" descr="/home/claude/manjula/icons/check_gold.png">    </p:cNvPr>
          <p:cNvPicPr>
            <a:picLocks noChangeAspect="1"/>
          </p:cNvPicPr>
          <p:nvPr/>
        </p:nvPicPr>
        <p:blipFill>
          <a:blip r:embed="rId12"/>
          <a:stretch>
            <a:fillRect/>
          </a:stretch>
        </p:blipFill>
        <p:spPr>
          <a:xfrm>
            <a:off x="6583680" y="4873752"/>
            <a:ext cx="219456" cy="219456"/>
          </a:xfrm>
          <a:prstGeom prst="rect">
            <a:avLst/>
          </a:prstGeom>
        </p:spPr>
      </p:pic>
      <p:sp>
        <p:nvSpPr>
          <p:cNvPr id="32" name="Text 18"/>
          <p:cNvSpPr/>
          <p:nvPr/>
        </p:nvSpPr>
        <p:spPr>
          <a:xfrm>
            <a:off x="6922008" y="484632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Roof slab drawings</a:t>
            </a:r>
            <a:endParaRPr lang="en-US" sz="1350" dirty="0"/>
          </a:p>
        </p:txBody>
      </p:sp>
      <p:pic>
        <p:nvPicPr>
          <p:cNvPr id="33" name="Image 12" descr="/home/claude/manjula/icons/check_gold.png">    </p:cNvPr>
          <p:cNvPicPr>
            <a:picLocks noChangeAspect="1"/>
          </p:cNvPicPr>
          <p:nvPr/>
        </p:nvPicPr>
        <p:blipFill>
          <a:blip r:embed="rId13"/>
          <a:stretch>
            <a:fillRect/>
          </a:stretch>
        </p:blipFill>
        <p:spPr>
          <a:xfrm>
            <a:off x="6583680" y="5376672"/>
            <a:ext cx="219456" cy="219456"/>
          </a:xfrm>
          <a:prstGeom prst="rect">
            <a:avLst/>
          </a:prstGeom>
        </p:spPr>
      </p:pic>
      <p:sp>
        <p:nvSpPr>
          <p:cNvPr id="34" name="Text 19"/>
          <p:cNvSpPr/>
          <p:nvPr/>
        </p:nvSpPr>
        <p:spPr>
          <a:xfrm>
            <a:off x="6922008" y="5349240"/>
            <a:ext cx="4206240" cy="384048"/>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Plumbing &amp; electrical drawings</a:t>
            </a:r>
            <a:endParaRPr lang="en-US" sz="1350" dirty="0"/>
          </a:p>
        </p:txBody>
      </p:sp>
      <p:sp>
        <p:nvSpPr>
          <p:cNvPr id="35" name="Text 20"/>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36"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09</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AEB9D6"/>
                </a:solidFill>
                <a:latin typeface="Calibri" pitchFamily="34" charset="0"/>
                <a:ea typeface="Calibri" pitchFamily="34" charset="-122"/>
                <a:cs typeface="Calibri" pitchFamily="34" charset="-120"/>
              </a:rPr>
              <a:t>CONSTRUCTION SERVICES</a:t>
            </a:r>
            <a:endParaRPr lang="en-US" sz="1200" dirty="0"/>
          </a:p>
        </p:txBody>
      </p:sp>
      <p:sp>
        <p:nvSpPr>
          <p:cNvPr id="4" name="Text 2"/>
          <p:cNvSpPr/>
          <p:nvPr/>
        </p:nvSpPr>
        <p:spPr>
          <a:xfrm>
            <a:off x="548640" y="9144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Built to Last, Start to Finish</a:t>
            </a:r>
            <a:endParaRPr lang="en-US" sz="2600" dirty="0"/>
          </a:p>
        </p:txBody>
      </p:sp>
      <p:sp>
        <p:nvSpPr>
          <p:cNvPr id="5" name="Shape 3"/>
          <p:cNvSpPr/>
          <p:nvPr/>
        </p:nvSpPr>
        <p:spPr>
          <a:xfrm>
            <a:off x="548640" y="1965960"/>
            <a:ext cx="3520440" cy="3657600"/>
          </a:xfrm>
          <a:prstGeom prst="roundRect">
            <a:avLst>
              <a:gd name="adj" fmla="val 2338"/>
            </a:avLst>
          </a:prstGeom>
          <a:solidFill>
            <a:srgbClr val="FFFFFF"/>
          </a:solidFill>
          <a:ln/>
        </p:spPr>
      </p:sp>
      <p:sp>
        <p:nvSpPr>
          <p:cNvPr id="6" name="Shape 4"/>
          <p:cNvSpPr/>
          <p:nvPr/>
        </p:nvSpPr>
        <p:spPr>
          <a:xfrm>
            <a:off x="914400" y="2331720"/>
            <a:ext cx="685800" cy="685800"/>
          </a:xfrm>
          <a:prstGeom prst="ellipse">
            <a:avLst/>
          </a:prstGeom>
          <a:solidFill>
            <a:srgbClr val="C89B3C"/>
          </a:solidFill>
          <a:ln/>
        </p:spPr>
      </p:sp>
      <p:pic>
        <p:nvPicPr>
          <p:cNvPr id="7" name="Image 0" descr="/home/claude/manjula/icons/hardhat_white.png">    </p:cNvPr>
          <p:cNvPicPr>
            <a:picLocks noChangeAspect="1"/>
          </p:cNvPicPr>
          <p:nvPr/>
        </p:nvPicPr>
        <p:blipFill>
          <a:blip r:embed="rId1"/>
          <a:stretch>
            <a:fillRect/>
          </a:stretch>
        </p:blipFill>
        <p:spPr>
          <a:xfrm>
            <a:off x="1037844" y="2455164"/>
            <a:ext cx="438912" cy="438912"/>
          </a:xfrm>
          <a:prstGeom prst="rect">
            <a:avLst/>
          </a:prstGeom>
        </p:spPr>
      </p:pic>
      <p:sp>
        <p:nvSpPr>
          <p:cNvPr id="8" name="Text 5"/>
          <p:cNvSpPr/>
          <p:nvPr/>
        </p:nvSpPr>
        <p:spPr>
          <a:xfrm>
            <a:off x="914400" y="3200400"/>
            <a:ext cx="2788920" cy="457200"/>
          </a:xfrm>
          <a:prstGeom prst="rect">
            <a:avLst/>
          </a:prstGeom>
          <a:noFill/>
          <a:ln/>
        </p:spPr>
        <p:txBody>
          <a:bodyPr wrap="square"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Foundation Work</a:t>
            </a:r>
            <a:endParaRPr lang="en-US" sz="1800" dirty="0"/>
          </a:p>
        </p:txBody>
      </p:sp>
      <p:sp>
        <p:nvSpPr>
          <p:cNvPr id="9" name="Shape 6"/>
          <p:cNvSpPr/>
          <p:nvPr/>
        </p:nvSpPr>
        <p:spPr>
          <a:xfrm>
            <a:off x="932688" y="3895344"/>
            <a:ext cx="73152" cy="73152"/>
          </a:xfrm>
          <a:prstGeom prst="ellipse">
            <a:avLst/>
          </a:prstGeom>
          <a:solidFill>
            <a:srgbClr val="C89B3C"/>
          </a:solidFill>
          <a:ln/>
        </p:spPr>
      </p:sp>
      <p:sp>
        <p:nvSpPr>
          <p:cNvPr id="10" name="Text 7"/>
          <p:cNvSpPr/>
          <p:nvPr/>
        </p:nvSpPr>
        <p:spPr>
          <a:xfrm>
            <a:off x="1115568" y="37947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Excavation</a:t>
            </a:r>
            <a:endParaRPr lang="en-US" sz="1300" dirty="0"/>
          </a:p>
        </p:txBody>
      </p:sp>
      <p:sp>
        <p:nvSpPr>
          <p:cNvPr id="11" name="Shape 8"/>
          <p:cNvSpPr/>
          <p:nvPr/>
        </p:nvSpPr>
        <p:spPr>
          <a:xfrm>
            <a:off x="932688" y="4352544"/>
            <a:ext cx="73152" cy="73152"/>
          </a:xfrm>
          <a:prstGeom prst="ellipse">
            <a:avLst/>
          </a:prstGeom>
          <a:solidFill>
            <a:srgbClr val="C89B3C"/>
          </a:solidFill>
          <a:ln/>
        </p:spPr>
      </p:sp>
      <p:sp>
        <p:nvSpPr>
          <p:cNvPr id="12" name="Text 9"/>
          <p:cNvSpPr/>
          <p:nvPr/>
        </p:nvSpPr>
        <p:spPr>
          <a:xfrm>
            <a:off x="1115568" y="42519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Footings</a:t>
            </a:r>
            <a:endParaRPr lang="en-US" sz="1300" dirty="0"/>
          </a:p>
        </p:txBody>
      </p:sp>
      <p:sp>
        <p:nvSpPr>
          <p:cNvPr id="13" name="Shape 10"/>
          <p:cNvSpPr/>
          <p:nvPr/>
        </p:nvSpPr>
        <p:spPr>
          <a:xfrm>
            <a:off x="932688" y="4809744"/>
            <a:ext cx="73152" cy="73152"/>
          </a:xfrm>
          <a:prstGeom prst="ellipse">
            <a:avLst/>
          </a:prstGeom>
          <a:solidFill>
            <a:srgbClr val="C89B3C"/>
          </a:solidFill>
          <a:ln/>
        </p:spPr>
      </p:sp>
      <p:sp>
        <p:nvSpPr>
          <p:cNvPr id="14" name="Text 11"/>
          <p:cNvSpPr/>
          <p:nvPr/>
        </p:nvSpPr>
        <p:spPr>
          <a:xfrm>
            <a:off x="1115568" y="47091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RCC work</a:t>
            </a:r>
            <a:endParaRPr lang="en-US" sz="1300" dirty="0"/>
          </a:p>
        </p:txBody>
      </p:sp>
      <p:sp>
        <p:nvSpPr>
          <p:cNvPr id="15" name="Shape 12"/>
          <p:cNvSpPr/>
          <p:nvPr/>
        </p:nvSpPr>
        <p:spPr>
          <a:xfrm>
            <a:off x="4343400" y="1965960"/>
            <a:ext cx="3520440" cy="3657600"/>
          </a:xfrm>
          <a:prstGeom prst="roundRect">
            <a:avLst>
              <a:gd name="adj" fmla="val 2338"/>
            </a:avLst>
          </a:prstGeom>
          <a:solidFill>
            <a:srgbClr val="FFFFFF"/>
          </a:solidFill>
          <a:ln/>
        </p:spPr>
      </p:sp>
      <p:sp>
        <p:nvSpPr>
          <p:cNvPr id="16" name="Shape 13"/>
          <p:cNvSpPr/>
          <p:nvPr/>
        </p:nvSpPr>
        <p:spPr>
          <a:xfrm>
            <a:off x="4709160" y="2331720"/>
            <a:ext cx="685800" cy="685800"/>
          </a:xfrm>
          <a:prstGeom prst="ellipse">
            <a:avLst/>
          </a:prstGeom>
          <a:solidFill>
            <a:srgbClr val="C89B3C"/>
          </a:solidFill>
          <a:ln/>
        </p:spPr>
      </p:sp>
      <p:pic>
        <p:nvPicPr>
          <p:cNvPr id="17" name="Image 1" descr="/home/claude/manjula/icons/layer_white.png">    </p:cNvPr>
          <p:cNvPicPr>
            <a:picLocks noChangeAspect="1"/>
          </p:cNvPicPr>
          <p:nvPr/>
        </p:nvPicPr>
        <p:blipFill>
          <a:blip r:embed="rId2"/>
          <a:stretch>
            <a:fillRect/>
          </a:stretch>
        </p:blipFill>
        <p:spPr>
          <a:xfrm>
            <a:off x="4832604" y="2455164"/>
            <a:ext cx="438912" cy="438912"/>
          </a:xfrm>
          <a:prstGeom prst="rect">
            <a:avLst/>
          </a:prstGeom>
        </p:spPr>
      </p:pic>
      <p:sp>
        <p:nvSpPr>
          <p:cNvPr id="18" name="Text 14"/>
          <p:cNvSpPr/>
          <p:nvPr/>
        </p:nvSpPr>
        <p:spPr>
          <a:xfrm>
            <a:off x="4709160" y="3200400"/>
            <a:ext cx="2788920" cy="457200"/>
          </a:xfrm>
          <a:prstGeom prst="rect">
            <a:avLst/>
          </a:prstGeom>
          <a:noFill/>
          <a:ln/>
        </p:spPr>
        <p:txBody>
          <a:bodyPr wrap="square"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Structural Work</a:t>
            </a:r>
            <a:endParaRPr lang="en-US" sz="1800" dirty="0"/>
          </a:p>
        </p:txBody>
      </p:sp>
      <p:sp>
        <p:nvSpPr>
          <p:cNvPr id="19" name="Shape 15"/>
          <p:cNvSpPr/>
          <p:nvPr/>
        </p:nvSpPr>
        <p:spPr>
          <a:xfrm>
            <a:off x="4727448" y="3895344"/>
            <a:ext cx="73152" cy="73152"/>
          </a:xfrm>
          <a:prstGeom prst="ellipse">
            <a:avLst/>
          </a:prstGeom>
          <a:solidFill>
            <a:srgbClr val="C89B3C"/>
          </a:solidFill>
          <a:ln/>
        </p:spPr>
      </p:sp>
      <p:sp>
        <p:nvSpPr>
          <p:cNvPr id="20" name="Text 16"/>
          <p:cNvSpPr/>
          <p:nvPr/>
        </p:nvSpPr>
        <p:spPr>
          <a:xfrm>
            <a:off x="4910328" y="37947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Columns</a:t>
            </a:r>
            <a:endParaRPr lang="en-US" sz="1300" dirty="0"/>
          </a:p>
        </p:txBody>
      </p:sp>
      <p:sp>
        <p:nvSpPr>
          <p:cNvPr id="21" name="Shape 17"/>
          <p:cNvSpPr/>
          <p:nvPr/>
        </p:nvSpPr>
        <p:spPr>
          <a:xfrm>
            <a:off x="4727448" y="4352544"/>
            <a:ext cx="73152" cy="73152"/>
          </a:xfrm>
          <a:prstGeom prst="ellipse">
            <a:avLst/>
          </a:prstGeom>
          <a:solidFill>
            <a:srgbClr val="C89B3C"/>
          </a:solidFill>
          <a:ln/>
        </p:spPr>
      </p:sp>
      <p:sp>
        <p:nvSpPr>
          <p:cNvPr id="22" name="Text 18"/>
          <p:cNvSpPr/>
          <p:nvPr/>
        </p:nvSpPr>
        <p:spPr>
          <a:xfrm>
            <a:off x="4910328" y="42519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Beams</a:t>
            </a:r>
            <a:endParaRPr lang="en-US" sz="1300" dirty="0"/>
          </a:p>
        </p:txBody>
      </p:sp>
      <p:sp>
        <p:nvSpPr>
          <p:cNvPr id="23" name="Shape 19"/>
          <p:cNvSpPr/>
          <p:nvPr/>
        </p:nvSpPr>
        <p:spPr>
          <a:xfrm>
            <a:off x="4727448" y="4809744"/>
            <a:ext cx="73152" cy="73152"/>
          </a:xfrm>
          <a:prstGeom prst="ellipse">
            <a:avLst/>
          </a:prstGeom>
          <a:solidFill>
            <a:srgbClr val="C89B3C"/>
          </a:solidFill>
          <a:ln/>
        </p:spPr>
      </p:sp>
      <p:sp>
        <p:nvSpPr>
          <p:cNvPr id="24" name="Text 20"/>
          <p:cNvSpPr/>
          <p:nvPr/>
        </p:nvSpPr>
        <p:spPr>
          <a:xfrm>
            <a:off x="4910328" y="47091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Roof slabs</a:t>
            </a:r>
            <a:endParaRPr lang="en-US" sz="1300" dirty="0"/>
          </a:p>
        </p:txBody>
      </p:sp>
      <p:sp>
        <p:nvSpPr>
          <p:cNvPr id="25" name="Shape 21"/>
          <p:cNvSpPr/>
          <p:nvPr/>
        </p:nvSpPr>
        <p:spPr>
          <a:xfrm>
            <a:off x="8138160" y="1965960"/>
            <a:ext cx="3520440" cy="3657600"/>
          </a:xfrm>
          <a:prstGeom prst="roundRect">
            <a:avLst>
              <a:gd name="adj" fmla="val 2338"/>
            </a:avLst>
          </a:prstGeom>
          <a:solidFill>
            <a:srgbClr val="FFFFFF"/>
          </a:solidFill>
          <a:ln/>
        </p:spPr>
      </p:sp>
      <p:sp>
        <p:nvSpPr>
          <p:cNvPr id="26" name="Shape 22"/>
          <p:cNvSpPr/>
          <p:nvPr/>
        </p:nvSpPr>
        <p:spPr>
          <a:xfrm>
            <a:off x="8503920" y="2331720"/>
            <a:ext cx="685800" cy="685800"/>
          </a:xfrm>
          <a:prstGeom prst="ellipse">
            <a:avLst/>
          </a:prstGeom>
          <a:solidFill>
            <a:srgbClr val="C89B3C"/>
          </a:solidFill>
          <a:ln/>
        </p:spPr>
      </p:sp>
      <p:pic>
        <p:nvPicPr>
          <p:cNvPr id="27" name="Image 2" descr="/home/claude/manjula/icons/cube_white.png">    </p:cNvPr>
          <p:cNvPicPr>
            <a:picLocks noChangeAspect="1"/>
          </p:cNvPicPr>
          <p:nvPr/>
        </p:nvPicPr>
        <p:blipFill>
          <a:blip r:embed="rId3"/>
          <a:stretch>
            <a:fillRect/>
          </a:stretch>
        </p:blipFill>
        <p:spPr>
          <a:xfrm>
            <a:off x="8627364" y="2455164"/>
            <a:ext cx="438912" cy="438912"/>
          </a:xfrm>
          <a:prstGeom prst="rect">
            <a:avLst/>
          </a:prstGeom>
        </p:spPr>
      </p:pic>
      <p:sp>
        <p:nvSpPr>
          <p:cNvPr id="28" name="Text 23"/>
          <p:cNvSpPr/>
          <p:nvPr/>
        </p:nvSpPr>
        <p:spPr>
          <a:xfrm>
            <a:off x="8503920" y="3200400"/>
            <a:ext cx="2788920" cy="457200"/>
          </a:xfrm>
          <a:prstGeom prst="rect">
            <a:avLst/>
          </a:prstGeom>
          <a:noFill/>
          <a:ln/>
        </p:spPr>
        <p:txBody>
          <a:bodyPr wrap="square"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Masonry Work</a:t>
            </a:r>
            <a:endParaRPr lang="en-US" sz="1800" dirty="0"/>
          </a:p>
        </p:txBody>
      </p:sp>
      <p:sp>
        <p:nvSpPr>
          <p:cNvPr id="29" name="Shape 24"/>
          <p:cNvSpPr/>
          <p:nvPr/>
        </p:nvSpPr>
        <p:spPr>
          <a:xfrm>
            <a:off x="8522208" y="3895344"/>
            <a:ext cx="73152" cy="73152"/>
          </a:xfrm>
          <a:prstGeom prst="ellipse">
            <a:avLst/>
          </a:prstGeom>
          <a:solidFill>
            <a:srgbClr val="C89B3C"/>
          </a:solidFill>
          <a:ln/>
        </p:spPr>
      </p:sp>
      <p:sp>
        <p:nvSpPr>
          <p:cNvPr id="30" name="Text 25"/>
          <p:cNvSpPr/>
          <p:nvPr/>
        </p:nvSpPr>
        <p:spPr>
          <a:xfrm>
            <a:off x="8705088" y="37947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Brickwork</a:t>
            </a:r>
            <a:endParaRPr lang="en-US" sz="1300" dirty="0"/>
          </a:p>
        </p:txBody>
      </p:sp>
      <p:sp>
        <p:nvSpPr>
          <p:cNvPr id="31" name="Shape 26"/>
          <p:cNvSpPr/>
          <p:nvPr/>
        </p:nvSpPr>
        <p:spPr>
          <a:xfrm>
            <a:off x="8522208" y="4352544"/>
            <a:ext cx="73152" cy="73152"/>
          </a:xfrm>
          <a:prstGeom prst="ellipse">
            <a:avLst/>
          </a:prstGeom>
          <a:solidFill>
            <a:srgbClr val="C89B3C"/>
          </a:solidFill>
          <a:ln/>
        </p:spPr>
      </p:sp>
      <p:sp>
        <p:nvSpPr>
          <p:cNvPr id="32" name="Text 27"/>
          <p:cNvSpPr/>
          <p:nvPr/>
        </p:nvSpPr>
        <p:spPr>
          <a:xfrm>
            <a:off x="8705088" y="4251960"/>
            <a:ext cx="2606040" cy="32004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Wall construction</a:t>
            </a:r>
            <a:endParaRPr lang="en-US" sz="1300" dirty="0"/>
          </a:p>
        </p:txBody>
      </p:sp>
      <p:sp>
        <p:nvSpPr>
          <p:cNvPr id="33" name="Text 28"/>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9BA6C4"/>
                </a:solidFill>
                <a:latin typeface="Calibri" pitchFamily="34" charset="0"/>
                <a:ea typeface="Calibri" pitchFamily="34" charset="-122"/>
                <a:cs typeface="Calibri" pitchFamily="34" charset="-120"/>
              </a:rPr>
              <a:t>MANJULA CONSTRUCTION</a:t>
            </a:r>
            <a:endParaRPr lang="en-US" sz="900" dirty="0"/>
          </a:p>
        </p:txBody>
      </p:sp>
      <p:sp>
        <p:nvSpPr>
          <p:cNvPr id="34" name="Text 2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BA6C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10</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PACKAGE COMPARISON</a:t>
            </a:r>
            <a:endParaRPr lang="en-US" sz="1200" dirty="0"/>
          </a:p>
        </p:txBody>
      </p:sp>
      <p:sp>
        <p:nvSpPr>
          <p:cNvPr id="4" name="Text 2"/>
          <p:cNvSpPr/>
          <p:nvPr/>
        </p:nvSpPr>
        <p:spPr>
          <a:xfrm>
            <a:off x="548640" y="914400"/>
            <a:ext cx="9601200" cy="548640"/>
          </a:xfrm>
          <a:prstGeom prst="rect">
            <a:avLst/>
          </a:prstGeom>
          <a:noFill/>
          <a:ln/>
        </p:spPr>
        <p:txBody>
          <a:bodyPr wrap="square" rtlCol="0" anchor="ctr"/>
          <a:lstStyle/>
          <a:p>
            <a:pPr indent="0" marL="0">
              <a:buNone/>
            </a:pPr>
            <a:r>
              <a:rPr lang="en-US" sz="2400" b="1" dirty="0">
                <a:solidFill>
                  <a:srgbClr val="16233F"/>
                </a:solidFill>
                <a:latin typeface="Cambria" pitchFamily="34" charset="0"/>
                <a:ea typeface="Cambria" pitchFamily="34" charset="-122"/>
                <a:cs typeface="Cambria" pitchFamily="34" charset="-120"/>
              </a:rPr>
              <a:t>Choose the Plan That Fits Your Vision</a:t>
            </a:r>
            <a:endParaRPr lang="en-US" sz="2400" dirty="0"/>
          </a:p>
        </p:txBody>
      </p:sp>
      <p:sp>
        <p:nvSpPr>
          <p:cNvPr id="5" name="Shape 3"/>
          <p:cNvSpPr/>
          <p:nvPr/>
        </p:nvSpPr>
        <p:spPr>
          <a:xfrm>
            <a:off x="548640" y="1828800"/>
            <a:ext cx="3520440" cy="3931920"/>
          </a:xfrm>
          <a:prstGeom prst="roundRect">
            <a:avLst>
              <a:gd name="adj" fmla="val 2338"/>
            </a:avLst>
          </a:prstGeom>
          <a:solidFill>
            <a:srgbClr val="F4F4F2"/>
          </a:solidFill>
          <a:ln/>
        </p:spPr>
      </p:sp>
      <p:sp>
        <p:nvSpPr>
          <p:cNvPr id="6" name="Text 4"/>
          <p:cNvSpPr/>
          <p:nvPr/>
        </p:nvSpPr>
        <p:spPr>
          <a:xfrm>
            <a:off x="548640" y="2194560"/>
            <a:ext cx="3520440" cy="457200"/>
          </a:xfrm>
          <a:prstGeom prst="rect">
            <a:avLst/>
          </a:prstGeom>
          <a:noFill/>
          <a:ln/>
        </p:spPr>
        <p:txBody>
          <a:bodyPr wrap="square" rtlCol="0" anchor="ctr"/>
          <a:lstStyle/>
          <a:p>
            <a:pPr algn="ctr" indent="0" marL="0">
              <a:buNone/>
            </a:pPr>
            <a:r>
              <a:rPr lang="en-US" sz="1900" b="1" dirty="0">
                <a:solidFill>
                  <a:srgbClr val="16233F"/>
                </a:solidFill>
                <a:latin typeface="Cambria" pitchFamily="34" charset="0"/>
                <a:ea typeface="Cambria" pitchFamily="34" charset="-122"/>
                <a:cs typeface="Cambria" pitchFamily="34" charset="-120"/>
              </a:rPr>
              <a:t>Standard Plan</a:t>
            </a:r>
            <a:endParaRPr lang="en-US" sz="1900" dirty="0"/>
          </a:p>
        </p:txBody>
      </p:sp>
      <p:sp>
        <p:nvSpPr>
          <p:cNvPr id="7" name="Text 5"/>
          <p:cNvSpPr/>
          <p:nvPr/>
        </p:nvSpPr>
        <p:spPr>
          <a:xfrm>
            <a:off x="822960" y="2651760"/>
            <a:ext cx="2971800" cy="457200"/>
          </a:xfrm>
          <a:prstGeom prst="rect">
            <a:avLst/>
          </a:prstGeom>
          <a:noFill/>
          <a:ln/>
        </p:spPr>
        <p:txBody>
          <a:bodyPr wrap="square" rtlCol="0" anchor="ctr"/>
          <a:lstStyle/>
          <a:p>
            <a:pPr algn="ctr" indent="0" marL="0">
              <a:buNone/>
            </a:pPr>
            <a:r>
              <a:rPr lang="en-US" sz="1100" dirty="0">
                <a:solidFill>
                  <a:srgbClr val="6E6E72"/>
                </a:solidFill>
                <a:latin typeface="Calibri" pitchFamily="34" charset="0"/>
                <a:ea typeface="Calibri" pitchFamily="34" charset="-122"/>
                <a:cs typeface="Calibri" pitchFamily="34" charset="-120"/>
              </a:rPr>
              <a:t>Essential quality construction</a:t>
            </a:r>
            <a:endParaRPr lang="en-US" sz="1100" dirty="0"/>
          </a:p>
        </p:txBody>
      </p:sp>
      <p:sp>
        <p:nvSpPr>
          <p:cNvPr id="8" name="Text 6"/>
          <p:cNvSpPr/>
          <p:nvPr/>
        </p:nvSpPr>
        <p:spPr>
          <a:xfrm>
            <a:off x="548640" y="3200400"/>
            <a:ext cx="3520440" cy="640080"/>
          </a:xfrm>
          <a:prstGeom prst="rect">
            <a:avLst/>
          </a:prstGeom>
          <a:noFill/>
          <a:ln/>
        </p:spPr>
        <p:txBody>
          <a:bodyPr wrap="square" rtlCol="0" anchor="ctr"/>
          <a:lstStyle/>
          <a:p>
            <a:pPr algn="ctr" indent="0" marL="0">
              <a:buNone/>
            </a:pPr>
            <a:r>
              <a:rPr lang="en-US" sz="3400" b="1" dirty="0">
                <a:solidFill>
                  <a:srgbClr val="16233F"/>
                </a:solidFill>
                <a:latin typeface="Cambria" pitchFamily="34" charset="0"/>
                <a:ea typeface="Cambria" pitchFamily="34" charset="-122"/>
                <a:cs typeface="Cambria" pitchFamily="34" charset="-120"/>
              </a:rPr>
              <a:t>₹2,299</a:t>
            </a:r>
            <a:pPr algn="ctr" indent="0" marL="0">
              <a:buNone/>
            </a:pPr>
            <a:r>
              <a:rPr lang="en-US" sz="1300" dirty="0">
                <a:solidFill>
                  <a:srgbClr val="6E6E72"/>
                </a:solidFill>
                <a:latin typeface="Calibri" pitchFamily="34" charset="0"/>
                <a:ea typeface="Calibri" pitchFamily="34" charset="-122"/>
                <a:cs typeface="Calibri" pitchFamily="34" charset="-120"/>
              </a:rPr>
              <a:t> /Sq.Ft.</a:t>
            </a:r>
            <a:endParaRPr lang="en-US" sz="3400" dirty="0"/>
          </a:p>
        </p:txBody>
      </p:sp>
      <p:sp>
        <p:nvSpPr>
          <p:cNvPr id="9" name="Shape 7"/>
          <p:cNvSpPr/>
          <p:nvPr/>
        </p:nvSpPr>
        <p:spPr>
          <a:xfrm>
            <a:off x="1005840" y="3977640"/>
            <a:ext cx="2606040" cy="0"/>
          </a:xfrm>
          <a:prstGeom prst="line">
            <a:avLst/>
          </a:prstGeom>
          <a:noFill/>
          <a:ln w="12700">
            <a:solidFill>
              <a:srgbClr val="E1E1DE"/>
            </a:solidFill>
            <a:prstDash val="solid"/>
          </a:ln>
        </p:spPr>
      </p:sp>
      <p:sp>
        <p:nvSpPr>
          <p:cNvPr id="10" name="Shape 8"/>
          <p:cNvSpPr/>
          <p:nvPr/>
        </p:nvSpPr>
        <p:spPr>
          <a:xfrm>
            <a:off x="1988820" y="4206240"/>
            <a:ext cx="640080" cy="640080"/>
          </a:xfrm>
          <a:prstGeom prst="ellipse">
            <a:avLst/>
          </a:prstGeom>
          <a:solidFill>
            <a:srgbClr val="C89B3C"/>
          </a:solidFill>
          <a:ln/>
        </p:spPr>
      </p:sp>
      <p:pic>
        <p:nvPicPr>
          <p:cNvPr id="11" name="Image 0" descr="/home/claude/manjula/icons/hardhat_white.png">    </p:cNvPr>
          <p:cNvPicPr>
            <a:picLocks noChangeAspect="1"/>
          </p:cNvPicPr>
          <p:nvPr/>
        </p:nvPicPr>
        <p:blipFill>
          <a:blip r:embed="rId1"/>
          <a:stretch>
            <a:fillRect/>
          </a:stretch>
        </p:blipFill>
        <p:spPr>
          <a:xfrm>
            <a:off x="2104034" y="4321454"/>
            <a:ext cx="409651" cy="409651"/>
          </a:xfrm>
          <a:prstGeom prst="rect">
            <a:avLst/>
          </a:prstGeom>
        </p:spPr>
      </p:pic>
      <p:sp>
        <p:nvSpPr>
          <p:cNvPr id="12" name="Shape 9"/>
          <p:cNvSpPr/>
          <p:nvPr/>
        </p:nvSpPr>
        <p:spPr>
          <a:xfrm>
            <a:off x="4343400" y="1828800"/>
            <a:ext cx="3520440" cy="4251960"/>
          </a:xfrm>
          <a:prstGeom prst="roundRect">
            <a:avLst>
              <a:gd name="adj" fmla="val 2338"/>
            </a:avLst>
          </a:prstGeom>
          <a:solidFill>
            <a:srgbClr val="16233F"/>
          </a:solidFill>
          <a:ln/>
        </p:spPr>
      </p:sp>
      <p:sp>
        <p:nvSpPr>
          <p:cNvPr id="13" name="Text 10"/>
          <p:cNvSpPr/>
          <p:nvPr/>
        </p:nvSpPr>
        <p:spPr>
          <a:xfrm>
            <a:off x="4343400" y="1943100"/>
            <a:ext cx="3520440" cy="274320"/>
          </a:xfrm>
          <a:prstGeom prst="rect">
            <a:avLst/>
          </a:prstGeom>
          <a:noFill/>
          <a:ln/>
        </p:spPr>
        <p:txBody>
          <a:bodyPr wrap="square" rtlCol="0" anchor="ctr"/>
          <a:lstStyle/>
          <a:p>
            <a:pPr algn="ctr" indent="0" marL="0">
              <a:buNone/>
            </a:pPr>
            <a:r>
              <a:rPr lang="en-US" sz="1000" b="1" spc="200" kern="0" dirty="0">
                <a:solidFill>
                  <a:srgbClr val="C89B3C"/>
                </a:solidFill>
                <a:latin typeface="Calibri" pitchFamily="34" charset="0"/>
                <a:ea typeface="Calibri" pitchFamily="34" charset="-122"/>
                <a:cs typeface="Calibri" pitchFamily="34" charset="-120"/>
              </a:rPr>
              <a:t>MOST POPULAR</a:t>
            </a:r>
            <a:endParaRPr lang="en-US" sz="1000" dirty="0"/>
          </a:p>
        </p:txBody>
      </p:sp>
      <p:sp>
        <p:nvSpPr>
          <p:cNvPr id="14" name="Text 11"/>
          <p:cNvSpPr/>
          <p:nvPr/>
        </p:nvSpPr>
        <p:spPr>
          <a:xfrm>
            <a:off x="4343400" y="2263140"/>
            <a:ext cx="3520440" cy="45720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Premium Plan</a:t>
            </a:r>
            <a:endParaRPr lang="en-US" sz="1900" dirty="0"/>
          </a:p>
        </p:txBody>
      </p:sp>
      <p:sp>
        <p:nvSpPr>
          <p:cNvPr id="15" name="Text 12"/>
          <p:cNvSpPr/>
          <p:nvPr/>
        </p:nvSpPr>
        <p:spPr>
          <a:xfrm>
            <a:off x="4617720" y="2720340"/>
            <a:ext cx="2971800" cy="457200"/>
          </a:xfrm>
          <a:prstGeom prst="rect">
            <a:avLst/>
          </a:prstGeom>
          <a:noFill/>
          <a:ln/>
        </p:spPr>
        <p:txBody>
          <a:bodyPr wrap="square" rtlCol="0" anchor="ctr"/>
          <a:lstStyle/>
          <a:p>
            <a:pPr algn="ctr" indent="0" marL="0">
              <a:buNone/>
            </a:pPr>
            <a:r>
              <a:rPr lang="en-US" sz="1100" dirty="0">
                <a:solidFill>
                  <a:srgbClr val="AEB9D6"/>
                </a:solidFill>
                <a:latin typeface="Calibri" pitchFamily="34" charset="0"/>
                <a:ea typeface="Calibri" pitchFamily="34" charset="-122"/>
                <a:cs typeface="Calibri" pitchFamily="34" charset="-120"/>
              </a:rPr>
              <a:t>Upgraded finishes &amp; fittings</a:t>
            </a:r>
            <a:endParaRPr lang="en-US" sz="1100" dirty="0"/>
          </a:p>
        </p:txBody>
      </p:sp>
      <p:sp>
        <p:nvSpPr>
          <p:cNvPr id="16" name="Text 13"/>
          <p:cNvSpPr/>
          <p:nvPr/>
        </p:nvSpPr>
        <p:spPr>
          <a:xfrm>
            <a:off x="4343400" y="3268980"/>
            <a:ext cx="3520440" cy="64008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₹2,399</a:t>
            </a:r>
            <a:pPr algn="ctr" indent="0" marL="0">
              <a:buNone/>
            </a:pPr>
            <a:r>
              <a:rPr lang="en-US" sz="1300" dirty="0">
                <a:solidFill>
                  <a:srgbClr val="AEB9D6"/>
                </a:solidFill>
                <a:latin typeface="Calibri" pitchFamily="34" charset="0"/>
                <a:ea typeface="Calibri" pitchFamily="34" charset="-122"/>
                <a:cs typeface="Calibri" pitchFamily="34" charset="-120"/>
              </a:rPr>
              <a:t> /Sq.Ft.</a:t>
            </a:r>
            <a:endParaRPr lang="en-US" sz="3400" dirty="0"/>
          </a:p>
        </p:txBody>
      </p:sp>
      <p:sp>
        <p:nvSpPr>
          <p:cNvPr id="17" name="Shape 14"/>
          <p:cNvSpPr/>
          <p:nvPr/>
        </p:nvSpPr>
        <p:spPr>
          <a:xfrm>
            <a:off x="4800600" y="4046220"/>
            <a:ext cx="2606040" cy="0"/>
          </a:xfrm>
          <a:prstGeom prst="line">
            <a:avLst/>
          </a:prstGeom>
          <a:noFill/>
          <a:ln w="12700">
            <a:solidFill>
              <a:srgbClr val="324577"/>
            </a:solidFill>
            <a:prstDash val="solid"/>
          </a:ln>
        </p:spPr>
      </p:sp>
      <p:sp>
        <p:nvSpPr>
          <p:cNvPr id="18" name="Shape 15"/>
          <p:cNvSpPr/>
          <p:nvPr/>
        </p:nvSpPr>
        <p:spPr>
          <a:xfrm>
            <a:off x="5783580" y="4274820"/>
            <a:ext cx="640080" cy="640080"/>
          </a:xfrm>
          <a:prstGeom prst="ellipse">
            <a:avLst/>
          </a:prstGeom>
          <a:solidFill>
            <a:srgbClr val="C89B3C"/>
          </a:solidFill>
          <a:ln/>
        </p:spPr>
      </p:sp>
      <p:pic>
        <p:nvPicPr>
          <p:cNvPr id="19" name="Image 1" descr="/home/claude/manjula/icons/gem_navy.png">    </p:cNvPr>
          <p:cNvPicPr>
            <a:picLocks noChangeAspect="1"/>
          </p:cNvPicPr>
          <p:nvPr/>
        </p:nvPicPr>
        <p:blipFill>
          <a:blip r:embed="rId2"/>
          <a:stretch>
            <a:fillRect/>
          </a:stretch>
        </p:blipFill>
        <p:spPr>
          <a:xfrm>
            <a:off x="5898794" y="4390034"/>
            <a:ext cx="409651" cy="409651"/>
          </a:xfrm>
          <a:prstGeom prst="rect">
            <a:avLst/>
          </a:prstGeom>
        </p:spPr>
      </p:pic>
      <p:sp>
        <p:nvSpPr>
          <p:cNvPr id="20" name="Shape 16"/>
          <p:cNvSpPr/>
          <p:nvPr/>
        </p:nvSpPr>
        <p:spPr>
          <a:xfrm>
            <a:off x="8138160" y="1828800"/>
            <a:ext cx="3520440" cy="3931920"/>
          </a:xfrm>
          <a:prstGeom prst="roundRect">
            <a:avLst>
              <a:gd name="adj" fmla="val 2338"/>
            </a:avLst>
          </a:prstGeom>
          <a:solidFill>
            <a:srgbClr val="F4F4F2"/>
          </a:solidFill>
          <a:ln/>
        </p:spPr>
      </p:sp>
      <p:sp>
        <p:nvSpPr>
          <p:cNvPr id="21" name="Text 17"/>
          <p:cNvSpPr/>
          <p:nvPr/>
        </p:nvSpPr>
        <p:spPr>
          <a:xfrm>
            <a:off x="8138160" y="2194560"/>
            <a:ext cx="3520440" cy="457200"/>
          </a:xfrm>
          <a:prstGeom prst="rect">
            <a:avLst/>
          </a:prstGeom>
          <a:noFill/>
          <a:ln/>
        </p:spPr>
        <p:txBody>
          <a:bodyPr wrap="square" rtlCol="0" anchor="ctr"/>
          <a:lstStyle/>
          <a:p>
            <a:pPr algn="ctr" indent="0" marL="0">
              <a:buNone/>
            </a:pPr>
            <a:r>
              <a:rPr lang="en-US" sz="1900" b="1" dirty="0">
                <a:solidFill>
                  <a:srgbClr val="16233F"/>
                </a:solidFill>
                <a:latin typeface="Cambria" pitchFamily="34" charset="0"/>
                <a:ea typeface="Cambria" pitchFamily="34" charset="-122"/>
                <a:cs typeface="Cambria" pitchFamily="34" charset="-120"/>
              </a:rPr>
              <a:t>Luxury Plan</a:t>
            </a:r>
            <a:endParaRPr lang="en-US" sz="1900" dirty="0"/>
          </a:p>
        </p:txBody>
      </p:sp>
      <p:sp>
        <p:nvSpPr>
          <p:cNvPr id="22" name="Text 18"/>
          <p:cNvSpPr/>
          <p:nvPr/>
        </p:nvSpPr>
        <p:spPr>
          <a:xfrm>
            <a:off x="8412480" y="2651760"/>
            <a:ext cx="2971800" cy="457200"/>
          </a:xfrm>
          <a:prstGeom prst="rect">
            <a:avLst/>
          </a:prstGeom>
          <a:noFill/>
          <a:ln/>
        </p:spPr>
        <p:txBody>
          <a:bodyPr wrap="square" rtlCol="0" anchor="ctr"/>
          <a:lstStyle/>
          <a:p>
            <a:pPr algn="ctr" indent="0" marL="0">
              <a:buNone/>
            </a:pPr>
            <a:r>
              <a:rPr lang="en-US" sz="1100" dirty="0">
                <a:solidFill>
                  <a:srgbClr val="6E6E72"/>
                </a:solidFill>
                <a:latin typeface="Calibri" pitchFamily="34" charset="0"/>
                <a:ea typeface="Calibri" pitchFamily="34" charset="-122"/>
                <a:cs typeface="Calibri" pitchFamily="34" charset="-120"/>
              </a:rPr>
              <a:t>Top-tier materials throughout</a:t>
            </a:r>
            <a:endParaRPr lang="en-US" sz="1100" dirty="0"/>
          </a:p>
        </p:txBody>
      </p:sp>
      <p:sp>
        <p:nvSpPr>
          <p:cNvPr id="23" name="Text 19"/>
          <p:cNvSpPr/>
          <p:nvPr/>
        </p:nvSpPr>
        <p:spPr>
          <a:xfrm>
            <a:off x="8138160" y="3200400"/>
            <a:ext cx="3520440" cy="640080"/>
          </a:xfrm>
          <a:prstGeom prst="rect">
            <a:avLst/>
          </a:prstGeom>
          <a:noFill/>
          <a:ln/>
        </p:spPr>
        <p:txBody>
          <a:bodyPr wrap="square" rtlCol="0" anchor="ctr"/>
          <a:lstStyle/>
          <a:p>
            <a:pPr algn="ctr" indent="0" marL="0">
              <a:buNone/>
            </a:pPr>
            <a:r>
              <a:rPr lang="en-US" sz="3400" b="1" dirty="0">
                <a:solidFill>
                  <a:srgbClr val="16233F"/>
                </a:solidFill>
                <a:latin typeface="Cambria" pitchFamily="34" charset="0"/>
                <a:ea typeface="Cambria" pitchFamily="34" charset="-122"/>
                <a:cs typeface="Cambria" pitchFamily="34" charset="-120"/>
              </a:rPr>
              <a:t>₹2,499</a:t>
            </a:r>
            <a:pPr algn="ctr" indent="0" marL="0">
              <a:buNone/>
            </a:pPr>
            <a:r>
              <a:rPr lang="en-US" sz="1300" dirty="0">
                <a:solidFill>
                  <a:srgbClr val="6E6E72"/>
                </a:solidFill>
                <a:latin typeface="Calibri" pitchFamily="34" charset="0"/>
                <a:ea typeface="Calibri" pitchFamily="34" charset="-122"/>
                <a:cs typeface="Calibri" pitchFamily="34" charset="-120"/>
              </a:rPr>
              <a:t> /Sq.Ft.</a:t>
            </a:r>
            <a:endParaRPr lang="en-US" sz="3400" dirty="0"/>
          </a:p>
        </p:txBody>
      </p:sp>
      <p:sp>
        <p:nvSpPr>
          <p:cNvPr id="24" name="Shape 20"/>
          <p:cNvSpPr/>
          <p:nvPr/>
        </p:nvSpPr>
        <p:spPr>
          <a:xfrm>
            <a:off x="8595360" y="3977640"/>
            <a:ext cx="2606040" cy="0"/>
          </a:xfrm>
          <a:prstGeom prst="line">
            <a:avLst/>
          </a:prstGeom>
          <a:noFill/>
          <a:ln w="12700">
            <a:solidFill>
              <a:srgbClr val="E1E1DE"/>
            </a:solidFill>
            <a:prstDash val="solid"/>
          </a:ln>
        </p:spPr>
      </p:sp>
      <p:sp>
        <p:nvSpPr>
          <p:cNvPr id="25" name="Shape 21"/>
          <p:cNvSpPr/>
          <p:nvPr/>
        </p:nvSpPr>
        <p:spPr>
          <a:xfrm>
            <a:off x="9578340" y="4206240"/>
            <a:ext cx="640080" cy="640080"/>
          </a:xfrm>
          <a:prstGeom prst="ellipse">
            <a:avLst/>
          </a:prstGeom>
          <a:solidFill>
            <a:srgbClr val="C89B3C"/>
          </a:solidFill>
          <a:ln/>
        </p:spPr>
      </p:sp>
      <p:pic>
        <p:nvPicPr>
          <p:cNvPr id="26" name="Image 2" descr="/home/claude/manjula/icons/award_white.png">    </p:cNvPr>
          <p:cNvPicPr>
            <a:picLocks noChangeAspect="1"/>
          </p:cNvPicPr>
          <p:nvPr/>
        </p:nvPicPr>
        <p:blipFill>
          <a:blip r:embed="rId3"/>
          <a:stretch>
            <a:fillRect/>
          </a:stretch>
        </p:blipFill>
        <p:spPr>
          <a:xfrm>
            <a:off x="9693554" y="4321454"/>
            <a:ext cx="409651" cy="409651"/>
          </a:xfrm>
          <a:prstGeom prst="rect">
            <a:avLst/>
          </a:prstGeom>
        </p:spPr>
      </p:pic>
      <p:sp>
        <p:nvSpPr>
          <p:cNvPr id="27" name="Text 22"/>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28"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11</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STANDARD PLAN</a:t>
            </a:r>
            <a:endParaRPr lang="en-US" sz="1200" dirty="0"/>
          </a:p>
        </p:txBody>
      </p:sp>
      <p:sp>
        <p:nvSpPr>
          <p:cNvPr id="4" name="Text 2"/>
          <p:cNvSpPr/>
          <p:nvPr/>
        </p:nvSpPr>
        <p:spPr>
          <a:xfrm>
            <a:off x="548640" y="914400"/>
            <a:ext cx="54864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Standard Plan</a:t>
            </a:r>
            <a:endParaRPr lang="en-US" sz="2600" dirty="0"/>
          </a:p>
        </p:txBody>
      </p:sp>
      <p:sp>
        <p:nvSpPr>
          <p:cNvPr id="5" name="Text 3"/>
          <p:cNvSpPr/>
          <p:nvPr/>
        </p:nvSpPr>
        <p:spPr>
          <a:xfrm>
            <a:off x="548640" y="1417320"/>
            <a:ext cx="3657600" cy="365760"/>
          </a:xfrm>
          <a:prstGeom prst="rect">
            <a:avLst/>
          </a:prstGeom>
          <a:noFill/>
          <a:ln/>
        </p:spPr>
        <p:txBody>
          <a:bodyPr wrap="square" rtlCol="0" anchor="ctr"/>
          <a:lstStyle/>
          <a:p>
            <a:pPr indent="0" marL="0">
              <a:buNone/>
            </a:pPr>
            <a:r>
              <a:rPr lang="en-US" sz="2000" b="1" dirty="0">
                <a:solidFill>
                  <a:srgbClr val="C89B3C"/>
                </a:solidFill>
                <a:latin typeface="Cambria" pitchFamily="34" charset="0"/>
                <a:ea typeface="Cambria" pitchFamily="34" charset="-122"/>
                <a:cs typeface="Cambria" pitchFamily="34" charset="-120"/>
              </a:rPr>
              <a:t>₹2,299</a:t>
            </a:r>
            <a:pPr indent="0" marL="0">
              <a:buNone/>
            </a:pPr>
            <a:r>
              <a:rPr lang="en-US" sz="1200" dirty="0">
                <a:solidFill>
                  <a:srgbClr val="6E6E72"/>
                </a:solidFill>
                <a:latin typeface="Calibri" pitchFamily="34" charset="0"/>
                <a:ea typeface="Calibri" pitchFamily="34" charset="-122"/>
                <a:cs typeface="Calibri" pitchFamily="34" charset="-120"/>
              </a:rPr>
              <a:t> / Sq.Ft.</a:t>
            </a:r>
            <a:endParaRPr lang="en-US" sz="2000" dirty="0"/>
          </a:p>
        </p:txBody>
      </p:sp>
      <p:sp>
        <p:nvSpPr>
          <p:cNvPr id="6" name="Shape 4"/>
          <p:cNvSpPr/>
          <p:nvPr/>
        </p:nvSpPr>
        <p:spPr>
          <a:xfrm>
            <a:off x="548640" y="1965960"/>
            <a:ext cx="5394960" cy="4343400"/>
          </a:xfrm>
          <a:prstGeom prst="roundRect">
            <a:avLst>
              <a:gd name="adj" fmla="val 1684"/>
            </a:avLst>
          </a:prstGeom>
          <a:solidFill>
            <a:srgbClr val="F4F4F2"/>
          </a:solidFill>
          <a:ln/>
        </p:spPr>
      </p:sp>
      <p:sp>
        <p:nvSpPr>
          <p:cNvPr id="7" name="Text 5"/>
          <p:cNvSpPr/>
          <p:nvPr/>
        </p:nvSpPr>
        <p:spPr>
          <a:xfrm>
            <a:off x="868680" y="2194560"/>
            <a:ext cx="3657600" cy="365760"/>
          </a:xfrm>
          <a:prstGeom prst="rect">
            <a:avLst/>
          </a:prstGeom>
          <a:noFill/>
          <a:ln/>
        </p:spPr>
        <p:txBody>
          <a:bodyPr wrap="square" rtlCol="0" anchor="ctr"/>
          <a:lstStyle/>
          <a:p>
            <a:pPr indent="0" marL="0">
              <a:buNone/>
            </a:pPr>
            <a:r>
              <a:rPr lang="en-US" sz="1250" b="1" spc="150" kern="0" dirty="0">
                <a:solidFill>
                  <a:srgbClr val="16233F"/>
                </a:solidFill>
                <a:latin typeface="Calibri" pitchFamily="34" charset="0"/>
                <a:ea typeface="Calibri" pitchFamily="34" charset="-122"/>
                <a:cs typeface="Calibri" pitchFamily="34" charset="-120"/>
              </a:rPr>
              <a:t>INCLUDED</a:t>
            </a:r>
            <a:endParaRPr lang="en-US" sz="1250" dirty="0"/>
          </a:p>
        </p:txBody>
      </p:sp>
      <p:pic>
        <p:nvPicPr>
          <p:cNvPr id="8" name="Image 0" descr="/home/claude/manjula/icons/check_gold.png">    </p:cNvPr>
          <p:cNvPicPr>
            <a:picLocks noChangeAspect="1"/>
          </p:cNvPicPr>
          <p:nvPr/>
        </p:nvPicPr>
        <p:blipFill>
          <a:blip r:embed="rId1"/>
          <a:stretch>
            <a:fillRect/>
          </a:stretch>
        </p:blipFill>
        <p:spPr>
          <a:xfrm>
            <a:off x="868680" y="2715768"/>
            <a:ext cx="219456" cy="219456"/>
          </a:xfrm>
          <a:prstGeom prst="rect">
            <a:avLst/>
          </a:prstGeom>
        </p:spPr>
      </p:pic>
      <p:sp>
        <p:nvSpPr>
          <p:cNvPr id="9" name="Text 6"/>
          <p:cNvSpPr/>
          <p:nvPr/>
        </p:nvSpPr>
        <p:spPr>
          <a:xfrm>
            <a:off x="1207008" y="2697480"/>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Architectural drawings</a:t>
            </a:r>
            <a:endParaRPr lang="en-US" sz="1300" dirty="0"/>
          </a:p>
        </p:txBody>
      </p:sp>
      <p:pic>
        <p:nvPicPr>
          <p:cNvPr id="10" name="Image 1" descr="/home/claude/manjula/icons/check_gold.png">    </p:cNvPr>
          <p:cNvPicPr>
            <a:picLocks noChangeAspect="1"/>
          </p:cNvPicPr>
          <p:nvPr/>
        </p:nvPicPr>
        <p:blipFill>
          <a:blip r:embed="rId2"/>
          <a:stretch>
            <a:fillRect/>
          </a:stretch>
        </p:blipFill>
        <p:spPr>
          <a:xfrm>
            <a:off x="868680" y="3191256"/>
            <a:ext cx="219456" cy="219456"/>
          </a:xfrm>
          <a:prstGeom prst="rect">
            <a:avLst/>
          </a:prstGeom>
        </p:spPr>
      </p:pic>
      <p:sp>
        <p:nvSpPr>
          <p:cNvPr id="11" name="Text 7"/>
          <p:cNvSpPr/>
          <p:nvPr/>
        </p:nvSpPr>
        <p:spPr>
          <a:xfrm>
            <a:off x="1207008" y="3172968"/>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Structural drawings</a:t>
            </a:r>
            <a:endParaRPr lang="en-US" sz="1300" dirty="0"/>
          </a:p>
        </p:txBody>
      </p:sp>
      <p:pic>
        <p:nvPicPr>
          <p:cNvPr id="12" name="Image 2" descr="/home/claude/manjula/icons/check_gold.png">    </p:cNvPr>
          <p:cNvPicPr>
            <a:picLocks noChangeAspect="1"/>
          </p:cNvPicPr>
          <p:nvPr/>
        </p:nvPicPr>
        <p:blipFill>
          <a:blip r:embed="rId3"/>
          <a:stretch>
            <a:fillRect/>
          </a:stretch>
        </p:blipFill>
        <p:spPr>
          <a:xfrm>
            <a:off x="868680" y="3666744"/>
            <a:ext cx="219456" cy="219456"/>
          </a:xfrm>
          <a:prstGeom prst="rect">
            <a:avLst/>
          </a:prstGeom>
        </p:spPr>
      </p:pic>
      <p:sp>
        <p:nvSpPr>
          <p:cNvPr id="13" name="Text 8"/>
          <p:cNvSpPr/>
          <p:nvPr/>
        </p:nvSpPr>
        <p:spPr>
          <a:xfrm>
            <a:off x="1207008" y="3648456"/>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Flooring</a:t>
            </a:r>
            <a:endParaRPr lang="en-US" sz="1300" dirty="0"/>
          </a:p>
        </p:txBody>
      </p:sp>
      <p:pic>
        <p:nvPicPr>
          <p:cNvPr id="14" name="Image 3" descr="/home/claude/manjula/icons/check_gold.png">    </p:cNvPr>
          <p:cNvPicPr>
            <a:picLocks noChangeAspect="1"/>
          </p:cNvPicPr>
          <p:nvPr/>
        </p:nvPicPr>
        <p:blipFill>
          <a:blip r:embed="rId4"/>
          <a:stretch>
            <a:fillRect/>
          </a:stretch>
        </p:blipFill>
        <p:spPr>
          <a:xfrm>
            <a:off x="868680" y="4142232"/>
            <a:ext cx="219456" cy="219456"/>
          </a:xfrm>
          <a:prstGeom prst="rect">
            <a:avLst/>
          </a:prstGeom>
        </p:spPr>
      </p:pic>
      <p:sp>
        <p:nvSpPr>
          <p:cNvPr id="15" name="Text 9"/>
          <p:cNvSpPr/>
          <p:nvPr/>
        </p:nvSpPr>
        <p:spPr>
          <a:xfrm>
            <a:off x="1207008" y="4123944"/>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Painting</a:t>
            </a:r>
            <a:endParaRPr lang="en-US" sz="1300" dirty="0"/>
          </a:p>
        </p:txBody>
      </p:sp>
      <p:pic>
        <p:nvPicPr>
          <p:cNvPr id="16" name="Image 4" descr="/home/claude/manjula/icons/check_gold.png">    </p:cNvPr>
          <p:cNvPicPr>
            <a:picLocks noChangeAspect="1"/>
          </p:cNvPicPr>
          <p:nvPr/>
        </p:nvPicPr>
        <p:blipFill>
          <a:blip r:embed="rId5"/>
          <a:stretch>
            <a:fillRect/>
          </a:stretch>
        </p:blipFill>
        <p:spPr>
          <a:xfrm>
            <a:off x="868680" y="4617720"/>
            <a:ext cx="219456" cy="219456"/>
          </a:xfrm>
          <a:prstGeom prst="rect">
            <a:avLst/>
          </a:prstGeom>
        </p:spPr>
      </p:pic>
      <p:sp>
        <p:nvSpPr>
          <p:cNvPr id="17" name="Text 10"/>
          <p:cNvSpPr/>
          <p:nvPr/>
        </p:nvSpPr>
        <p:spPr>
          <a:xfrm>
            <a:off x="1207008" y="4599432"/>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Electrical work</a:t>
            </a:r>
            <a:endParaRPr lang="en-US" sz="1300" dirty="0"/>
          </a:p>
        </p:txBody>
      </p:sp>
      <p:pic>
        <p:nvPicPr>
          <p:cNvPr id="18" name="Image 5" descr="/home/claude/manjula/icons/check_gold.png">    </p:cNvPr>
          <p:cNvPicPr>
            <a:picLocks noChangeAspect="1"/>
          </p:cNvPicPr>
          <p:nvPr/>
        </p:nvPicPr>
        <p:blipFill>
          <a:blip r:embed="rId6"/>
          <a:stretch>
            <a:fillRect/>
          </a:stretch>
        </p:blipFill>
        <p:spPr>
          <a:xfrm>
            <a:off x="868680" y="5093208"/>
            <a:ext cx="219456" cy="219456"/>
          </a:xfrm>
          <a:prstGeom prst="rect">
            <a:avLst/>
          </a:prstGeom>
        </p:spPr>
      </p:pic>
      <p:sp>
        <p:nvSpPr>
          <p:cNvPr id="19" name="Text 11"/>
          <p:cNvSpPr/>
          <p:nvPr/>
        </p:nvSpPr>
        <p:spPr>
          <a:xfrm>
            <a:off x="1207008" y="5074920"/>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Water tank</a:t>
            </a:r>
            <a:endParaRPr lang="en-US" sz="1300" dirty="0"/>
          </a:p>
        </p:txBody>
      </p:sp>
      <p:pic>
        <p:nvPicPr>
          <p:cNvPr id="20" name="Image 6" descr="/home/claude/manjula/icons/check_gold.png">    </p:cNvPr>
          <p:cNvPicPr>
            <a:picLocks noChangeAspect="1"/>
          </p:cNvPicPr>
          <p:nvPr/>
        </p:nvPicPr>
        <p:blipFill>
          <a:blip r:embed="rId7"/>
          <a:stretch>
            <a:fillRect/>
          </a:stretch>
        </p:blipFill>
        <p:spPr>
          <a:xfrm>
            <a:off x="868680" y="5568696"/>
            <a:ext cx="219456" cy="219456"/>
          </a:xfrm>
          <a:prstGeom prst="rect">
            <a:avLst/>
          </a:prstGeom>
        </p:spPr>
      </p:pic>
      <p:sp>
        <p:nvSpPr>
          <p:cNvPr id="21" name="Text 12"/>
          <p:cNvSpPr/>
          <p:nvPr/>
        </p:nvSpPr>
        <p:spPr>
          <a:xfrm>
            <a:off x="1207008" y="5550408"/>
            <a:ext cx="448056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Roof weathering</a:t>
            </a:r>
            <a:endParaRPr lang="en-US" sz="1300" dirty="0"/>
          </a:p>
        </p:txBody>
      </p:sp>
      <p:sp>
        <p:nvSpPr>
          <p:cNvPr id="22" name="Shape 13"/>
          <p:cNvSpPr/>
          <p:nvPr/>
        </p:nvSpPr>
        <p:spPr>
          <a:xfrm>
            <a:off x="6217920" y="1965960"/>
            <a:ext cx="5394960" cy="4343400"/>
          </a:xfrm>
          <a:prstGeom prst="roundRect">
            <a:avLst>
              <a:gd name="adj" fmla="val 1684"/>
            </a:avLst>
          </a:prstGeom>
          <a:solidFill>
            <a:srgbClr val="FFFFFF"/>
          </a:solidFill>
          <a:ln w="12700">
            <a:solidFill>
              <a:srgbClr val="E1E1DE"/>
            </a:solidFill>
            <a:prstDash val="solid"/>
          </a:ln>
        </p:spPr>
      </p:sp>
      <p:sp>
        <p:nvSpPr>
          <p:cNvPr id="23" name="Text 14"/>
          <p:cNvSpPr/>
          <p:nvPr/>
        </p:nvSpPr>
        <p:spPr>
          <a:xfrm>
            <a:off x="6537960" y="2194560"/>
            <a:ext cx="3657600" cy="365760"/>
          </a:xfrm>
          <a:prstGeom prst="rect">
            <a:avLst/>
          </a:prstGeom>
          <a:noFill/>
          <a:ln/>
        </p:spPr>
        <p:txBody>
          <a:bodyPr wrap="square" rtlCol="0" anchor="ctr"/>
          <a:lstStyle/>
          <a:p>
            <a:pPr indent="0" marL="0">
              <a:buNone/>
            </a:pPr>
            <a:r>
              <a:rPr lang="en-US" sz="1250" b="1" spc="150" kern="0" dirty="0">
                <a:solidFill>
                  <a:srgbClr val="16233F"/>
                </a:solidFill>
                <a:latin typeface="Calibri" pitchFamily="34" charset="0"/>
                <a:ea typeface="Calibri" pitchFamily="34" charset="-122"/>
                <a:cs typeface="Calibri" pitchFamily="34" charset="-120"/>
              </a:rPr>
              <a:t>NOT INCLUDED</a:t>
            </a:r>
            <a:endParaRPr lang="en-US" sz="1250" dirty="0"/>
          </a:p>
        </p:txBody>
      </p:sp>
      <p:pic>
        <p:nvPicPr>
          <p:cNvPr id="24" name="Image 7" descr="/home/claude/manjula/icons/times_gold.png">    </p:cNvPr>
          <p:cNvPicPr>
            <a:picLocks noChangeAspect="1"/>
          </p:cNvPicPr>
          <p:nvPr/>
        </p:nvPicPr>
        <p:blipFill>
          <a:blip r:embed="rId8"/>
          <a:stretch>
            <a:fillRect/>
          </a:stretch>
        </p:blipFill>
        <p:spPr>
          <a:xfrm>
            <a:off x="6537960" y="2715768"/>
            <a:ext cx="219456" cy="219456"/>
          </a:xfrm>
          <a:prstGeom prst="rect">
            <a:avLst/>
          </a:prstGeom>
        </p:spPr>
      </p:pic>
      <p:sp>
        <p:nvSpPr>
          <p:cNvPr id="25" name="Text 15"/>
          <p:cNvSpPr/>
          <p:nvPr/>
        </p:nvSpPr>
        <p:spPr>
          <a:xfrm>
            <a:off x="6876288" y="2697480"/>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Compound wall and gate — ₹425/Sq.Ft.</a:t>
            </a:r>
            <a:endParaRPr lang="en-US" sz="1300" dirty="0"/>
          </a:p>
        </p:txBody>
      </p:sp>
      <p:pic>
        <p:nvPicPr>
          <p:cNvPr id="26" name="Image 8" descr="/home/claude/manjula/icons/times_gold.png">    </p:cNvPr>
          <p:cNvPicPr>
            <a:picLocks noChangeAspect="1"/>
          </p:cNvPicPr>
          <p:nvPr/>
        </p:nvPicPr>
        <p:blipFill>
          <a:blip r:embed="rId9"/>
          <a:stretch>
            <a:fillRect/>
          </a:stretch>
        </p:blipFill>
        <p:spPr>
          <a:xfrm>
            <a:off x="6537960" y="3191256"/>
            <a:ext cx="219456" cy="219456"/>
          </a:xfrm>
          <a:prstGeom prst="rect">
            <a:avLst/>
          </a:prstGeom>
        </p:spPr>
      </p:pic>
      <p:sp>
        <p:nvSpPr>
          <p:cNvPr id="27" name="Text 16"/>
          <p:cNvSpPr/>
          <p:nvPr/>
        </p:nvSpPr>
        <p:spPr>
          <a:xfrm>
            <a:off x="6876288" y="3172968"/>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Sump and septic tank — ₹24/Liter</a:t>
            </a:r>
            <a:endParaRPr lang="en-US" sz="1300" dirty="0"/>
          </a:p>
        </p:txBody>
      </p:sp>
      <p:pic>
        <p:nvPicPr>
          <p:cNvPr id="28" name="Image 9" descr="/home/claude/manjula/icons/times_gold.png">    </p:cNvPr>
          <p:cNvPicPr>
            <a:picLocks noChangeAspect="1"/>
          </p:cNvPicPr>
          <p:nvPr/>
        </p:nvPicPr>
        <p:blipFill>
          <a:blip r:embed="rId10"/>
          <a:stretch>
            <a:fillRect/>
          </a:stretch>
        </p:blipFill>
        <p:spPr>
          <a:xfrm>
            <a:off x="6537960" y="3666744"/>
            <a:ext cx="219456" cy="219456"/>
          </a:xfrm>
          <a:prstGeom prst="rect">
            <a:avLst/>
          </a:prstGeom>
        </p:spPr>
      </p:pic>
      <p:sp>
        <p:nvSpPr>
          <p:cNvPr id="29" name="Text 17"/>
          <p:cNvSpPr/>
          <p:nvPr/>
        </p:nvSpPr>
        <p:spPr>
          <a:xfrm>
            <a:off x="6876288" y="3648456"/>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Lift</a:t>
            </a:r>
            <a:endParaRPr lang="en-US" sz="1300" dirty="0"/>
          </a:p>
        </p:txBody>
      </p:sp>
      <p:pic>
        <p:nvPicPr>
          <p:cNvPr id="30" name="Image 10" descr="/home/claude/manjula/icons/times_gold.png">    </p:cNvPr>
          <p:cNvPicPr>
            <a:picLocks noChangeAspect="1"/>
          </p:cNvPicPr>
          <p:nvPr/>
        </p:nvPicPr>
        <p:blipFill>
          <a:blip r:embed="rId11"/>
          <a:stretch>
            <a:fillRect/>
          </a:stretch>
        </p:blipFill>
        <p:spPr>
          <a:xfrm>
            <a:off x="6537960" y="4142232"/>
            <a:ext cx="219456" cy="219456"/>
          </a:xfrm>
          <a:prstGeom prst="rect">
            <a:avLst/>
          </a:prstGeom>
        </p:spPr>
      </p:pic>
      <p:sp>
        <p:nvSpPr>
          <p:cNvPr id="31" name="Text 18"/>
          <p:cNvSpPr/>
          <p:nvPr/>
        </p:nvSpPr>
        <p:spPr>
          <a:xfrm>
            <a:off x="6876288" y="4123944"/>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Electricity connection</a:t>
            </a:r>
            <a:endParaRPr lang="en-US" sz="1300" dirty="0"/>
          </a:p>
        </p:txBody>
      </p:sp>
      <p:pic>
        <p:nvPicPr>
          <p:cNvPr id="32" name="Image 11" descr="/home/claude/manjula/icons/times_gold.png">    </p:cNvPr>
          <p:cNvPicPr>
            <a:picLocks noChangeAspect="1"/>
          </p:cNvPicPr>
          <p:nvPr/>
        </p:nvPicPr>
        <p:blipFill>
          <a:blip r:embed="rId12"/>
          <a:stretch>
            <a:fillRect/>
          </a:stretch>
        </p:blipFill>
        <p:spPr>
          <a:xfrm>
            <a:off x="6537960" y="4617720"/>
            <a:ext cx="219456" cy="219456"/>
          </a:xfrm>
          <a:prstGeom prst="rect">
            <a:avLst/>
          </a:prstGeom>
        </p:spPr>
      </p:pic>
      <p:sp>
        <p:nvSpPr>
          <p:cNvPr id="33" name="Text 19"/>
          <p:cNvSpPr/>
          <p:nvPr/>
        </p:nvSpPr>
        <p:spPr>
          <a:xfrm>
            <a:off x="6876288" y="4599432"/>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Building plan approval</a:t>
            </a:r>
            <a:endParaRPr lang="en-US" sz="1300" dirty="0"/>
          </a:p>
        </p:txBody>
      </p:sp>
      <p:pic>
        <p:nvPicPr>
          <p:cNvPr id="34" name="Image 12" descr="/home/claude/manjula/icons/times_gold.png">    </p:cNvPr>
          <p:cNvPicPr>
            <a:picLocks noChangeAspect="1"/>
          </p:cNvPicPr>
          <p:nvPr/>
        </p:nvPicPr>
        <p:blipFill>
          <a:blip r:embed="rId13"/>
          <a:stretch>
            <a:fillRect/>
          </a:stretch>
        </p:blipFill>
        <p:spPr>
          <a:xfrm>
            <a:off x="6537960" y="5093208"/>
            <a:ext cx="219456" cy="219456"/>
          </a:xfrm>
          <a:prstGeom prst="rect">
            <a:avLst/>
          </a:prstGeom>
        </p:spPr>
      </p:pic>
      <p:sp>
        <p:nvSpPr>
          <p:cNvPr id="35" name="Text 20"/>
          <p:cNvSpPr/>
          <p:nvPr/>
        </p:nvSpPr>
        <p:spPr>
          <a:xfrm>
            <a:off x="6876288" y="5074920"/>
            <a:ext cx="4617720" cy="365760"/>
          </a:xfrm>
          <a:prstGeom prst="rect">
            <a:avLst/>
          </a:prstGeom>
          <a:noFill/>
          <a:ln/>
        </p:spPr>
        <p:txBody>
          <a:bodyPr wrap="square" rtlCol="0" anchor="ctr"/>
          <a:lstStyle/>
          <a:p>
            <a:pPr indent="0" marL="0">
              <a:buNone/>
            </a:pPr>
            <a:r>
              <a:rPr lang="en-US" sz="1300" dirty="0">
                <a:solidFill>
                  <a:srgbClr val="26262A"/>
                </a:solidFill>
                <a:latin typeface="Calibri" pitchFamily="34" charset="0"/>
                <a:ea typeface="Calibri" pitchFamily="34" charset="-122"/>
                <a:cs typeface="Calibri" pitchFamily="34" charset="-120"/>
              </a:rPr>
              <a:t>Elevation special materials</a:t>
            </a:r>
            <a:endParaRPr lang="en-US" sz="1300" dirty="0"/>
          </a:p>
        </p:txBody>
      </p:sp>
      <p:sp>
        <p:nvSpPr>
          <p:cNvPr id="36" name="Text 21"/>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37"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12</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AEB9D6"/>
                </a:solidFill>
                <a:latin typeface="Calibri" pitchFamily="34" charset="0"/>
                <a:ea typeface="Calibri" pitchFamily="34" charset="-122"/>
                <a:cs typeface="Calibri" pitchFamily="34" charset="-120"/>
              </a:rPr>
              <a:t>PREMIUM PLAN</a:t>
            </a:r>
            <a:endParaRPr lang="en-US" sz="1200" dirty="0"/>
          </a:p>
        </p:txBody>
      </p:sp>
      <p:sp>
        <p:nvSpPr>
          <p:cNvPr id="4" name="Text 2"/>
          <p:cNvSpPr/>
          <p:nvPr/>
        </p:nvSpPr>
        <p:spPr>
          <a:xfrm>
            <a:off x="548640" y="914400"/>
            <a:ext cx="54864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Premium Plan</a:t>
            </a:r>
            <a:endParaRPr lang="en-US" sz="2600" dirty="0"/>
          </a:p>
        </p:txBody>
      </p:sp>
      <p:sp>
        <p:nvSpPr>
          <p:cNvPr id="5" name="Text 3"/>
          <p:cNvSpPr/>
          <p:nvPr/>
        </p:nvSpPr>
        <p:spPr>
          <a:xfrm>
            <a:off x="548640" y="1417320"/>
            <a:ext cx="3657600" cy="365760"/>
          </a:xfrm>
          <a:prstGeom prst="rect">
            <a:avLst/>
          </a:prstGeom>
          <a:noFill/>
          <a:ln/>
        </p:spPr>
        <p:txBody>
          <a:bodyPr wrap="square" rtlCol="0" anchor="ctr"/>
          <a:lstStyle/>
          <a:p>
            <a:pPr indent="0" marL="0">
              <a:buNone/>
            </a:pPr>
            <a:r>
              <a:rPr lang="en-US" sz="2000" b="1" dirty="0">
                <a:solidFill>
                  <a:srgbClr val="C89B3C"/>
                </a:solidFill>
                <a:latin typeface="Cambria" pitchFamily="34" charset="0"/>
                <a:ea typeface="Cambria" pitchFamily="34" charset="-122"/>
                <a:cs typeface="Cambria" pitchFamily="34" charset="-120"/>
              </a:rPr>
              <a:t>₹2,399</a:t>
            </a:r>
            <a:pPr indent="0" marL="0">
              <a:buNone/>
            </a:pPr>
            <a:r>
              <a:rPr lang="en-US" sz="1200" dirty="0">
                <a:solidFill>
                  <a:srgbClr val="AEB9D6"/>
                </a:solidFill>
                <a:latin typeface="Calibri" pitchFamily="34" charset="0"/>
                <a:ea typeface="Calibri" pitchFamily="34" charset="-122"/>
                <a:cs typeface="Calibri" pitchFamily="34" charset="-120"/>
              </a:rPr>
              <a:t> / Sq.Ft.</a:t>
            </a:r>
            <a:endParaRPr lang="en-US" sz="2000" dirty="0"/>
          </a:p>
        </p:txBody>
      </p:sp>
      <p:sp>
        <p:nvSpPr>
          <p:cNvPr id="6" name="Shape 4"/>
          <p:cNvSpPr/>
          <p:nvPr/>
        </p:nvSpPr>
        <p:spPr>
          <a:xfrm>
            <a:off x="548640" y="2057400"/>
            <a:ext cx="3520440" cy="1234440"/>
          </a:xfrm>
          <a:prstGeom prst="roundRect">
            <a:avLst>
              <a:gd name="adj" fmla="val 5926"/>
            </a:avLst>
          </a:prstGeom>
          <a:solidFill>
            <a:srgbClr val="1E2E52"/>
          </a:solidFill>
          <a:ln w="12700">
            <a:solidFill>
              <a:srgbClr val="2C3E68"/>
            </a:solidFill>
            <a:prstDash val="solid"/>
          </a:ln>
        </p:spPr>
      </p:sp>
      <p:sp>
        <p:nvSpPr>
          <p:cNvPr id="7" name="Shape 5"/>
          <p:cNvSpPr/>
          <p:nvPr/>
        </p:nvSpPr>
        <p:spPr>
          <a:xfrm>
            <a:off x="777240" y="2418588"/>
            <a:ext cx="512064" cy="512064"/>
          </a:xfrm>
          <a:prstGeom prst="ellipse">
            <a:avLst/>
          </a:prstGeom>
          <a:solidFill>
            <a:srgbClr val="C89B3C"/>
          </a:solidFill>
          <a:ln/>
        </p:spPr>
      </p:sp>
      <p:pic>
        <p:nvPicPr>
          <p:cNvPr id="8" name="Image 0" descr="/home/claude/manjula/icons/door_navy.png">    </p:cNvPr>
          <p:cNvPicPr>
            <a:picLocks noChangeAspect="1"/>
          </p:cNvPicPr>
          <p:nvPr/>
        </p:nvPicPr>
        <p:blipFill>
          <a:blip r:embed="rId1"/>
          <a:stretch>
            <a:fillRect/>
          </a:stretch>
        </p:blipFill>
        <p:spPr>
          <a:xfrm>
            <a:off x="869412" y="2510760"/>
            <a:ext cx="327721" cy="327721"/>
          </a:xfrm>
          <a:prstGeom prst="rect">
            <a:avLst/>
          </a:prstGeom>
        </p:spPr>
      </p:pic>
      <p:sp>
        <p:nvSpPr>
          <p:cNvPr id="9" name="Text 6"/>
          <p:cNvSpPr/>
          <p:nvPr/>
        </p:nvSpPr>
        <p:spPr>
          <a:xfrm>
            <a:off x="1417320" y="2194560"/>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Malaysian teak wood main door</a:t>
            </a:r>
            <a:endParaRPr lang="en-US" sz="1250" dirty="0"/>
          </a:p>
        </p:txBody>
      </p:sp>
      <p:sp>
        <p:nvSpPr>
          <p:cNvPr id="10" name="Shape 7"/>
          <p:cNvSpPr/>
          <p:nvPr/>
        </p:nvSpPr>
        <p:spPr>
          <a:xfrm>
            <a:off x="4343400" y="2057400"/>
            <a:ext cx="3520440" cy="1234440"/>
          </a:xfrm>
          <a:prstGeom prst="roundRect">
            <a:avLst>
              <a:gd name="adj" fmla="val 5926"/>
            </a:avLst>
          </a:prstGeom>
          <a:solidFill>
            <a:srgbClr val="1E2E52"/>
          </a:solidFill>
          <a:ln w="12700">
            <a:solidFill>
              <a:srgbClr val="2C3E68"/>
            </a:solidFill>
            <a:prstDash val="solid"/>
          </a:ln>
        </p:spPr>
      </p:sp>
      <p:sp>
        <p:nvSpPr>
          <p:cNvPr id="11" name="Shape 8"/>
          <p:cNvSpPr/>
          <p:nvPr/>
        </p:nvSpPr>
        <p:spPr>
          <a:xfrm>
            <a:off x="4572000" y="2418588"/>
            <a:ext cx="512064" cy="512064"/>
          </a:xfrm>
          <a:prstGeom prst="ellipse">
            <a:avLst/>
          </a:prstGeom>
          <a:solidFill>
            <a:srgbClr val="C89B3C"/>
          </a:solidFill>
          <a:ln/>
        </p:spPr>
      </p:sp>
      <p:pic>
        <p:nvPicPr>
          <p:cNvPr id="12" name="Image 1" descr="/home/claude/manjula/icons/door_navy.png">    </p:cNvPr>
          <p:cNvPicPr>
            <a:picLocks noChangeAspect="1"/>
          </p:cNvPicPr>
          <p:nvPr/>
        </p:nvPicPr>
        <p:blipFill>
          <a:blip r:embed="rId2"/>
          <a:stretch>
            <a:fillRect/>
          </a:stretch>
        </p:blipFill>
        <p:spPr>
          <a:xfrm>
            <a:off x="4664172" y="2510760"/>
            <a:ext cx="327721" cy="327721"/>
          </a:xfrm>
          <a:prstGeom prst="rect">
            <a:avLst/>
          </a:prstGeom>
        </p:spPr>
      </p:pic>
      <p:sp>
        <p:nvSpPr>
          <p:cNvPr id="13" name="Text 9"/>
          <p:cNvSpPr/>
          <p:nvPr/>
        </p:nvSpPr>
        <p:spPr>
          <a:xfrm>
            <a:off x="5212080" y="2194560"/>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Mahogany internal doors</a:t>
            </a:r>
            <a:endParaRPr lang="en-US" sz="1250" dirty="0"/>
          </a:p>
        </p:txBody>
      </p:sp>
      <p:sp>
        <p:nvSpPr>
          <p:cNvPr id="14" name="Shape 10"/>
          <p:cNvSpPr/>
          <p:nvPr/>
        </p:nvSpPr>
        <p:spPr>
          <a:xfrm>
            <a:off x="8138160" y="2057400"/>
            <a:ext cx="3520440" cy="1234440"/>
          </a:xfrm>
          <a:prstGeom prst="roundRect">
            <a:avLst>
              <a:gd name="adj" fmla="val 5926"/>
            </a:avLst>
          </a:prstGeom>
          <a:solidFill>
            <a:srgbClr val="1E2E52"/>
          </a:solidFill>
          <a:ln w="12700">
            <a:solidFill>
              <a:srgbClr val="2C3E68"/>
            </a:solidFill>
            <a:prstDash val="solid"/>
          </a:ln>
        </p:spPr>
      </p:sp>
      <p:sp>
        <p:nvSpPr>
          <p:cNvPr id="15" name="Shape 11"/>
          <p:cNvSpPr/>
          <p:nvPr/>
        </p:nvSpPr>
        <p:spPr>
          <a:xfrm>
            <a:off x="8366760" y="2418588"/>
            <a:ext cx="512064" cy="512064"/>
          </a:xfrm>
          <a:prstGeom prst="ellipse">
            <a:avLst/>
          </a:prstGeom>
          <a:solidFill>
            <a:srgbClr val="C89B3C"/>
          </a:solidFill>
          <a:ln/>
        </p:spPr>
      </p:sp>
      <p:pic>
        <p:nvPicPr>
          <p:cNvPr id="16" name="Image 2" descr="/home/claude/manjula/icons/water_navy.png">    </p:cNvPr>
          <p:cNvPicPr>
            <a:picLocks noChangeAspect="1"/>
          </p:cNvPicPr>
          <p:nvPr/>
        </p:nvPicPr>
        <p:blipFill>
          <a:blip r:embed="rId3"/>
          <a:stretch>
            <a:fillRect/>
          </a:stretch>
        </p:blipFill>
        <p:spPr>
          <a:xfrm>
            <a:off x="8458932" y="2510760"/>
            <a:ext cx="327721" cy="327721"/>
          </a:xfrm>
          <a:prstGeom prst="rect">
            <a:avLst/>
          </a:prstGeom>
        </p:spPr>
      </p:pic>
      <p:sp>
        <p:nvSpPr>
          <p:cNvPr id="17" name="Text 12"/>
          <p:cNvSpPr/>
          <p:nvPr/>
        </p:nvSpPr>
        <p:spPr>
          <a:xfrm>
            <a:off x="9006840" y="2194560"/>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Waterproof WPC bathroom doors</a:t>
            </a:r>
            <a:endParaRPr lang="en-US" sz="1250" dirty="0"/>
          </a:p>
        </p:txBody>
      </p:sp>
      <p:sp>
        <p:nvSpPr>
          <p:cNvPr id="18" name="Shape 13"/>
          <p:cNvSpPr/>
          <p:nvPr/>
        </p:nvSpPr>
        <p:spPr>
          <a:xfrm>
            <a:off x="548640" y="3493008"/>
            <a:ext cx="3520440" cy="1234440"/>
          </a:xfrm>
          <a:prstGeom prst="roundRect">
            <a:avLst>
              <a:gd name="adj" fmla="val 5926"/>
            </a:avLst>
          </a:prstGeom>
          <a:solidFill>
            <a:srgbClr val="1E2E52"/>
          </a:solidFill>
          <a:ln w="12700">
            <a:solidFill>
              <a:srgbClr val="2C3E68"/>
            </a:solidFill>
            <a:prstDash val="solid"/>
          </a:ln>
        </p:spPr>
      </p:sp>
      <p:sp>
        <p:nvSpPr>
          <p:cNvPr id="19" name="Shape 14"/>
          <p:cNvSpPr/>
          <p:nvPr/>
        </p:nvSpPr>
        <p:spPr>
          <a:xfrm>
            <a:off x="777240" y="3854196"/>
            <a:ext cx="512064" cy="512064"/>
          </a:xfrm>
          <a:prstGeom prst="ellipse">
            <a:avLst/>
          </a:prstGeom>
          <a:solidFill>
            <a:srgbClr val="C89B3C"/>
          </a:solidFill>
          <a:ln/>
        </p:spPr>
      </p:sp>
      <p:pic>
        <p:nvPicPr>
          <p:cNvPr id="20" name="Image 3" descr="/home/claude/manjula/icons/building_navy.png">    </p:cNvPr>
          <p:cNvPicPr>
            <a:picLocks noChangeAspect="1"/>
          </p:cNvPicPr>
          <p:nvPr/>
        </p:nvPicPr>
        <p:blipFill>
          <a:blip r:embed="rId4"/>
          <a:stretch>
            <a:fillRect/>
          </a:stretch>
        </p:blipFill>
        <p:spPr>
          <a:xfrm>
            <a:off x="869412" y="3946368"/>
            <a:ext cx="327721" cy="327721"/>
          </a:xfrm>
          <a:prstGeom prst="rect">
            <a:avLst/>
          </a:prstGeom>
        </p:spPr>
      </p:pic>
      <p:sp>
        <p:nvSpPr>
          <p:cNvPr id="21" name="Text 15"/>
          <p:cNvSpPr/>
          <p:nvPr/>
        </p:nvSpPr>
        <p:spPr>
          <a:xfrm>
            <a:off x="1417320" y="3630168"/>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UPVC windows</a:t>
            </a:r>
            <a:endParaRPr lang="en-US" sz="1250" dirty="0"/>
          </a:p>
        </p:txBody>
      </p:sp>
      <p:sp>
        <p:nvSpPr>
          <p:cNvPr id="22" name="Shape 16"/>
          <p:cNvSpPr/>
          <p:nvPr/>
        </p:nvSpPr>
        <p:spPr>
          <a:xfrm>
            <a:off x="4343400" y="3493008"/>
            <a:ext cx="3520440" cy="1234440"/>
          </a:xfrm>
          <a:prstGeom prst="roundRect">
            <a:avLst>
              <a:gd name="adj" fmla="val 5926"/>
            </a:avLst>
          </a:prstGeom>
          <a:solidFill>
            <a:srgbClr val="1E2E52"/>
          </a:solidFill>
          <a:ln w="12700">
            <a:solidFill>
              <a:srgbClr val="2C3E68"/>
            </a:solidFill>
            <a:prstDash val="solid"/>
          </a:ln>
        </p:spPr>
      </p:sp>
      <p:sp>
        <p:nvSpPr>
          <p:cNvPr id="23" name="Shape 17"/>
          <p:cNvSpPr/>
          <p:nvPr/>
        </p:nvSpPr>
        <p:spPr>
          <a:xfrm>
            <a:off x="4572000" y="3854196"/>
            <a:ext cx="512064" cy="512064"/>
          </a:xfrm>
          <a:prstGeom prst="ellipse">
            <a:avLst/>
          </a:prstGeom>
          <a:solidFill>
            <a:srgbClr val="C89B3C"/>
          </a:solidFill>
          <a:ln/>
        </p:spPr>
      </p:sp>
      <p:pic>
        <p:nvPicPr>
          <p:cNvPr id="24" name="Image 4" descr="/home/claude/manjula/icons/roller_navy.png">    </p:cNvPr>
          <p:cNvPicPr>
            <a:picLocks noChangeAspect="1"/>
          </p:cNvPicPr>
          <p:nvPr/>
        </p:nvPicPr>
        <p:blipFill>
          <a:blip r:embed="rId5"/>
          <a:stretch>
            <a:fillRect/>
          </a:stretch>
        </p:blipFill>
        <p:spPr>
          <a:xfrm>
            <a:off x="4664172" y="3946368"/>
            <a:ext cx="327721" cy="327721"/>
          </a:xfrm>
          <a:prstGeom prst="rect">
            <a:avLst/>
          </a:prstGeom>
        </p:spPr>
      </p:pic>
      <p:sp>
        <p:nvSpPr>
          <p:cNvPr id="25" name="Text 18"/>
          <p:cNvSpPr/>
          <p:nvPr/>
        </p:nvSpPr>
        <p:spPr>
          <a:xfrm>
            <a:off x="5212080" y="3630168"/>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Premium paints</a:t>
            </a:r>
            <a:endParaRPr lang="en-US" sz="1250" dirty="0"/>
          </a:p>
        </p:txBody>
      </p:sp>
      <p:sp>
        <p:nvSpPr>
          <p:cNvPr id="26" name="Shape 19"/>
          <p:cNvSpPr/>
          <p:nvPr/>
        </p:nvSpPr>
        <p:spPr>
          <a:xfrm>
            <a:off x="8138160" y="3493008"/>
            <a:ext cx="3520440" cy="1234440"/>
          </a:xfrm>
          <a:prstGeom prst="roundRect">
            <a:avLst>
              <a:gd name="adj" fmla="val 5926"/>
            </a:avLst>
          </a:prstGeom>
          <a:solidFill>
            <a:srgbClr val="1E2E52"/>
          </a:solidFill>
          <a:ln w="12700">
            <a:solidFill>
              <a:srgbClr val="2C3E68"/>
            </a:solidFill>
            <a:prstDash val="solid"/>
          </a:ln>
        </p:spPr>
      </p:sp>
      <p:sp>
        <p:nvSpPr>
          <p:cNvPr id="27" name="Shape 20"/>
          <p:cNvSpPr/>
          <p:nvPr/>
        </p:nvSpPr>
        <p:spPr>
          <a:xfrm>
            <a:off x="8366760" y="3854196"/>
            <a:ext cx="512064" cy="512064"/>
          </a:xfrm>
          <a:prstGeom prst="ellipse">
            <a:avLst/>
          </a:prstGeom>
          <a:solidFill>
            <a:srgbClr val="C89B3C"/>
          </a:solidFill>
          <a:ln/>
        </p:spPr>
      </p:sp>
      <p:pic>
        <p:nvPicPr>
          <p:cNvPr id="28" name="Image 5" descr="/home/claude/manjula/icons/bolt_navy.png">    </p:cNvPr>
          <p:cNvPicPr>
            <a:picLocks noChangeAspect="1"/>
          </p:cNvPicPr>
          <p:nvPr/>
        </p:nvPicPr>
        <p:blipFill>
          <a:blip r:embed="rId6"/>
          <a:stretch>
            <a:fillRect/>
          </a:stretch>
        </p:blipFill>
        <p:spPr>
          <a:xfrm>
            <a:off x="8458932" y="3946368"/>
            <a:ext cx="327721" cy="327721"/>
          </a:xfrm>
          <a:prstGeom prst="rect">
            <a:avLst/>
          </a:prstGeom>
        </p:spPr>
      </p:pic>
      <p:sp>
        <p:nvSpPr>
          <p:cNvPr id="29" name="Text 21"/>
          <p:cNvSpPr/>
          <p:nvPr/>
        </p:nvSpPr>
        <p:spPr>
          <a:xfrm>
            <a:off x="9006840" y="3630168"/>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Finolex wiring</a:t>
            </a:r>
            <a:endParaRPr lang="en-US" sz="1250" dirty="0"/>
          </a:p>
        </p:txBody>
      </p:sp>
      <p:sp>
        <p:nvSpPr>
          <p:cNvPr id="30" name="Shape 22"/>
          <p:cNvSpPr/>
          <p:nvPr/>
        </p:nvSpPr>
        <p:spPr>
          <a:xfrm>
            <a:off x="548640" y="4928616"/>
            <a:ext cx="3520440" cy="1234440"/>
          </a:xfrm>
          <a:prstGeom prst="roundRect">
            <a:avLst>
              <a:gd name="adj" fmla="val 5926"/>
            </a:avLst>
          </a:prstGeom>
          <a:solidFill>
            <a:srgbClr val="1E2E52"/>
          </a:solidFill>
          <a:ln w="12700">
            <a:solidFill>
              <a:srgbClr val="2C3E68"/>
            </a:solidFill>
            <a:prstDash val="solid"/>
          </a:ln>
        </p:spPr>
      </p:sp>
      <p:sp>
        <p:nvSpPr>
          <p:cNvPr id="31" name="Shape 23"/>
          <p:cNvSpPr/>
          <p:nvPr/>
        </p:nvSpPr>
        <p:spPr>
          <a:xfrm>
            <a:off x="777240" y="5289804"/>
            <a:ext cx="512064" cy="512064"/>
          </a:xfrm>
          <a:prstGeom prst="ellipse">
            <a:avLst/>
          </a:prstGeom>
          <a:solidFill>
            <a:srgbClr val="C89B3C"/>
          </a:solidFill>
          <a:ln/>
        </p:spPr>
      </p:sp>
      <p:pic>
        <p:nvPicPr>
          <p:cNvPr id="32" name="Image 6" descr="/home/claude/manjula/icons/bolt_navy.png">    </p:cNvPr>
          <p:cNvPicPr>
            <a:picLocks noChangeAspect="1"/>
          </p:cNvPicPr>
          <p:nvPr/>
        </p:nvPicPr>
        <p:blipFill>
          <a:blip r:embed="rId7"/>
          <a:stretch>
            <a:fillRect/>
          </a:stretch>
        </p:blipFill>
        <p:spPr>
          <a:xfrm>
            <a:off x="869412" y="5381976"/>
            <a:ext cx="327721" cy="327721"/>
          </a:xfrm>
          <a:prstGeom prst="rect">
            <a:avLst/>
          </a:prstGeom>
        </p:spPr>
      </p:pic>
      <p:sp>
        <p:nvSpPr>
          <p:cNvPr id="33" name="Text 24"/>
          <p:cNvSpPr/>
          <p:nvPr/>
        </p:nvSpPr>
        <p:spPr>
          <a:xfrm>
            <a:off x="1417320" y="5065776"/>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Havells switches</a:t>
            </a:r>
            <a:endParaRPr lang="en-US" sz="1250" dirty="0"/>
          </a:p>
        </p:txBody>
      </p:sp>
      <p:sp>
        <p:nvSpPr>
          <p:cNvPr id="34" name="Shape 25"/>
          <p:cNvSpPr/>
          <p:nvPr/>
        </p:nvSpPr>
        <p:spPr>
          <a:xfrm>
            <a:off x="4343400" y="4928616"/>
            <a:ext cx="3520440" cy="1234440"/>
          </a:xfrm>
          <a:prstGeom prst="roundRect">
            <a:avLst>
              <a:gd name="adj" fmla="val 5926"/>
            </a:avLst>
          </a:prstGeom>
          <a:solidFill>
            <a:srgbClr val="1E2E52"/>
          </a:solidFill>
          <a:ln w="12700">
            <a:solidFill>
              <a:srgbClr val="2C3E68"/>
            </a:solidFill>
            <a:prstDash val="solid"/>
          </a:ln>
        </p:spPr>
      </p:sp>
      <p:sp>
        <p:nvSpPr>
          <p:cNvPr id="35" name="Shape 26"/>
          <p:cNvSpPr/>
          <p:nvPr/>
        </p:nvSpPr>
        <p:spPr>
          <a:xfrm>
            <a:off x="4572000" y="5289804"/>
            <a:ext cx="512064" cy="512064"/>
          </a:xfrm>
          <a:prstGeom prst="ellipse">
            <a:avLst/>
          </a:prstGeom>
          <a:solidFill>
            <a:srgbClr val="C89B3C"/>
          </a:solidFill>
          <a:ln/>
        </p:spPr>
      </p:sp>
      <p:pic>
        <p:nvPicPr>
          <p:cNvPr id="36" name="Image 7" descr="/home/claude/manjula/icons/layer_navy.png">    </p:cNvPr>
          <p:cNvPicPr>
            <a:picLocks noChangeAspect="1"/>
          </p:cNvPicPr>
          <p:nvPr/>
        </p:nvPicPr>
        <p:blipFill>
          <a:blip r:embed="rId8"/>
          <a:stretch>
            <a:fillRect/>
          </a:stretch>
        </p:blipFill>
        <p:spPr>
          <a:xfrm>
            <a:off x="4664172" y="5381976"/>
            <a:ext cx="327721" cy="327721"/>
          </a:xfrm>
          <a:prstGeom prst="rect">
            <a:avLst/>
          </a:prstGeom>
        </p:spPr>
      </p:pic>
      <p:sp>
        <p:nvSpPr>
          <p:cNvPr id="37" name="Text 27"/>
          <p:cNvSpPr/>
          <p:nvPr/>
        </p:nvSpPr>
        <p:spPr>
          <a:xfrm>
            <a:off x="5212080" y="5065776"/>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Premium vitrified flooring</a:t>
            </a:r>
            <a:endParaRPr lang="en-US" sz="1250" dirty="0"/>
          </a:p>
        </p:txBody>
      </p:sp>
      <p:sp>
        <p:nvSpPr>
          <p:cNvPr id="38" name="Shape 28"/>
          <p:cNvSpPr/>
          <p:nvPr/>
        </p:nvSpPr>
        <p:spPr>
          <a:xfrm>
            <a:off x="8138160" y="4928616"/>
            <a:ext cx="3520440" cy="1234440"/>
          </a:xfrm>
          <a:prstGeom prst="roundRect">
            <a:avLst>
              <a:gd name="adj" fmla="val 5926"/>
            </a:avLst>
          </a:prstGeom>
          <a:solidFill>
            <a:srgbClr val="1E2E52"/>
          </a:solidFill>
          <a:ln w="12700">
            <a:solidFill>
              <a:srgbClr val="2C3E68"/>
            </a:solidFill>
            <a:prstDash val="solid"/>
          </a:ln>
        </p:spPr>
      </p:sp>
      <p:sp>
        <p:nvSpPr>
          <p:cNvPr id="39" name="Shape 29"/>
          <p:cNvSpPr/>
          <p:nvPr/>
        </p:nvSpPr>
        <p:spPr>
          <a:xfrm>
            <a:off x="8366760" y="5289804"/>
            <a:ext cx="512064" cy="512064"/>
          </a:xfrm>
          <a:prstGeom prst="ellipse">
            <a:avLst/>
          </a:prstGeom>
          <a:solidFill>
            <a:srgbClr val="C89B3C"/>
          </a:solidFill>
          <a:ln/>
        </p:spPr>
      </p:sp>
      <p:pic>
        <p:nvPicPr>
          <p:cNvPr id="40" name="Image 8" descr="/home/claude/manjula/icons/gem_navy.png">    </p:cNvPr>
          <p:cNvPicPr>
            <a:picLocks noChangeAspect="1"/>
          </p:cNvPicPr>
          <p:nvPr/>
        </p:nvPicPr>
        <p:blipFill>
          <a:blip r:embed="rId9"/>
          <a:stretch>
            <a:fillRect/>
          </a:stretch>
        </p:blipFill>
        <p:spPr>
          <a:xfrm>
            <a:off x="8458932" y="5381976"/>
            <a:ext cx="327721" cy="327721"/>
          </a:xfrm>
          <a:prstGeom prst="rect">
            <a:avLst/>
          </a:prstGeom>
        </p:spPr>
      </p:pic>
      <p:sp>
        <p:nvSpPr>
          <p:cNvPr id="41" name="Text 30"/>
          <p:cNvSpPr/>
          <p:nvPr/>
        </p:nvSpPr>
        <p:spPr>
          <a:xfrm>
            <a:off x="9006840" y="5065776"/>
            <a:ext cx="2423160" cy="960120"/>
          </a:xfrm>
          <a:prstGeom prst="rect">
            <a:avLst/>
          </a:prstGeom>
          <a:noFill/>
          <a:ln/>
        </p:spPr>
        <p:txBody>
          <a:bodyPr wrap="square"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Granite countertops</a:t>
            </a:r>
            <a:endParaRPr lang="en-US" sz="1250" dirty="0"/>
          </a:p>
        </p:txBody>
      </p:sp>
      <p:sp>
        <p:nvSpPr>
          <p:cNvPr id="42" name="Text 31"/>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9BA6C4"/>
                </a:solidFill>
                <a:latin typeface="Calibri" pitchFamily="34" charset="0"/>
                <a:ea typeface="Calibri" pitchFamily="34" charset="-122"/>
                <a:cs typeface="Calibri" pitchFamily="34" charset="-120"/>
              </a:rPr>
              <a:t>MANJULA CONSTRUCTION</a:t>
            </a:r>
            <a:endParaRPr lang="en-US" sz="900" dirty="0"/>
          </a:p>
        </p:txBody>
      </p:sp>
      <p:sp>
        <p:nvSpPr>
          <p:cNvPr id="43" name="Text 3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BA6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13</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LUXURY PLAN</a:t>
            </a:r>
            <a:endParaRPr lang="en-US" sz="1200" dirty="0"/>
          </a:p>
        </p:txBody>
      </p:sp>
      <p:sp>
        <p:nvSpPr>
          <p:cNvPr id="4" name="Text 2"/>
          <p:cNvSpPr/>
          <p:nvPr/>
        </p:nvSpPr>
        <p:spPr>
          <a:xfrm>
            <a:off x="548640" y="914400"/>
            <a:ext cx="54864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Luxury Plan</a:t>
            </a:r>
            <a:endParaRPr lang="en-US" sz="2600" dirty="0"/>
          </a:p>
        </p:txBody>
      </p:sp>
      <p:sp>
        <p:nvSpPr>
          <p:cNvPr id="5" name="Text 3"/>
          <p:cNvSpPr/>
          <p:nvPr/>
        </p:nvSpPr>
        <p:spPr>
          <a:xfrm>
            <a:off x="548640" y="1417320"/>
            <a:ext cx="3657600" cy="365760"/>
          </a:xfrm>
          <a:prstGeom prst="rect">
            <a:avLst/>
          </a:prstGeom>
          <a:noFill/>
          <a:ln/>
        </p:spPr>
        <p:txBody>
          <a:bodyPr wrap="square" rtlCol="0" anchor="ctr"/>
          <a:lstStyle/>
          <a:p>
            <a:pPr indent="0" marL="0">
              <a:buNone/>
            </a:pPr>
            <a:r>
              <a:rPr lang="en-US" sz="2000" b="1" dirty="0">
                <a:solidFill>
                  <a:srgbClr val="C89B3C"/>
                </a:solidFill>
                <a:latin typeface="Cambria" pitchFamily="34" charset="0"/>
                <a:ea typeface="Cambria" pitchFamily="34" charset="-122"/>
                <a:cs typeface="Cambria" pitchFamily="34" charset="-120"/>
              </a:rPr>
              <a:t>₹2,499</a:t>
            </a:r>
            <a:pPr indent="0" marL="0">
              <a:buNone/>
            </a:pPr>
            <a:r>
              <a:rPr lang="en-US" sz="1200" dirty="0">
                <a:solidFill>
                  <a:srgbClr val="6E6E72"/>
                </a:solidFill>
                <a:latin typeface="Calibri" pitchFamily="34" charset="0"/>
                <a:ea typeface="Calibri" pitchFamily="34" charset="-122"/>
                <a:cs typeface="Calibri" pitchFamily="34" charset="-120"/>
              </a:rPr>
              <a:t> / Sq.Ft.</a:t>
            </a:r>
            <a:endParaRPr lang="en-US" sz="2000" dirty="0"/>
          </a:p>
        </p:txBody>
      </p:sp>
      <p:sp>
        <p:nvSpPr>
          <p:cNvPr id="6" name="Shape 4"/>
          <p:cNvSpPr/>
          <p:nvPr/>
        </p:nvSpPr>
        <p:spPr>
          <a:xfrm>
            <a:off x="548640" y="1965960"/>
            <a:ext cx="5394960" cy="4343400"/>
          </a:xfrm>
          <a:prstGeom prst="roundRect">
            <a:avLst>
              <a:gd name="adj" fmla="val 1684"/>
            </a:avLst>
          </a:prstGeom>
          <a:solidFill>
            <a:srgbClr val="F4F4F2"/>
          </a:solidFill>
          <a:ln/>
        </p:spPr>
      </p:sp>
      <p:sp>
        <p:nvSpPr>
          <p:cNvPr id="7" name="Shape 5"/>
          <p:cNvSpPr/>
          <p:nvPr/>
        </p:nvSpPr>
        <p:spPr>
          <a:xfrm>
            <a:off x="868680" y="2240280"/>
            <a:ext cx="548640" cy="548640"/>
          </a:xfrm>
          <a:prstGeom prst="ellipse">
            <a:avLst/>
          </a:prstGeom>
          <a:solidFill>
            <a:srgbClr val="16233F"/>
          </a:solidFill>
          <a:ln/>
        </p:spPr>
      </p:sp>
      <p:pic>
        <p:nvPicPr>
          <p:cNvPr id="8" name="Image 0" descr="/home/claude/manjula/icons/award_white.png">    </p:cNvPr>
          <p:cNvPicPr>
            <a:picLocks noChangeAspect="1"/>
          </p:cNvPicPr>
          <p:nvPr/>
        </p:nvPicPr>
        <p:blipFill>
          <a:blip r:embed="rId1"/>
          <a:stretch>
            <a:fillRect/>
          </a:stretch>
        </p:blipFill>
        <p:spPr>
          <a:xfrm>
            <a:off x="967435" y="2339035"/>
            <a:ext cx="351130" cy="351130"/>
          </a:xfrm>
          <a:prstGeom prst="rect">
            <a:avLst/>
          </a:prstGeom>
        </p:spPr>
      </p:pic>
      <p:sp>
        <p:nvSpPr>
          <p:cNvPr id="9" name="Text 6"/>
          <p:cNvSpPr/>
          <p:nvPr/>
        </p:nvSpPr>
        <p:spPr>
          <a:xfrm>
            <a:off x="1554480" y="2240280"/>
            <a:ext cx="4114800" cy="548640"/>
          </a:xfrm>
          <a:prstGeom prst="rect">
            <a:avLst/>
          </a:prstGeom>
          <a:noFill/>
          <a:ln/>
        </p:spPr>
        <p:txBody>
          <a:bodyPr wrap="square"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Premium Materials</a:t>
            </a:r>
            <a:endParaRPr lang="en-US" sz="1700" dirty="0"/>
          </a:p>
        </p:txBody>
      </p:sp>
      <p:pic>
        <p:nvPicPr>
          <p:cNvPr id="10" name="Image 1" descr="/home/claude/manjula/icons/check_gold.png">    </p:cNvPr>
          <p:cNvPicPr>
            <a:picLocks noChangeAspect="1"/>
          </p:cNvPicPr>
          <p:nvPr/>
        </p:nvPicPr>
        <p:blipFill>
          <a:blip r:embed="rId2"/>
          <a:stretch>
            <a:fillRect/>
          </a:stretch>
        </p:blipFill>
        <p:spPr>
          <a:xfrm>
            <a:off x="868680" y="3081528"/>
            <a:ext cx="219456" cy="219456"/>
          </a:xfrm>
          <a:prstGeom prst="rect">
            <a:avLst/>
          </a:prstGeom>
        </p:spPr>
      </p:pic>
      <p:sp>
        <p:nvSpPr>
          <p:cNvPr id="11" name="Text 7"/>
          <p:cNvSpPr/>
          <p:nvPr/>
        </p:nvSpPr>
        <p:spPr>
          <a:xfrm>
            <a:off x="1207008" y="3063240"/>
            <a:ext cx="4480560" cy="365760"/>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UltraTech cement</a:t>
            </a:r>
            <a:endParaRPr lang="en-US" sz="1350" dirty="0"/>
          </a:p>
        </p:txBody>
      </p:sp>
      <p:pic>
        <p:nvPicPr>
          <p:cNvPr id="12" name="Image 2" descr="/home/claude/manjula/icons/check_gold.png">    </p:cNvPr>
          <p:cNvPicPr>
            <a:picLocks noChangeAspect="1"/>
          </p:cNvPicPr>
          <p:nvPr/>
        </p:nvPicPr>
        <p:blipFill>
          <a:blip r:embed="rId3"/>
          <a:stretch>
            <a:fillRect/>
          </a:stretch>
        </p:blipFill>
        <p:spPr>
          <a:xfrm>
            <a:off x="868680" y="3584448"/>
            <a:ext cx="219456" cy="219456"/>
          </a:xfrm>
          <a:prstGeom prst="rect">
            <a:avLst/>
          </a:prstGeom>
        </p:spPr>
      </p:pic>
      <p:sp>
        <p:nvSpPr>
          <p:cNvPr id="13" name="Text 8"/>
          <p:cNvSpPr/>
          <p:nvPr/>
        </p:nvSpPr>
        <p:spPr>
          <a:xfrm>
            <a:off x="1207008" y="3566160"/>
            <a:ext cx="4480560" cy="365760"/>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Tata Steel</a:t>
            </a:r>
            <a:endParaRPr lang="en-US" sz="1350" dirty="0"/>
          </a:p>
        </p:txBody>
      </p:sp>
      <p:pic>
        <p:nvPicPr>
          <p:cNvPr id="14" name="Image 3" descr="/home/claude/manjula/icons/check_gold.png">    </p:cNvPr>
          <p:cNvPicPr>
            <a:picLocks noChangeAspect="1"/>
          </p:cNvPicPr>
          <p:nvPr/>
        </p:nvPicPr>
        <p:blipFill>
          <a:blip r:embed="rId4"/>
          <a:stretch>
            <a:fillRect/>
          </a:stretch>
        </p:blipFill>
        <p:spPr>
          <a:xfrm>
            <a:off x="868680" y="4087368"/>
            <a:ext cx="219456" cy="219456"/>
          </a:xfrm>
          <a:prstGeom prst="rect">
            <a:avLst/>
          </a:prstGeom>
        </p:spPr>
      </p:pic>
      <p:sp>
        <p:nvSpPr>
          <p:cNvPr id="15" name="Text 9"/>
          <p:cNvSpPr/>
          <p:nvPr/>
        </p:nvSpPr>
        <p:spPr>
          <a:xfrm>
            <a:off x="1207008" y="4069080"/>
            <a:ext cx="4480560" cy="365760"/>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Supreme pipes</a:t>
            </a:r>
            <a:endParaRPr lang="en-US" sz="1350" dirty="0"/>
          </a:p>
        </p:txBody>
      </p:sp>
      <p:pic>
        <p:nvPicPr>
          <p:cNvPr id="16" name="Image 4" descr="/home/claude/manjula/icons/check_gold.png">    </p:cNvPr>
          <p:cNvPicPr>
            <a:picLocks noChangeAspect="1"/>
          </p:cNvPicPr>
          <p:nvPr/>
        </p:nvPicPr>
        <p:blipFill>
          <a:blip r:embed="rId5"/>
          <a:stretch>
            <a:fillRect/>
          </a:stretch>
        </p:blipFill>
        <p:spPr>
          <a:xfrm>
            <a:off x="868680" y="4590288"/>
            <a:ext cx="219456" cy="219456"/>
          </a:xfrm>
          <a:prstGeom prst="rect">
            <a:avLst/>
          </a:prstGeom>
        </p:spPr>
      </p:pic>
      <p:sp>
        <p:nvSpPr>
          <p:cNvPr id="17" name="Text 10"/>
          <p:cNvSpPr/>
          <p:nvPr/>
        </p:nvSpPr>
        <p:spPr>
          <a:xfrm>
            <a:off x="1207008" y="4572000"/>
            <a:ext cx="4480560" cy="365760"/>
          </a:xfrm>
          <a:prstGeom prst="rect">
            <a:avLst/>
          </a:prstGeom>
          <a:noFill/>
          <a:ln/>
        </p:spPr>
        <p:txBody>
          <a:bodyPr wrap="square" rtlCol="0" anchor="ctr"/>
          <a:lstStyle/>
          <a:p>
            <a:pPr indent="0" marL="0">
              <a:buNone/>
            </a:pPr>
            <a:r>
              <a:rPr lang="en-US" sz="1350" dirty="0">
                <a:solidFill>
                  <a:srgbClr val="26262A"/>
                </a:solidFill>
                <a:latin typeface="Calibri" pitchFamily="34" charset="0"/>
                <a:ea typeface="Calibri" pitchFamily="34" charset="-122"/>
                <a:cs typeface="Calibri" pitchFamily="34" charset="-120"/>
              </a:rPr>
              <a:t>Jaquar sanitary fittings</a:t>
            </a:r>
            <a:endParaRPr lang="en-US" sz="1350" dirty="0"/>
          </a:p>
        </p:txBody>
      </p:sp>
      <p:sp>
        <p:nvSpPr>
          <p:cNvPr id="18" name="Shape 11"/>
          <p:cNvSpPr/>
          <p:nvPr/>
        </p:nvSpPr>
        <p:spPr>
          <a:xfrm>
            <a:off x="6217920" y="1965960"/>
            <a:ext cx="5394960" cy="4343400"/>
          </a:xfrm>
          <a:prstGeom prst="roundRect">
            <a:avLst>
              <a:gd name="adj" fmla="val 1684"/>
            </a:avLst>
          </a:prstGeom>
          <a:solidFill>
            <a:srgbClr val="16233F"/>
          </a:solidFill>
          <a:ln/>
        </p:spPr>
      </p:sp>
      <p:sp>
        <p:nvSpPr>
          <p:cNvPr id="19" name="Shape 12"/>
          <p:cNvSpPr/>
          <p:nvPr/>
        </p:nvSpPr>
        <p:spPr>
          <a:xfrm>
            <a:off x="6537960" y="2240280"/>
            <a:ext cx="548640" cy="548640"/>
          </a:xfrm>
          <a:prstGeom prst="ellipse">
            <a:avLst/>
          </a:prstGeom>
          <a:solidFill>
            <a:srgbClr val="C89B3C"/>
          </a:solidFill>
          <a:ln/>
        </p:spPr>
      </p:sp>
      <p:pic>
        <p:nvPicPr>
          <p:cNvPr id="20" name="Image 5" descr="/home/claude/manjula/icons/layer_navy.png">    </p:cNvPr>
          <p:cNvPicPr>
            <a:picLocks noChangeAspect="1"/>
          </p:cNvPicPr>
          <p:nvPr/>
        </p:nvPicPr>
        <p:blipFill>
          <a:blip r:embed="rId6"/>
          <a:stretch>
            <a:fillRect/>
          </a:stretch>
        </p:blipFill>
        <p:spPr>
          <a:xfrm>
            <a:off x="6636715" y="2339035"/>
            <a:ext cx="351130" cy="351130"/>
          </a:xfrm>
          <a:prstGeom prst="rect">
            <a:avLst/>
          </a:prstGeom>
        </p:spPr>
      </p:pic>
      <p:sp>
        <p:nvSpPr>
          <p:cNvPr id="21" name="Text 13"/>
          <p:cNvSpPr/>
          <p:nvPr/>
        </p:nvSpPr>
        <p:spPr>
          <a:xfrm>
            <a:off x="7223760" y="2240280"/>
            <a:ext cx="411480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Flooring &amp; Finish</a:t>
            </a:r>
            <a:endParaRPr lang="en-US" sz="1700" dirty="0"/>
          </a:p>
        </p:txBody>
      </p:sp>
      <p:pic>
        <p:nvPicPr>
          <p:cNvPr id="22" name="Image 6" descr="/home/claude/manjula/icons/check_gold.png">    </p:cNvPr>
          <p:cNvPicPr>
            <a:picLocks noChangeAspect="1"/>
          </p:cNvPicPr>
          <p:nvPr/>
        </p:nvPicPr>
        <p:blipFill>
          <a:blip r:embed="rId7"/>
          <a:stretch>
            <a:fillRect/>
          </a:stretch>
        </p:blipFill>
        <p:spPr>
          <a:xfrm>
            <a:off x="6537960" y="3081528"/>
            <a:ext cx="219456" cy="219456"/>
          </a:xfrm>
          <a:prstGeom prst="rect">
            <a:avLst/>
          </a:prstGeom>
        </p:spPr>
      </p:pic>
      <p:sp>
        <p:nvSpPr>
          <p:cNvPr id="23" name="Text 14"/>
          <p:cNvSpPr/>
          <p:nvPr/>
        </p:nvSpPr>
        <p:spPr>
          <a:xfrm>
            <a:off x="6876288" y="3063240"/>
            <a:ext cx="4572000" cy="365760"/>
          </a:xfrm>
          <a:prstGeom prst="rect">
            <a:avLst/>
          </a:prstGeom>
          <a:noFill/>
          <a:ln/>
        </p:spPr>
        <p:txBody>
          <a:bodyPr wrap="square" rtlCol="0" anchor="ctr"/>
          <a:lstStyle/>
          <a:p>
            <a:pPr indent="0" marL="0">
              <a:buNone/>
            </a:pPr>
            <a:r>
              <a:rPr lang="en-US" sz="1350" dirty="0">
                <a:solidFill>
                  <a:srgbClr val="D8DEED"/>
                </a:solidFill>
                <a:latin typeface="Calibri" pitchFamily="34" charset="0"/>
                <a:ea typeface="Calibri" pitchFamily="34" charset="-122"/>
                <a:cs typeface="Calibri" pitchFamily="34" charset="-120"/>
              </a:rPr>
              <a:t>Kitchen wall tiles up to ₹180/Sq.Ft.</a:t>
            </a:r>
            <a:endParaRPr lang="en-US" sz="1350" dirty="0"/>
          </a:p>
        </p:txBody>
      </p:sp>
      <p:pic>
        <p:nvPicPr>
          <p:cNvPr id="24" name="Image 7" descr="/home/claude/manjula/icons/check_gold.png">    </p:cNvPr>
          <p:cNvPicPr>
            <a:picLocks noChangeAspect="1"/>
          </p:cNvPicPr>
          <p:nvPr/>
        </p:nvPicPr>
        <p:blipFill>
          <a:blip r:embed="rId8"/>
          <a:stretch>
            <a:fillRect/>
          </a:stretch>
        </p:blipFill>
        <p:spPr>
          <a:xfrm>
            <a:off x="6537960" y="3584448"/>
            <a:ext cx="219456" cy="219456"/>
          </a:xfrm>
          <a:prstGeom prst="rect">
            <a:avLst/>
          </a:prstGeom>
        </p:spPr>
      </p:pic>
      <p:sp>
        <p:nvSpPr>
          <p:cNvPr id="25" name="Text 15"/>
          <p:cNvSpPr/>
          <p:nvPr/>
        </p:nvSpPr>
        <p:spPr>
          <a:xfrm>
            <a:off x="6876288" y="3566160"/>
            <a:ext cx="4572000" cy="365760"/>
          </a:xfrm>
          <a:prstGeom prst="rect">
            <a:avLst/>
          </a:prstGeom>
          <a:noFill/>
          <a:ln/>
        </p:spPr>
        <p:txBody>
          <a:bodyPr wrap="square" rtlCol="0" anchor="ctr"/>
          <a:lstStyle/>
          <a:p>
            <a:pPr indent="0" marL="0">
              <a:buNone/>
            </a:pPr>
            <a:r>
              <a:rPr lang="en-US" sz="1350" dirty="0">
                <a:solidFill>
                  <a:srgbClr val="D8DEED"/>
                </a:solidFill>
                <a:latin typeface="Calibri" pitchFamily="34" charset="0"/>
                <a:ea typeface="Calibri" pitchFamily="34" charset="-122"/>
                <a:cs typeface="Calibri" pitchFamily="34" charset="-120"/>
              </a:rPr>
              <a:t>Premium vitrified flooring</a:t>
            </a:r>
            <a:endParaRPr lang="en-US" sz="1350" dirty="0"/>
          </a:p>
        </p:txBody>
      </p:sp>
      <p:pic>
        <p:nvPicPr>
          <p:cNvPr id="26" name="Image 8" descr="/home/claude/manjula/icons/check_gold.png">    </p:cNvPr>
          <p:cNvPicPr>
            <a:picLocks noChangeAspect="1"/>
          </p:cNvPicPr>
          <p:nvPr/>
        </p:nvPicPr>
        <p:blipFill>
          <a:blip r:embed="rId9"/>
          <a:stretch>
            <a:fillRect/>
          </a:stretch>
        </p:blipFill>
        <p:spPr>
          <a:xfrm>
            <a:off x="6537960" y="4087368"/>
            <a:ext cx="219456" cy="219456"/>
          </a:xfrm>
          <a:prstGeom prst="rect">
            <a:avLst/>
          </a:prstGeom>
        </p:spPr>
      </p:pic>
      <p:sp>
        <p:nvSpPr>
          <p:cNvPr id="27" name="Text 16"/>
          <p:cNvSpPr/>
          <p:nvPr/>
        </p:nvSpPr>
        <p:spPr>
          <a:xfrm>
            <a:off x="6876288" y="4069080"/>
            <a:ext cx="4572000" cy="365760"/>
          </a:xfrm>
          <a:prstGeom prst="rect">
            <a:avLst/>
          </a:prstGeom>
          <a:noFill/>
          <a:ln/>
        </p:spPr>
        <p:txBody>
          <a:bodyPr wrap="square" rtlCol="0" anchor="ctr"/>
          <a:lstStyle/>
          <a:p>
            <a:pPr indent="0" marL="0">
              <a:buNone/>
            </a:pPr>
            <a:r>
              <a:rPr lang="en-US" sz="1350" dirty="0">
                <a:solidFill>
                  <a:srgbClr val="D8DEED"/>
                </a:solidFill>
                <a:latin typeface="Calibri" pitchFamily="34" charset="0"/>
                <a:ea typeface="Calibri" pitchFamily="34" charset="-122"/>
                <a:cs typeface="Calibri" pitchFamily="34" charset="-120"/>
              </a:rPr>
              <a:t>Granite countertops</a:t>
            </a:r>
            <a:endParaRPr lang="en-US" sz="1350" dirty="0"/>
          </a:p>
        </p:txBody>
      </p:sp>
      <p:sp>
        <p:nvSpPr>
          <p:cNvPr id="28" name="Text 17"/>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29"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14</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RESIDENTIAL PROJECTS</a:t>
            </a:r>
            <a:endParaRPr lang="en-US" sz="1200" dirty="0"/>
          </a:p>
        </p:txBody>
      </p:sp>
      <p:sp>
        <p:nvSpPr>
          <p:cNvPr id="4" name="Text 2"/>
          <p:cNvSpPr/>
          <p:nvPr/>
        </p:nvSpPr>
        <p:spPr>
          <a:xfrm>
            <a:off x="548640" y="914400"/>
            <a:ext cx="73152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Project Gallery</a:t>
            </a:r>
            <a:endParaRPr lang="en-US" sz="2600" dirty="0"/>
          </a:p>
        </p:txBody>
      </p:sp>
      <p:sp>
        <p:nvSpPr>
          <p:cNvPr id="5" name="Shape 3"/>
          <p:cNvSpPr/>
          <p:nvPr/>
        </p:nvSpPr>
        <p:spPr>
          <a:xfrm>
            <a:off x="548640" y="1737360"/>
            <a:ext cx="5349240" cy="2148840"/>
          </a:xfrm>
          <a:prstGeom prst="roundRect">
            <a:avLst>
              <a:gd name="adj" fmla="val 3404"/>
            </a:avLst>
          </a:prstGeom>
          <a:solidFill>
            <a:srgbClr val="F4F4F2"/>
          </a:solidFill>
          <a:ln/>
        </p:spPr>
      </p:sp>
      <p:sp>
        <p:nvSpPr>
          <p:cNvPr id="6" name="Shape 4"/>
          <p:cNvSpPr/>
          <p:nvPr/>
        </p:nvSpPr>
        <p:spPr>
          <a:xfrm>
            <a:off x="822960" y="2308860"/>
            <a:ext cx="1005840" cy="1005840"/>
          </a:xfrm>
          <a:prstGeom prst="roundRect">
            <a:avLst>
              <a:gd name="adj" fmla="val 7273"/>
            </a:avLst>
          </a:prstGeom>
          <a:solidFill>
            <a:srgbClr val="16233F"/>
          </a:solidFill>
          <a:ln/>
        </p:spPr>
      </p:sp>
      <p:pic>
        <p:nvPicPr>
          <p:cNvPr id="7" name="Image 0" descr="/home/claude/manjula/icons/home_white.png">    </p:cNvPr>
          <p:cNvPicPr>
            <a:picLocks noChangeAspect="1"/>
          </p:cNvPicPr>
          <p:nvPr/>
        </p:nvPicPr>
        <p:blipFill>
          <a:blip r:embed="rId1"/>
          <a:stretch>
            <a:fillRect/>
          </a:stretch>
        </p:blipFill>
        <p:spPr>
          <a:xfrm>
            <a:off x="1097280" y="2583180"/>
            <a:ext cx="457200" cy="457200"/>
          </a:xfrm>
          <a:prstGeom prst="rect">
            <a:avLst/>
          </a:prstGeom>
        </p:spPr>
      </p:pic>
      <p:sp>
        <p:nvSpPr>
          <p:cNvPr id="8" name="Text 5"/>
          <p:cNvSpPr/>
          <p:nvPr/>
        </p:nvSpPr>
        <p:spPr>
          <a:xfrm>
            <a:off x="2057400" y="2308860"/>
            <a:ext cx="3520440" cy="457200"/>
          </a:xfrm>
          <a:prstGeom prst="rect">
            <a:avLst/>
          </a:prstGeom>
          <a:noFill/>
          <a:ln/>
        </p:spPr>
        <p:txBody>
          <a:bodyPr wrap="square"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Villa Construction</a:t>
            </a:r>
            <a:endParaRPr lang="en-US" sz="1700" dirty="0"/>
          </a:p>
        </p:txBody>
      </p:sp>
      <p:sp>
        <p:nvSpPr>
          <p:cNvPr id="9" name="Text 6"/>
          <p:cNvSpPr/>
          <p:nvPr/>
        </p:nvSpPr>
        <p:spPr>
          <a:xfrm>
            <a:off x="2057400" y="2793492"/>
            <a:ext cx="3520440" cy="502920"/>
          </a:xfrm>
          <a:prstGeom prst="rect">
            <a:avLst/>
          </a:prstGeom>
          <a:noFill/>
          <a:ln/>
        </p:spPr>
        <p:txBody>
          <a:bodyPr wrap="square" rtlCol="0" anchor="ctr"/>
          <a:lstStyle/>
          <a:p>
            <a:pPr indent="0" marL="0">
              <a:lnSpc>
                <a:spcPct val="125000"/>
              </a:lnSpc>
              <a:buNone/>
            </a:pPr>
            <a:r>
              <a:rPr lang="en-US" sz="1200" dirty="0">
                <a:solidFill>
                  <a:srgbClr val="6E6E72"/>
                </a:solidFill>
                <a:latin typeface="Calibri" pitchFamily="34" charset="0"/>
                <a:ea typeface="Calibri" pitchFamily="34" charset="-122"/>
                <a:cs typeface="Calibri" pitchFamily="34" charset="-120"/>
              </a:rPr>
              <a:t>Modern luxury residences.</a:t>
            </a:r>
            <a:endParaRPr lang="en-US" sz="1200" dirty="0"/>
          </a:p>
        </p:txBody>
      </p:sp>
      <p:sp>
        <p:nvSpPr>
          <p:cNvPr id="10" name="Shape 7"/>
          <p:cNvSpPr/>
          <p:nvPr/>
        </p:nvSpPr>
        <p:spPr>
          <a:xfrm>
            <a:off x="6172200" y="1737360"/>
            <a:ext cx="5349240" cy="2148840"/>
          </a:xfrm>
          <a:prstGeom prst="roundRect">
            <a:avLst>
              <a:gd name="adj" fmla="val 3404"/>
            </a:avLst>
          </a:prstGeom>
          <a:solidFill>
            <a:srgbClr val="F4F4F2"/>
          </a:solidFill>
          <a:ln/>
        </p:spPr>
      </p:sp>
      <p:sp>
        <p:nvSpPr>
          <p:cNvPr id="11" name="Shape 8"/>
          <p:cNvSpPr/>
          <p:nvPr/>
        </p:nvSpPr>
        <p:spPr>
          <a:xfrm>
            <a:off x="6446520" y="2308860"/>
            <a:ext cx="1005840" cy="1005840"/>
          </a:xfrm>
          <a:prstGeom prst="roundRect">
            <a:avLst>
              <a:gd name="adj" fmla="val 7273"/>
            </a:avLst>
          </a:prstGeom>
          <a:solidFill>
            <a:srgbClr val="16233F"/>
          </a:solidFill>
          <a:ln/>
        </p:spPr>
      </p:sp>
      <p:pic>
        <p:nvPicPr>
          <p:cNvPr id="12" name="Image 1" descr="/home/claude/manjula/icons/building_white.png">    </p:cNvPr>
          <p:cNvPicPr>
            <a:picLocks noChangeAspect="1"/>
          </p:cNvPicPr>
          <p:nvPr/>
        </p:nvPicPr>
        <p:blipFill>
          <a:blip r:embed="rId2"/>
          <a:stretch>
            <a:fillRect/>
          </a:stretch>
        </p:blipFill>
        <p:spPr>
          <a:xfrm>
            <a:off x="6720840" y="2583180"/>
            <a:ext cx="457200" cy="457200"/>
          </a:xfrm>
          <a:prstGeom prst="rect">
            <a:avLst/>
          </a:prstGeom>
        </p:spPr>
      </p:pic>
      <p:sp>
        <p:nvSpPr>
          <p:cNvPr id="13" name="Text 9"/>
          <p:cNvSpPr/>
          <p:nvPr/>
        </p:nvSpPr>
        <p:spPr>
          <a:xfrm>
            <a:off x="7680960" y="2308860"/>
            <a:ext cx="3520440" cy="457200"/>
          </a:xfrm>
          <a:prstGeom prst="rect">
            <a:avLst/>
          </a:prstGeom>
          <a:noFill/>
          <a:ln/>
        </p:spPr>
        <p:txBody>
          <a:bodyPr wrap="square"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Independent Houses</a:t>
            </a:r>
            <a:endParaRPr lang="en-US" sz="1700" dirty="0"/>
          </a:p>
        </p:txBody>
      </p:sp>
      <p:sp>
        <p:nvSpPr>
          <p:cNvPr id="14" name="Text 10"/>
          <p:cNvSpPr/>
          <p:nvPr/>
        </p:nvSpPr>
        <p:spPr>
          <a:xfrm>
            <a:off x="7680960" y="2793492"/>
            <a:ext cx="3520440" cy="502920"/>
          </a:xfrm>
          <a:prstGeom prst="rect">
            <a:avLst/>
          </a:prstGeom>
          <a:noFill/>
          <a:ln/>
        </p:spPr>
        <p:txBody>
          <a:bodyPr wrap="square" rtlCol="0" anchor="ctr"/>
          <a:lstStyle/>
          <a:p>
            <a:pPr indent="0" marL="0">
              <a:lnSpc>
                <a:spcPct val="125000"/>
              </a:lnSpc>
              <a:buNone/>
            </a:pPr>
            <a:r>
              <a:rPr lang="en-US" sz="1200" dirty="0">
                <a:solidFill>
                  <a:srgbClr val="6E6E72"/>
                </a:solidFill>
                <a:latin typeface="Calibri" pitchFamily="34" charset="0"/>
                <a:ea typeface="Calibri" pitchFamily="34" charset="-122"/>
                <a:cs typeface="Calibri" pitchFamily="34" charset="-120"/>
              </a:rPr>
              <a:t>Customized residential projects.</a:t>
            </a:r>
            <a:endParaRPr lang="en-US" sz="1200" dirty="0"/>
          </a:p>
        </p:txBody>
      </p:sp>
      <p:sp>
        <p:nvSpPr>
          <p:cNvPr id="15" name="Shape 11"/>
          <p:cNvSpPr/>
          <p:nvPr/>
        </p:nvSpPr>
        <p:spPr>
          <a:xfrm>
            <a:off x="548640" y="4142232"/>
            <a:ext cx="5349240" cy="2148840"/>
          </a:xfrm>
          <a:prstGeom prst="roundRect">
            <a:avLst>
              <a:gd name="adj" fmla="val 3404"/>
            </a:avLst>
          </a:prstGeom>
          <a:solidFill>
            <a:srgbClr val="F4F4F2"/>
          </a:solidFill>
          <a:ln/>
        </p:spPr>
      </p:sp>
      <p:sp>
        <p:nvSpPr>
          <p:cNvPr id="16" name="Shape 12"/>
          <p:cNvSpPr/>
          <p:nvPr/>
        </p:nvSpPr>
        <p:spPr>
          <a:xfrm>
            <a:off x="822960" y="4713732"/>
            <a:ext cx="1005840" cy="1005840"/>
          </a:xfrm>
          <a:prstGeom prst="roundRect">
            <a:avLst>
              <a:gd name="adj" fmla="val 7273"/>
            </a:avLst>
          </a:prstGeom>
          <a:solidFill>
            <a:srgbClr val="16233F"/>
          </a:solidFill>
          <a:ln/>
        </p:spPr>
      </p:sp>
      <p:pic>
        <p:nvPicPr>
          <p:cNvPr id="17" name="Image 2" descr="/home/claude/manjula/icons/city_white.png">    </p:cNvPr>
          <p:cNvPicPr>
            <a:picLocks noChangeAspect="1"/>
          </p:cNvPicPr>
          <p:nvPr/>
        </p:nvPicPr>
        <p:blipFill>
          <a:blip r:embed="rId3"/>
          <a:stretch>
            <a:fillRect/>
          </a:stretch>
        </p:blipFill>
        <p:spPr>
          <a:xfrm>
            <a:off x="1097280" y="4988052"/>
            <a:ext cx="457200" cy="457200"/>
          </a:xfrm>
          <a:prstGeom prst="rect">
            <a:avLst/>
          </a:prstGeom>
        </p:spPr>
      </p:pic>
      <p:sp>
        <p:nvSpPr>
          <p:cNvPr id="18" name="Text 13"/>
          <p:cNvSpPr/>
          <p:nvPr/>
        </p:nvSpPr>
        <p:spPr>
          <a:xfrm>
            <a:off x="2057400" y="4713732"/>
            <a:ext cx="3520440" cy="457200"/>
          </a:xfrm>
          <a:prstGeom prst="rect">
            <a:avLst/>
          </a:prstGeom>
          <a:noFill/>
          <a:ln/>
        </p:spPr>
        <p:txBody>
          <a:bodyPr wrap="square"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Duplex Homes</a:t>
            </a:r>
            <a:endParaRPr lang="en-US" sz="1700" dirty="0"/>
          </a:p>
        </p:txBody>
      </p:sp>
      <p:sp>
        <p:nvSpPr>
          <p:cNvPr id="19" name="Text 14"/>
          <p:cNvSpPr/>
          <p:nvPr/>
        </p:nvSpPr>
        <p:spPr>
          <a:xfrm>
            <a:off x="2057400" y="5198364"/>
            <a:ext cx="3520440" cy="502920"/>
          </a:xfrm>
          <a:prstGeom prst="rect">
            <a:avLst/>
          </a:prstGeom>
          <a:noFill/>
          <a:ln/>
        </p:spPr>
        <p:txBody>
          <a:bodyPr wrap="square" rtlCol="0" anchor="ctr"/>
          <a:lstStyle/>
          <a:p>
            <a:pPr indent="0" marL="0">
              <a:lnSpc>
                <a:spcPct val="125000"/>
              </a:lnSpc>
              <a:buNone/>
            </a:pPr>
            <a:r>
              <a:rPr lang="en-US" sz="1200" dirty="0">
                <a:solidFill>
                  <a:srgbClr val="6E6E72"/>
                </a:solidFill>
                <a:latin typeface="Calibri" pitchFamily="34" charset="0"/>
                <a:ea typeface="Calibri" pitchFamily="34" charset="-122"/>
                <a:cs typeface="Calibri" pitchFamily="34" charset="-120"/>
              </a:rPr>
              <a:t>Functional and elegant designs.</a:t>
            </a:r>
            <a:endParaRPr lang="en-US" sz="1200" dirty="0"/>
          </a:p>
        </p:txBody>
      </p:sp>
      <p:sp>
        <p:nvSpPr>
          <p:cNvPr id="20" name="Shape 15"/>
          <p:cNvSpPr/>
          <p:nvPr/>
        </p:nvSpPr>
        <p:spPr>
          <a:xfrm>
            <a:off x="6172200" y="4142232"/>
            <a:ext cx="5349240" cy="2148840"/>
          </a:xfrm>
          <a:prstGeom prst="roundRect">
            <a:avLst>
              <a:gd name="adj" fmla="val 3404"/>
            </a:avLst>
          </a:prstGeom>
          <a:solidFill>
            <a:srgbClr val="F4F4F2"/>
          </a:solidFill>
          <a:ln/>
        </p:spPr>
      </p:sp>
      <p:sp>
        <p:nvSpPr>
          <p:cNvPr id="21" name="Shape 16"/>
          <p:cNvSpPr/>
          <p:nvPr/>
        </p:nvSpPr>
        <p:spPr>
          <a:xfrm>
            <a:off x="6446520" y="4713732"/>
            <a:ext cx="1005840" cy="1005840"/>
          </a:xfrm>
          <a:prstGeom prst="roundRect">
            <a:avLst>
              <a:gd name="adj" fmla="val 7273"/>
            </a:avLst>
          </a:prstGeom>
          <a:solidFill>
            <a:srgbClr val="16233F"/>
          </a:solidFill>
          <a:ln/>
        </p:spPr>
      </p:sp>
      <p:pic>
        <p:nvPicPr>
          <p:cNvPr id="22" name="Image 3" descr="/home/claude/manjula/icons/cube_white.png">    </p:cNvPr>
          <p:cNvPicPr>
            <a:picLocks noChangeAspect="1"/>
          </p:cNvPicPr>
          <p:nvPr/>
        </p:nvPicPr>
        <p:blipFill>
          <a:blip r:embed="rId4"/>
          <a:stretch>
            <a:fillRect/>
          </a:stretch>
        </p:blipFill>
        <p:spPr>
          <a:xfrm>
            <a:off x="6720840" y="4988052"/>
            <a:ext cx="457200" cy="457200"/>
          </a:xfrm>
          <a:prstGeom prst="rect">
            <a:avLst/>
          </a:prstGeom>
        </p:spPr>
      </p:pic>
      <p:sp>
        <p:nvSpPr>
          <p:cNvPr id="23" name="Text 17"/>
          <p:cNvSpPr/>
          <p:nvPr/>
        </p:nvSpPr>
        <p:spPr>
          <a:xfrm>
            <a:off x="7680960" y="4713732"/>
            <a:ext cx="3520440" cy="457200"/>
          </a:xfrm>
          <a:prstGeom prst="rect">
            <a:avLst/>
          </a:prstGeom>
          <a:noFill/>
          <a:ln/>
        </p:spPr>
        <p:txBody>
          <a:bodyPr wrap="square" rtlCol="0" anchor="ctr"/>
          <a:lstStyle/>
          <a:p>
            <a:pPr indent="0" marL="0">
              <a:buNone/>
            </a:pPr>
            <a:r>
              <a:rPr lang="en-US" sz="1700" b="1" dirty="0">
                <a:solidFill>
                  <a:srgbClr val="16233F"/>
                </a:solidFill>
                <a:latin typeface="Cambria" pitchFamily="34" charset="0"/>
                <a:ea typeface="Cambria" pitchFamily="34" charset="-122"/>
                <a:cs typeface="Cambria" pitchFamily="34" charset="-120"/>
              </a:rPr>
              <a:t>Contemporary Homes</a:t>
            </a:r>
            <a:endParaRPr lang="en-US" sz="1700" dirty="0"/>
          </a:p>
        </p:txBody>
      </p:sp>
      <p:sp>
        <p:nvSpPr>
          <p:cNvPr id="24" name="Text 18"/>
          <p:cNvSpPr/>
          <p:nvPr/>
        </p:nvSpPr>
        <p:spPr>
          <a:xfrm>
            <a:off x="7680960" y="5198364"/>
            <a:ext cx="3520440" cy="502920"/>
          </a:xfrm>
          <a:prstGeom prst="rect">
            <a:avLst/>
          </a:prstGeom>
          <a:noFill/>
          <a:ln/>
        </p:spPr>
        <p:txBody>
          <a:bodyPr wrap="square" rtlCol="0" anchor="ctr"/>
          <a:lstStyle/>
          <a:p>
            <a:pPr indent="0" marL="0">
              <a:lnSpc>
                <a:spcPct val="125000"/>
              </a:lnSpc>
              <a:buNone/>
            </a:pPr>
            <a:r>
              <a:rPr lang="en-US" sz="1200" dirty="0">
                <a:solidFill>
                  <a:srgbClr val="6E6E72"/>
                </a:solidFill>
                <a:latin typeface="Calibri" pitchFamily="34" charset="0"/>
                <a:ea typeface="Calibri" pitchFamily="34" charset="-122"/>
                <a:cs typeface="Calibri" pitchFamily="34" charset="-120"/>
              </a:rPr>
              <a:t>Modern architectural solutions.</a:t>
            </a:r>
            <a:endParaRPr lang="en-US" sz="1200" dirty="0"/>
          </a:p>
        </p:txBody>
      </p:sp>
      <p:sp>
        <p:nvSpPr>
          <p:cNvPr id="25" name="Text 19"/>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15</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AEB9D6"/>
                </a:solidFill>
                <a:latin typeface="Calibri" pitchFamily="34" charset="0"/>
                <a:ea typeface="Calibri" pitchFamily="34" charset="-122"/>
                <a:cs typeface="Calibri" pitchFamily="34" charset="-120"/>
              </a:rPr>
              <a:t>COMMERCIAL PROJECTS</a:t>
            </a:r>
            <a:endParaRPr lang="en-US" sz="1200" dirty="0"/>
          </a:p>
        </p:txBody>
      </p:sp>
      <p:sp>
        <p:nvSpPr>
          <p:cNvPr id="4" name="Text 2"/>
          <p:cNvSpPr/>
          <p:nvPr/>
        </p:nvSpPr>
        <p:spPr>
          <a:xfrm>
            <a:off x="548640" y="914400"/>
            <a:ext cx="73152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Project Gallery</a:t>
            </a:r>
            <a:endParaRPr lang="en-US" sz="2600" dirty="0"/>
          </a:p>
        </p:txBody>
      </p:sp>
      <p:sp>
        <p:nvSpPr>
          <p:cNvPr id="5" name="Shape 3"/>
          <p:cNvSpPr/>
          <p:nvPr/>
        </p:nvSpPr>
        <p:spPr>
          <a:xfrm>
            <a:off x="548640" y="1737360"/>
            <a:ext cx="5349240" cy="2148840"/>
          </a:xfrm>
          <a:prstGeom prst="roundRect">
            <a:avLst>
              <a:gd name="adj" fmla="val 3404"/>
            </a:avLst>
          </a:prstGeom>
          <a:solidFill>
            <a:srgbClr val="1E2E52"/>
          </a:solidFill>
          <a:ln w="12700">
            <a:solidFill>
              <a:srgbClr val="2C3E68"/>
            </a:solidFill>
            <a:prstDash val="solid"/>
          </a:ln>
        </p:spPr>
      </p:sp>
      <p:sp>
        <p:nvSpPr>
          <p:cNvPr id="6" name="Shape 4"/>
          <p:cNvSpPr/>
          <p:nvPr/>
        </p:nvSpPr>
        <p:spPr>
          <a:xfrm>
            <a:off x="822960" y="2308860"/>
            <a:ext cx="1005840" cy="1005840"/>
          </a:xfrm>
          <a:prstGeom prst="roundRect">
            <a:avLst>
              <a:gd name="adj" fmla="val 7273"/>
            </a:avLst>
          </a:prstGeom>
          <a:solidFill>
            <a:srgbClr val="C89B3C"/>
          </a:solidFill>
          <a:ln/>
        </p:spPr>
      </p:sp>
      <p:pic>
        <p:nvPicPr>
          <p:cNvPr id="7" name="Image 0" descr="/home/claude/manjula/icons/building_navy.png">    </p:cNvPr>
          <p:cNvPicPr>
            <a:picLocks noChangeAspect="1"/>
          </p:cNvPicPr>
          <p:nvPr/>
        </p:nvPicPr>
        <p:blipFill>
          <a:blip r:embed="rId1"/>
          <a:stretch>
            <a:fillRect/>
          </a:stretch>
        </p:blipFill>
        <p:spPr>
          <a:xfrm>
            <a:off x="1097280" y="2583180"/>
            <a:ext cx="457200" cy="457200"/>
          </a:xfrm>
          <a:prstGeom prst="rect">
            <a:avLst/>
          </a:prstGeom>
        </p:spPr>
      </p:pic>
      <p:sp>
        <p:nvSpPr>
          <p:cNvPr id="8" name="Text 5"/>
          <p:cNvSpPr/>
          <p:nvPr/>
        </p:nvSpPr>
        <p:spPr>
          <a:xfrm>
            <a:off x="2057400" y="2308860"/>
            <a:ext cx="35204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Office Buildings</a:t>
            </a:r>
            <a:endParaRPr lang="en-US" sz="1700" dirty="0"/>
          </a:p>
        </p:txBody>
      </p:sp>
      <p:sp>
        <p:nvSpPr>
          <p:cNvPr id="9" name="Text 6"/>
          <p:cNvSpPr/>
          <p:nvPr/>
        </p:nvSpPr>
        <p:spPr>
          <a:xfrm>
            <a:off x="2057400" y="2793492"/>
            <a:ext cx="3520440" cy="502920"/>
          </a:xfrm>
          <a:prstGeom prst="rect">
            <a:avLst/>
          </a:prstGeom>
          <a:noFill/>
          <a:ln/>
        </p:spPr>
        <p:txBody>
          <a:bodyPr wrap="square" rtlCol="0" anchor="ctr"/>
          <a:lstStyle/>
          <a:p>
            <a:pPr indent="0" marL="0">
              <a:lnSpc>
                <a:spcPct val="125000"/>
              </a:lnSpc>
              <a:buNone/>
            </a:pPr>
            <a:r>
              <a:rPr lang="en-US" sz="1200" dirty="0">
                <a:solidFill>
                  <a:srgbClr val="AEB9D6"/>
                </a:solidFill>
                <a:latin typeface="Calibri" pitchFamily="34" charset="0"/>
                <a:ea typeface="Calibri" pitchFamily="34" charset="-122"/>
                <a:cs typeface="Calibri" pitchFamily="34" charset="-120"/>
              </a:rPr>
              <a:t>Professional workspaces.</a:t>
            </a:r>
            <a:endParaRPr lang="en-US" sz="1200" dirty="0"/>
          </a:p>
        </p:txBody>
      </p:sp>
      <p:sp>
        <p:nvSpPr>
          <p:cNvPr id="10" name="Shape 7"/>
          <p:cNvSpPr/>
          <p:nvPr/>
        </p:nvSpPr>
        <p:spPr>
          <a:xfrm>
            <a:off x="6172200" y="1737360"/>
            <a:ext cx="5349240" cy="2148840"/>
          </a:xfrm>
          <a:prstGeom prst="roundRect">
            <a:avLst>
              <a:gd name="adj" fmla="val 3404"/>
            </a:avLst>
          </a:prstGeom>
          <a:solidFill>
            <a:srgbClr val="1E2E52"/>
          </a:solidFill>
          <a:ln w="12700">
            <a:solidFill>
              <a:srgbClr val="2C3E68"/>
            </a:solidFill>
            <a:prstDash val="solid"/>
          </a:ln>
        </p:spPr>
      </p:sp>
      <p:sp>
        <p:nvSpPr>
          <p:cNvPr id="11" name="Shape 8"/>
          <p:cNvSpPr/>
          <p:nvPr/>
        </p:nvSpPr>
        <p:spPr>
          <a:xfrm>
            <a:off x="6446520" y="2308860"/>
            <a:ext cx="1005840" cy="1005840"/>
          </a:xfrm>
          <a:prstGeom prst="roundRect">
            <a:avLst>
              <a:gd name="adj" fmla="val 7273"/>
            </a:avLst>
          </a:prstGeom>
          <a:solidFill>
            <a:srgbClr val="C89B3C"/>
          </a:solidFill>
          <a:ln/>
        </p:spPr>
      </p:sp>
      <p:pic>
        <p:nvPicPr>
          <p:cNvPr id="12" name="Image 1" descr="/home/claude/manjula/icons/city_navy.png">    </p:cNvPr>
          <p:cNvPicPr>
            <a:picLocks noChangeAspect="1"/>
          </p:cNvPicPr>
          <p:nvPr/>
        </p:nvPicPr>
        <p:blipFill>
          <a:blip r:embed="rId2"/>
          <a:stretch>
            <a:fillRect/>
          </a:stretch>
        </p:blipFill>
        <p:spPr>
          <a:xfrm>
            <a:off x="6720840" y="2583180"/>
            <a:ext cx="457200" cy="457200"/>
          </a:xfrm>
          <a:prstGeom prst="rect">
            <a:avLst/>
          </a:prstGeom>
        </p:spPr>
      </p:pic>
      <p:sp>
        <p:nvSpPr>
          <p:cNvPr id="13" name="Text 9"/>
          <p:cNvSpPr/>
          <p:nvPr/>
        </p:nvSpPr>
        <p:spPr>
          <a:xfrm>
            <a:off x="7680960" y="2308860"/>
            <a:ext cx="35204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Commercial Complexes</a:t>
            </a:r>
            <a:endParaRPr lang="en-US" sz="1700" dirty="0"/>
          </a:p>
        </p:txBody>
      </p:sp>
      <p:sp>
        <p:nvSpPr>
          <p:cNvPr id="14" name="Text 10"/>
          <p:cNvSpPr/>
          <p:nvPr/>
        </p:nvSpPr>
        <p:spPr>
          <a:xfrm>
            <a:off x="7680960" y="2793492"/>
            <a:ext cx="3520440" cy="502920"/>
          </a:xfrm>
          <a:prstGeom prst="rect">
            <a:avLst/>
          </a:prstGeom>
          <a:noFill/>
          <a:ln/>
        </p:spPr>
        <p:txBody>
          <a:bodyPr wrap="square" rtlCol="0" anchor="ctr"/>
          <a:lstStyle/>
          <a:p>
            <a:pPr indent="0" marL="0">
              <a:lnSpc>
                <a:spcPct val="125000"/>
              </a:lnSpc>
              <a:buNone/>
            </a:pPr>
            <a:r>
              <a:rPr lang="en-US" sz="1200" dirty="0">
                <a:solidFill>
                  <a:srgbClr val="AEB9D6"/>
                </a:solidFill>
                <a:latin typeface="Calibri" pitchFamily="34" charset="0"/>
                <a:ea typeface="Calibri" pitchFamily="34" charset="-122"/>
                <a:cs typeface="Calibri" pitchFamily="34" charset="-120"/>
              </a:rPr>
              <a:t>Large-scale developments.</a:t>
            </a:r>
            <a:endParaRPr lang="en-US" sz="1200" dirty="0"/>
          </a:p>
        </p:txBody>
      </p:sp>
      <p:sp>
        <p:nvSpPr>
          <p:cNvPr id="15" name="Shape 11"/>
          <p:cNvSpPr/>
          <p:nvPr/>
        </p:nvSpPr>
        <p:spPr>
          <a:xfrm>
            <a:off x="548640" y="4142232"/>
            <a:ext cx="5349240" cy="2148840"/>
          </a:xfrm>
          <a:prstGeom prst="roundRect">
            <a:avLst>
              <a:gd name="adj" fmla="val 3404"/>
            </a:avLst>
          </a:prstGeom>
          <a:solidFill>
            <a:srgbClr val="1E2E52"/>
          </a:solidFill>
          <a:ln w="12700">
            <a:solidFill>
              <a:srgbClr val="2C3E68"/>
            </a:solidFill>
            <a:prstDash val="solid"/>
          </a:ln>
        </p:spPr>
      </p:sp>
      <p:sp>
        <p:nvSpPr>
          <p:cNvPr id="16" name="Shape 12"/>
          <p:cNvSpPr/>
          <p:nvPr/>
        </p:nvSpPr>
        <p:spPr>
          <a:xfrm>
            <a:off x="822960" y="4713732"/>
            <a:ext cx="1005840" cy="1005840"/>
          </a:xfrm>
          <a:prstGeom prst="roundRect">
            <a:avLst>
              <a:gd name="adj" fmla="val 7273"/>
            </a:avLst>
          </a:prstGeom>
          <a:solidFill>
            <a:srgbClr val="C89B3C"/>
          </a:solidFill>
          <a:ln/>
        </p:spPr>
      </p:sp>
      <p:pic>
        <p:nvPicPr>
          <p:cNvPr id="17" name="Image 2" descr="/home/claude/manjula/icons/cube_navy.png">    </p:cNvPr>
          <p:cNvPicPr>
            <a:picLocks noChangeAspect="1"/>
          </p:cNvPicPr>
          <p:nvPr/>
        </p:nvPicPr>
        <p:blipFill>
          <a:blip r:embed="rId3"/>
          <a:stretch>
            <a:fillRect/>
          </a:stretch>
        </p:blipFill>
        <p:spPr>
          <a:xfrm>
            <a:off x="1097280" y="4988052"/>
            <a:ext cx="457200" cy="457200"/>
          </a:xfrm>
          <a:prstGeom prst="rect">
            <a:avLst/>
          </a:prstGeom>
        </p:spPr>
      </p:pic>
      <p:sp>
        <p:nvSpPr>
          <p:cNvPr id="18" name="Text 13"/>
          <p:cNvSpPr/>
          <p:nvPr/>
        </p:nvSpPr>
        <p:spPr>
          <a:xfrm>
            <a:off x="2057400" y="4713732"/>
            <a:ext cx="35204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Retail Buildings</a:t>
            </a:r>
            <a:endParaRPr lang="en-US" sz="1700" dirty="0"/>
          </a:p>
        </p:txBody>
      </p:sp>
      <p:sp>
        <p:nvSpPr>
          <p:cNvPr id="19" name="Text 14"/>
          <p:cNvSpPr/>
          <p:nvPr/>
        </p:nvSpPr>
        <p:spPr>
          <a:xfrm>
            <a:off x="2057400" y="5198364"/>
            <a:ext cx="3520440" cy="502920"/>
          </a:xfrm>
          <a:prstGeom prst="rect">
            <a:avLst/>
          </a:prstGeom>
          <a:noFill/>
          <a:ln/>
        </p:spPr>
        <p:txBody>
          <a:bodyPr wrap="square" rtlCol="0" anchor="ctr"/>
          <a:lstStyle/>
          <a:p>
            <a:pPr indent="0" marL="0">
              <a:lnSpc>
                <a:spcPct val="125000"/>
              </a:lnSpc>
              <a:buNone/>
            </a:pPr>
            <a:r>
              <a:rPr lang="en-US" sz="1200" dirty="0">
                <a:solidFill>
                  <a:srgbClr val="AEB9D6"/>
                </a:solidFill>
                <a:latin typeface="Calibri" pitchFamily="34" charset="0"/>
                <a:ea typeface="Calibri" pitchFamily="34" charset="-122"/>
                <a:cs typeface="Calibri" pitchFamily="34" charset="-120"/>
              </a:rPr>
              <a:t>Modern commercial environments.</a:t>
            </a:r>
            <a:endParaRPr lang="en-US" sz="1200" dirty="0"/>
          </a:p>
        </p:txBody>
      </p:sp>
      <p:sp>
        <p:nvSpPr>
          <p:cNvPr id="20" name="Shape 15"/>
          <p:cNvSpPr/>
          <p:nvPr/>
        </p:nvSpPr>
        <p:spPr>
          <a:xfrm>
            <a:off x="6172200" y="4142232"/>
            <a:ext cx="5349240" cy="2148840"/>
          </a:xfrm>
          <a:prstGeom prst="roundRect">
            <a:avLst>
              <a:gd name="adj" fmla="val 3404"/>
            </a:avLst>
          </a:prstGeom>
          <a:solidFill>
            <a:srgbClr val="1E2E52"/>
          </a:solidFill>
          <a:ln w="12700">
            <a:solidFill>
              <a:srgbClr val="2C3E68"/>
            </a:solidFill>
            <a:prstDash val="solid"/>
          </a:ln>
        </p:spPr>
      </p:sp>
      <p:sp>
        <p:nvSpPr>
          <p:cNvPr id="21" name="Shape 16"/>
          <p:cNvSpPr/>
          <p:nvPr/>
        </p:nvSpPr>
        <p:spPr>
          <a:xfrm>
            <a:off x="6446520" y="4713732"/>
            <a:ext cx="1005840" cy="1005840"/>
          </a:xfrm>
          <a:prstGeom prst="roundRect">
            <a:avLst>
              <a:gd name="adj" fmla="val 7273"/>
            </a:avLst>
          </a:prstGeom>
          <a:solidFill>
            <a:srgbClr val="C89B3C"/>
          </a:solidFill>
          <a:ln/>
        </p:spPr>
      </p:sp>
      <p:pic>
        <p:nvPicPr>
          <p:cNvPr id="22" name="Image 3" descr="/home/claude/manjula/icons/layer_navy.png">    </p:cNvPr>
          <p:cNvPicPr>
            <a:picLocks noChangeAspect="1"/>
          </p:cNvPicPr>
          <p:nvPr/>
        </p:nvPicPr>
        <p:blipFill>
          <a:blip r:embed="rId4"/>
          <a:stretch>
            <a:fillRect/>
          </a:stretch>
        </p:blipFill>
        <p:spPr>
          <a:xfrm>
            <a:off x="6720840" y="4988052"/>
            <a:ext cx="457200" cy="457200"/>
          </a:xfrm>
          <a:prstGeom prst="rect">
            <a:avLst/>
          </a:prstGeom>
        </p:spPr>
      </p:pic>
      <p:sp>
        <p:nvSpPr>
          <p:cNvPr id="23" name="Text 17"/>
          <p:cNvSpPr/>
          <p:nvPr/>
        </p:nvSpPr>
        <p:spPr>
          <a:xfrm>
            <a:off x="7680960" y="4713732"/>
            <a:ext cx="35204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Mixed-Use Projects</a:t>
            </a:r>
            <a:endParaRPr lang="en-US" sz="1700" dirty="0"/>
          </a:p>
        </p:txBody>
      </p:sp>
      <p:sp>
        <p:nvSpPr>
          <p:cNvPr id="24" name="Text 18"/>
          <p:cNvSpPr/>
          <p:nvPr/>
        </p:nvSpPr>
        <p:spPr>
          <a:xfrm>
            <a:off x="7680960" y="5198364"/>
            <a:ext cx="3520440" cy="502920"/>
          </a:xfrm>
          <a:prstGeom prst="rect">
            <a:avLst/>
          </a:prstGeom>
          <a:noFill/>
          <a:ln/>
        </p:spPr>
        <p:txBody>
          <a:bodyPr wrap="square" rtlCol="0" anchor="ctr"/>
          <a:lstStyle/>
          <a:p>
            <a:pPr indent="0" marL="0">
              <a:lnSpc>
                <a:spcPct val="125000"/>
              </a:lnSpc>
              <a:buNone/>
            </a:pPr>
            <a:r>
              <a:rPr lang="en-US" sz="1200" dirty="0">
                <a:solidFill>
                  <a:srgbClr val="AEB9D6"/>
                </a:solidFill>
                <a:latin typeface="Calibri" pitchFamily="34" charset="0"/>
                <a:ea typeface="Calibri" pitchFamily="34" charset="-122"/>
                <a:cs typeface="Calibri" pitchFamily="34" charset="-120"/>
              </a:rPr>
              <a:t>Integrated construction solutions.</a:t>
            </a:r>
            <a:endParaRPr lang="en-US" sz="1200" dirty="0"/>
          </a:p>
        </p:txBody>
      </p:sp>
      <p:sp>
        <p:nvSpPr>
          <p:cNvPr id="25" name="Text 19"/>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9BA6C4"/>
                </a:solidFill>
                <a:latin typeface="Calibri" pitchFamily="34" charset="0"/>
                <a:ea typeface="Calibri" pitchFamily="34" charset="-122"/>
                <a:cs typeface="Calibri" pitchFamily="34" charset="-120"/>
              </a:rPr>
              <a:t>MANJULA CONSTRUCTION</a:t>
            </a: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BA6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16</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MATERIALS AND BRANDS</a:t>
            </a:r>
            <a:endParaRPr lang="en-US" sz="1200" dirty="0"/>
          </a:p>
        </p:txBody>
      </p:sp>
      <p:sp>
        <p:nvSpPr>
          <p:cNvPr id="4" name="Text 2"/>
          <p:cNvSpPr/>
          <p:nvPr/>
        </p:nvSpPr>
        <p:spPr>
          <a:xfrm>
            <a:off x="548640" y="914400"/>
            <a:ext cx="82296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Trusted Brands We Build With</a:t>
            </a:r>
            <a:endParaRPr lang="en-US" sz="2600" dirty="0"/>
          </a:p>
        </p:txBody>
      </p:sp>
      <p:sp>
        <p:nvSpPr>
          <p:cNvPr id="5" name="Shape 3"/>
          <p:cNvSpPr/>
          <p:nvPr/>
        </p:nvSpPr>
        <p:spPr>
          <a:xfrm>
            <a:off x="548640" y="1965960"/>
            <a:ext cx="3584448" cy="1737360"/>
          </a:xfrm>
          <a:prstGeom prst="roundRect">
            <a:avLst>
              <a:gd name="adj" fmla="val 4211"/>
            </a:avLst>
          </a:prstGeom>
          <a:solidFill>
            <a:srgbClr val="F4F4F2"/>
          </a:solidFill>
          <a:ln/>
        </p:spPr>
      </p:sp>
      <p:sp>
        <p:nvSpPr>
          <p:cNvPr id="6" name="Shape 4"/>
          <p:cNvSpPr/>
          <p:nvPr/>
        </p:nvSpPr>
        <p:spPr>
          <a:xfrm>
            <a:off x="2020824" y="2240280"/>
            <a:ext cx="640080" cy="640080"/>
          </a:xfrm>
          <a:prstGeom prst="ellipse">
            <a:avLst/>
          </a:prstGeom>
          <a:solidFill>
            <a:srgbClr val="16233F"/>
          </a:solidFill>
          <a:ln/>
        </p:spPr>
      </p:sp>
      <p:pic>
        <p:nvPicPr>
          <p:cNvPr id="7" name="Image 0" descr="/home/claude/manjula/icons/cube_white.png">    </p:cNvPr>
          <p:cNvPicPr>
            <a:picLocks noChangeAspect="1"/>
          </p:cNvPicPr>
          <p:nvPr/>
        </p:nvPicPr>
        <p:blipFill>
          <a:blip r:embed="rId1"/>
          <a:stretch>
            <a:fillRect/>
          </a:stretch>
        </p:blipFill>
        <p:spPr>
          <a:xfrm>
            <a:off x="2136038" y="2355494"/>
            <a:ext cx="409651" cy="409651"/>
          </a:xfrm>
          <a:prstGeom prst="rect">
            <a:avLst/>
          </a:prstGeom>
        </p:spPr>
      </p:pic>
      <p:sp>
        <p:nvSpPr>
          <p:cNvPr id="8" name="Text 5"/>
          <p:cNvSpPr/>
          <p:nvPr/>
        </p:nvSpPr>
        <p:spPr>
          <a:xfrm>
            <a:off x="731520" y="3063240"/>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UltraTech Cement</a:t>
            </a:r>
            <a:endParaRPr lang="en-US" sz="1500" dirty="0"/>
          </a:p>
        </p:txBody>
      </p:sp>
      <p:sp>
        <p:nvSpPr>
          <p:cNvPr id="9" name="Shape 6"/>
          <p:cNvSpPr/>
          <p:nvPr/>
        </p:nvSpPr>
        <p:spPr>
          <a:xfrm>
            <a:off x="4389120" y="1965960"/>
            <a:ext cx="3584448" cy="1737360"/>
          </a:xfrm>
          <a:prstGeom prst="roundRect">
            <a:avLst>
              <a:gd name="adj" fmla="val 4211"/>
            </a:avLst>
          </a:prstGeom>
          <a:solidFill>
            <a:srgbClr val="F4F4F2"/>
          </a:solidFill>
          <a:ln/>
        </p:spPr>
      </p:sp>
      <p:sp>
        <p:nvSpPr>
          <p:cNvPr id="10" name="Shape 7"/>
          <p:cNvSpPr/>
          <p:nvPr/>
        </p:nvSpPr>
        <p:spPr>
          <a:xfrm>
            <a:off x="5861304" y="2240280"/>
            <a:ext cx="640080" cy="640080"/>
          </a:xfrm>
          <a:prstGeom prst="ellipse">
            <a:avLst/>
          </a:prstGeom>
          <a:solidFill>
            <a:srgbClr val="16233F"/>
          </a:solidFill>
          <a:ln/>
        </p:spPr>
      </p:sp>
      <p:pic>
        <p:nvPicPr>
          <p:cNvPr id="11" name="Image 1" descr="/home/claude/manjula/icons/layer_white.png">    </p:cNvPr>
          <p:cNvPicPr>
            <a:picLocks noChangeAspect="1"/>
          </p:cNvPicPr>
          <p:nvPr/>
        </p:nvPicPr>
        <p:blipFill>
          <a:blip r:embed="rId2"/>
          <a:stretch>
            <a:fillRect/>
          </a:stretch>
        </p:blipFill>
        <p:spPr>
          <a:xfrm>
            <a:off x="5976518" y="2355494"/>
            <a:ext cx="409651" cy="409651"/>
          </a:xfrm>
          <a:prstGeom prst="rect">
            <a:avLst/>
          </a:prstGeom>
        </p:spPr>
      </p:pic>
      <p:sp>
        <p:nvSpPr>
          <p:cNvPr id="12" name="Text 8"/>
          <p:cNvSpPr/>
          <p:nvPr/>
        </p:nvSpPr>
        <p:spPr>
          <a:xfrm>
            <a:off x="4572000" y="3063240"/>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Tata Steel</a:t>
            </a:r>
            <a:endParaRPr lang="en-US" sz="1500" dirty="0"/>
          </a:p>
        </p:txBody>
      </p:sp>
      <p:sp>
        <p:nvSpPr>
          <p:cNvPr id="13" name="Shape 9"/>
          <p:cNvSpPr/>
          <p:nvPr/>
        </p:nvSpPr>
        <p:spPr>
          <a:xfrm>
            <a:off x="8229600" y="1965960"/>
            <a:ext cx="3584448" cy="1737360"/>
          </a:xfrm>
          <a:prstGeom prst="roundRect">
            <a:avLst>
              <a:gd name="adj" fmla="val 4211"/>
            </a:avLst>
          </a:prstGeom>
          <a:solidFill>
            <a:srgbClr val="F4F4F2"/>
          </a:solidFill>
          <a:ln/>
        </p:spPr>
      </p:sp>
      <p:sp>
        <p:nvSpPr>
          <p:cNvPr id="14" name="Shape 10"/>
          <p:cNvSpPr/>
          <p:nvPr/>
        </p:nvSpPr>
        <p:spPr>
          <a:xfrm>
            <a:off x="9701784" y="2240280"/>
            <a:ext cx="640080" cy="640080"/>
          </a:xfrm>
          <a:prstGeom prst="ellipse">
            <a:avLst/>
          </a:prstGeom>
          <a:solidFill>
            <a:srgbClr val="16233F"/>
          </a:solidFill>
          <a:ln/>
        </p:spPr>
      </p:sp>
      <p:pic>
        <p:nvPicPr>
          <p:cNvPr id="15" name="Image 2" descr="/home/claude/manjula/icons/water_white.png">    </p:cNvPr>
          <p:cNvPicPr>
            <a:picLocks noChangeAspect="1"/>
          </p:cNvPicPr>
          <p:nvPr/>
        </p:nvPicPr>
        <p:blipFill>
          <a:blip r:embed="rId3"/>
          <a:stretch>
            <a:fillRect/>
          </a:stretch>
        </p:blipFill>
        <p:spPr>
          <a:xfrm>
            <a:off x="9816998" y="2355494"/>
            <a:ext cx="409651" cy="409651"/>
          </a:xfrm>
          <a:prstGeom prst="rect">
            <a:avLst/>
          </a:prstGeom>
        </p:spPr>
      </p:pic>
      <p:sp>
        <p:nvSpPr>
          <p:cNvPr id="16" name="Text 11"/>
          <p:cNvSpPr/>
          <p:nvPr/>
        </p:nvSpPr>
        <p:spPr>
          <a:xfrm>
            <a:off x="8412480" y="3063240"/>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Jaquar</a:t>
            </a:r>
            <a:endParaRPr lang="en-US" sz="1500" dirty="0"/>
          </a:p>
        </p:txBody>
      </p:sp>
      <p:sp>
        <p:nvSpPr>
          <p:cNvPr id="17" name="Shape 12"/>
          <p:cNvSpPr/>
          <p:nvPr/>
        </p:nvSpPr>
        <p:spPr>
          <a:xfrm>
            <a:off x="548640" y="3959352"/>
            <a:ext cx="3584448" cy="1737360"/>
          </a:xfrm>
          <a:prstGeom prst="roundRect">
            <a:avLst>
              <a:gd name="adj" fmla="val 4211"/>
            </a:avLst>
          </a:prstGeom>
          <a:solidFill>
            <a:srgbClr val="F4F4F2"/>
          </a:solidFill>
          <a:ln/>
        </p:spPr>
      </p:sp>
      <p:sp>
        <p:nvSpPr>
          <p:cNvPr id="18" name="Shape 13"/>
          <p:cNvSpPr/>
          <p:nvPr/>
        </p:nvSpPr>
        <p:spPr>
          <a:xfrm>
            <a:off x="2020824" y="4233672"/>
            <a:ext cx="640080" cy="640080"/>
          </a:xfrm>
          <a:prstGeom prst="ellipse">
            <a:avLst/>
          </a:prstGeom>
          <a:solidFill>
            <a:srgbClr val="16233F"/>
          </a:solidFill>
          <a:ln/>
        </p:spPr>
      </p:sp>
      <p:pic>
        <p:nvPicPr>
          <p:cNvPr id="19" name="Image 3" descr="/home/claude/manjula/icons/building_white.png">    </p:cNvPr>
          <p:cNvPicPr>
            <a:picLocks noChangeAspect="1"/>
          </p:cNvPicPr>
          <p:nvPr/>
        </p:nvPicPr>
        <p:blipFill>
          <a:blip r:embed="rId4"/>
          <a:stretch>
            <a:fillRect/>
          </a:stretch>
        </p:blipFill>
        <p:spPr>
          <a:xfrm>
            <a:off x="2136038" y="4348886"/>
            <a:ext cx="409651" cy="409651"/>
          </a:xfrm>
          <a:prstGeom prst="rect">
            <a:avLst/>
          </a:prstGeom>
        </p:spPr>
      </p:pic>
      <p:sp>
        <p:nvSpPr>
          <p:cNvPr id="20" name="Text 14"/>
          <p:cNvSpPr/>
          <p:nvPr/>
        </p:nvSpPr>
        <p:spPr>
          <a:xfrm>
            <a:off x="731520" y="5056632"/>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Supreme</a:t>
            </a:r>
            <a:endParaRPr lang="en-US" sz="1500" dirty="0"/>
          </a:p>
        </p:txBody>
      </p:sp>
      <p:sp>
        <p:nvSpPr>
          <p:cNvPr id="21" name="Shape 15"/>
          <p:cNvSpPr/>
          <p:nvPr/>
        </p:nvSpPr>
        <p:spPr>
          <a:xfrm>
            <a:off x="4389120" y="3959352"/>
            <a:ext cx="3584448" cy="1737360"/>
          </a:xfrm>
          <a:prstGeom prst="roundRect">
            <a:avLst>
              <a:gd name="adj" fmla="val 4211"/>
            </a:avLst>
          </a:prstGeom>
          <a:solidFill>
            <a:srgbClr val="F4F4F2"/>
          </a:solidFill>
          <a:ln/>
        </p:spPr>
      </p:sp>
      <p:sp>
        <p:nvSpPr>
          <p:cNvPr id="22" name="Shape 16"/>
          <p:cNvSpPr/>
          <p:nvPr/>
        </p:nvSpPr>
        <p:spPr>
          <a:xfrm>
            <a:off x="5861304" y="4233672"/>
            <a:ext cx="640080" cy="640080"/>
          </a:xfrm>
          <a:prstGeom prst="ellipse">
            <a:avLst/>
          </a:prstGeom>
          <a:solidFill>
            <a:srgbClr val="16233F"/>
          </a:solidFill>
          <a:ln/>
        </p:spPr>
      </p:sp>
      <p:pic>
        <p:nvPicPr>
          <p:cNvPr id="23" name="Image 4" descr="/home/claude/manjula/icons/bolt_white.png">    </p:cNvPr>
          <p:cNvPicPr>
            <a:picLocks noChangeAspect="1"/>
          </p:cNvPicPr>
          <p:nvPr/>
        </p:nvPicPr>
        <p:blipFill>
          <a:blip r:embed="rId5"/>
          <a:stretch>
            <a:fillRect/>
          </a:stretch>
        </p:blipFill>
        <p:spPr>
          <a:xfrm>
            <a:off x="5976518" y="4348886"/>
            <a:ext cx="409651" cy="409651"/>
          </a:xfrm>
          <a:prstGeom prst="rect">
            <a:avLst/>
          </a:prstGeom>
        </p:spPr>
      </p:pic>
      <p:sp>
        <p:nvSpPr>
          <p:cNvPr id="24" name="Text 17"/>
          <p:cNvSpPr/>
          <p:nvPr/>
        </p:nvSpPr>
        <p:spPr>
          <a:xfrm>
            <a:off x="4572000" y="5056632"/>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Finolex</a:t>
            </a:r>
            <a:endParaRPr lang="en-US" sz="1500" dirty="0"/>
          </a:p>
        </p:txBody>
      </p:sp>
      <p:sp>
        <p:nvSpPr>
          <p:cNvPr id="25" name="Shape 18"/>
          <p:cNvSpPr/>
          <p:nvPr/>
        </p:nvSpPr>
        <p:spPr>
          <a:xfrm>
            <a:off x="8229600" y="3959352"/>
            <a:ext cx="3584448" cy="1737360"/>
          </a:xfrm>
          <a:prstGeom prst="roundRect">
            <a:avLst>
              <a:gd name="adj" fmla="val 4211"/>
            </a:avLst>
          </a:prstGeom>
          <a:solidFill>
            <a:srgbClr val="F4F4F2"/>
          </a:solidFill>
          <a:ln/>
        </p:spPr>
      </p:sp>
      <p:sp>
        <p:nvSpPr>
          <p:cNvPr id="26" name="Shape 19"/>
          <p:cNvSpPr/>
          <p:nvPr/>
        </p:nvSpPr>
        <p:spPr>
          <a:xfrm>
            <a:off x="9701784" y="4233672"/>
            <a:ext cx="640080" cy="640080"/>
          </a:xfrm>
          <a:prstGeom prst="ellipse">
            <a:avLst/>
          </a:prstGeom>
          <a:solidFill>
            <a:srgbClr val="16233F"/>
          </a:solidFill>
          <a:ln/>
        </p:spPr>
      </p:sp>
      <p:pic>
        <p:nvPicPr>
          <p:cNvPr id="27" name="Image 5" descr="/home/claude/manjula/icons/bolt_white.png">    </p:cNvPr>
          <p:cNvPicPr>
            <a:picLocks noChangeAspect="1"/>
          </p:cNvPicPr>
          <p:nvPr/>
        </p:nvPicPr>
        <p:blipFill>
          <a:blip r:embed="rId6"/>
          <a:stretch>
            <a:fillRect/>
          </a:stretch>
        </p:blipFill>
        <p:spPr>
          <a:xfrm>
            <a:off x="9816998" y="4348886"/>
            <a:ext cx="409651" cy="409651"/>
          </a:xfrm>
          <a:prstGeom prst="rect">
            <a:avLst/>
          </a:prstGeom>
        </p:spPr>
      </p:pic>
      <p:sp>
        <p:nvSpPr>
          <p:cNvPr id="28" name="Text 20"/>
          <p:cNvSpPr/>
          <p:nvPr/>
        </p:nvSpPr>
        <p:spPr>
          <a:xfrm>
            <a:off x="8412480" y="5056632"/>
            <a:ext cx="3218688" cy="457200"/>
          </a:xfrm>
          <a:prstGeom prst="rect">
            <a:avLst/>
          </a:prstGeom>
          <a:noFill/>
          <a:ln/>
        </p:spPr>
        <p:txBody>
          <a:bodyPr wrap="square" rtlCol="0" anchor="ctr"/>
          <a:lstStyle/>
          <a:p>
            <a:pPr algn="ctr" indent="0" marL="0">
              <a:buNone/>
            </a:pPr>
            <a:r>
              <a:rPr lang="en-US" sz="1500" b="1" dirty="0">
                <a:solidFill>
                  <a:srgbClr val="16233F"/>
                </a:solidFill>
                <a:latin typeface="Calibri" pitchFamily="34" charset="0"/>
                <a:ea typeface="Calibri" pitchFamily="34" charset="-122"/>
                <a:cs typeface="Calibri" pitchFamily="34" charset="-120"/>
              </a:rPr>
              <a:t>Havells</a:t>
            </a:r>
            <a:endParaRPr lang="en-US" sz="1500" dirty="0"/>
          </a:p>
        </p:txBody>
      </p:sp>
      <p:sp>
        <p:nvSpPr>
          <p:cNvPr id="29" name="Text 21"/>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30"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17</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QUALITY AND SAFETY</a:t>
            </a:r>
            <a:endParaRPr lang="en-US" sz="1200" dirty="0"/>
          </a:p>
        </p:txBody>
      </p:sp>
      <p:sp>
        <p:nvSpPr>
          <p:cNvPr id="4" name="Text 2"/>
          <p:cNvSpPr/>
          <p:nvPr/>
        </p:nvSpPr>
        <p:spPr>
          <a:xfrm>
            <a:off x="548640" y="914400"/>
            <a:ext cx="5486400" cy="548640"/>
          </a:xfrm>
          <a:prstGeom prst="rect">
            <a:avLst/>
          </a:prstGeom>
          <a:noFill/>
          <a:ln/>
        </p:spPr>
        <p:txBody>
          <a:bodyPr wrap="square" rtlCol="0" anchor="ctr"/>
          <a:lstStyle/>
          <a:p>
            <a:pPr indent="0" marL="0">
              <a:buNone/>
            </a:pPr>
            <a:r>
              <a:rPr lang="en-US" sz="2400" b="1" dirty="0">
                <a:solidFill>
                  <a:srgbClr val="16233F"/>
                </a:solidFill>
                <a:latin typeface="Cambria" pitchFamily="34" charset="0"/>
                <a:ea typeface="Cambria" pitchFamily="34" charset="-122"/>
                <a:cs typeface="Cambria" pitchFamily="34" charset="-120"/>
              </a:rPr>
              <a:t>Our Quality Standards</a:t>
            </a:r>
            <a:endParaRPr lang="en-US" sz="2400" dirty="0"/>
          </a:p>
        </p:txBody>
      </p:sp>
      <p:sp>
        <p:nvSpPr>
          <p:cNvPr id="5" name="Text 3"/>
          <p:cNvSpPr/>
          <p:nvPr/>
        </p:nvSpPr>
        <p:spPr>
          <a:xfrm>
            <a:off x="548640" y="1463040"/>
            <a:ext cx="5212080" cy="777240"/>
          </a:xfrm>
          <a:prstGeom prst="rect">
            <a:avLst/>
          </a:prstGeom>
          <a:noFill/>
          <a:ln/>
        </p:spPr>
        <p:txBody>
          <a:bodyPr wrap="square" rtlCol="0" anchor="ctr"/>
          <a:lstStyle/>
          <a:p>
            <a:pPr indent="0" marL="0">
              <a:lnSpc>
                <a:spcPct val="135000"/>
              </a:lnSpc>
              <a:buNone/>
            </a:pPr>
            <a:r>
              <a:rPr lang="en-US" sz="1300" dirty="0">
                <a:solidFill>
                  <a:srgbClr val="6E6E72"/>
                </a:solidFill>
                <a:latin typeface="Calibri" pitchFamily="34" charset="0"/>
                <a:ea typeface="Calibri" pitchFamily="34" charset="-122"/>
                <a:cs typeface="Calibri" pitchFamily="34" charset="-120"/>
              </a:rPr>
              <a:t>Every project is built on a foundation of rigorous checks and premium materials, so what we hand over is durable, safe, and built to last.</a:t>
            </a:r>
            <a:endParaRPr lang="en-US" sz="1300" dirty="0"/>
          </a:p>
        </p:txBody>
      </p:sp>
      <p:sp>
        <p:nvSpPr>
          <p:cNvPr id="6" name="Shape 4"/>
          <p:cNvSpPr/>
          <p:nvPr/>
        </p:nvSpPr>
        <p:spPr>
          <a:xfrm>
            <a:off x="548640" y="2423160"/>
            <a:ext cx="512064" cy="512064"/>
          </a:xfrm>
          <a:prstGeom prst="ellipse">
            <a:avLst/>
          </a:prstGeom>
          <a:solidFill>
            <a:srgbClr val="C89B3C"/>
          </a:solidFill>
          <a:ln/>
        </p:spPr>
      </p:sp>
      <p:pic>
        <p:nvPicPr>
          <p:cNvPr id="7" name="Image 0" descr="/home/claude/manjula/icons/check_white.png">    </p:cNvPr>
          <p:cNvPicPr>
            <a:picLocks noChangeAspect="1"/>
          </p:cNvPicPr>
          <p:nvPr/>
        </p:nvPicPr>
        <p:blipFill>
          <a:blip r:embed="rId1"/>
          <a:stretch>
            <a:fillRect/>
          </a:stretch>
        </p:blipFill>
        <p:spPr>
          <a:xfrm>
            <a:off x="640812" y="2515332"/>
            <a:ext cx="327721" cy="327721"/>
          </a:xfrm>
          <a:prstGeom prst="rect">
            <a:avLst/>
          </a:prstGeom>
        </p:spPr>
      </p:pic>
      <p:sp>
        <p:nvSpPr>
          <p:cNvPr id="8" name="Text 5"/>
          <p:cNvSpPr/>
          <p:nvPr/>
        </p:nvSpPr>
        <p:spPr>
          <a:xfrm>
            <a:off x="1234440" y="2423160"/>
            <a:ext cx="4389120" cy="512064"/>
          </a:xfrm>
          <a:prstGeom prst="rect">
            <a:avLst/>
          </a:prstGeom>
          <a:noFill/>
          <a:ln/>
        </p:spPr>
        <p:txBody>
          <a:bodyPr wrap="square" rtlCol="0" anchor="ctr"/>
          <a:lstStyle/>
          <a:p>
            <a:pPr indent="0" marL="0">
              <a:buNone/>
            </a:pPr>
            <a:r>
              <a:rPr lang="en-US" sz="1500" b="1" dirty="0">
                <a:solidFill>
                  <a:srgbClr val="26262A"/>
                </a:solidFill>
                <a:latin typeface="Calibri" pitchFamily="34" charset="0"/>
                <a:ea typeface="Calibri" pitchFamily="34" charset="-122"/>
                <a:cs typeface="Calibri" pitchFamily="34" charset="-120"/>
              </a:rPr>
              <a:t>Premium materials</a:t>
            </a:r>
            <a:endParaRPr lang="en-US" sz="1500" dirty="0"/>
          </a:p>
        </p:txBody>
      </p:sp>
      <p:sp>
        <p:nvSpPr>
          <p:cNvPr id="9" name="Shape 6"/>
          <p:cNvSpPr/>
          <p:nvPr/>
        </p:nvSpPr>
        <p:spPr>
          <a:xfrm>
            <a:off x="548640" y="3154680"/>
            <a:ext cx="512064" cy="512064"/>
          </a:xfrm>
          <a:prstGeom prst="ellipse">
            <a:avLst/>
          </a:prstGeom>
          <a:solidFill>
            <a:srgbClr val="C89B3C"/>
          </a:solidFill>
          <a:ln/>
        </p:spPr>
      </p:sp>
      <p:pic>
        <p:nvPicPr>
          <p:cNvPr id="10" name="Image 1" descr="/home/claude/manjula/icons/check_white.png">    </p:cNvPr>
          <p:cNvPicPr>
            <a:picLocks noChangeAspect="1"/>
          </p:cNvPicPr>
          <p:nvPr/>
        </p:nvPicPr>
        <p:blipFill>
          <a:blip r:embed="rId2"/>
          <a:stretch>
            <a:fillRect/>
          </a:stretch>
        </p:blipFill>
        <p:spPr>
          <a:xfrm>
            <a:off x="640812" y="3246852"/>
            <a:ext cx="327721" cy="327721"/>
          </a:xfrm>
          <a:prstGeom prst="rect">
            <a:avLst/>
          </a:prstGeom>
        </p:spPr>
      </p:pic>
      <p:sp>
        <p:nvSpPr>
          <p:cNvPr id="11" name="Text 7"/>
          <p:cNvSpPr/>
          <p:nvPr/>
        </p:nvSpPr>
        <p:spPr>
          <a:xfrm>
            <a:off x="1234440" y="3154680"/>
            <a:ext cx="4389120" cy="512064"/>
          </a:xfrm>
          <a:prstGeom prst="rect">
            <a:avLst/>
          </a:prstGeom>
          <a:noFill/>
          <a:ln/>
        </p:spPr>
        <p:txBody>
          <a:bodyPr wrap="square" rtlCol="0" anchor="ctr"/>
          <a:lstStyle/>
          <a:p>
            <a:pPr indent="0" marL="0">
              <a:buNone/>
            </a:pPr>
            <a:r>
              <a:rPr lang="en-US" sz="1500" b="1" dirty="0">
                <a:solidFill>
                  <a:srgbClr val="26262A"/>
                </a:solidFill>
                <a:latin typeface="Calibri" pitchFamily="34" charset="0"/>
                <a:ea typeface="Calibri" pitchFamily="34" charset="-122"/>
                <a:cs typeface="Calibri" pitchFamily="34" charset="-120"/>
              </a:rPr>
              <a:t>Structural durability</a:t>
            </a:r>
            <a:endParaRPr lang="en-US" sz="1500" dirty="0"/>
          </a:p>
        </p:txBody>
      </p:sp>
      <p:sp>
        <p:nvSpPr>
          <p:cNvPr id="12" name="Shape 8"/>
          <p:cNvSpPr/>
          <p:nvPr/>
        </p:nvSpPr>
        <p:spPr>
          <a:xfrm>
            <a:off x="548640" y="3886200"/>
            <a:ext cx="512064" cy="512064"/>
          </a:xfrm>
          <a:prstGeom prst="ellipse">
            <a:avLst/>
          </a:prstGeom>
          <a:solidFill>
            <a:srgbClr val="C89B3C"/>
          </a:solidFill>
          <a:ln/>
        </p:spPr>
      </p:sp>
      <p:pic>
        <p:nvPicPr>
          <p:cNvPr id="13" name="Image 2" descr="/home/claude/manjula/icons/check_white.png">    </p:cNvPr>
          <p:cNvPicPr>
            <a:picLocks noChangeAspect="1"/>
          </p:cNvPicPr>
          <p:nvPr/>
        </p:nvPicPr>
        <p:blipFill>
          <a:blip r:embed="rId3"/>
          <a:stretch>
            <a:fillRect/>
          </a:stretch>
        </p:blipFill>
        <p:spPr>
          <a:xfrm>
            <a:off x="640812" y="3978372"/>
            <a:ext cx="327721" cy="327721"/>
          </a:xfrm>
          <a:prstGeom prst="rect">
            <a:avLst/>
          </a:prstGeom>
        </p:spPr>
      </p:pic>
      <p:sp>
        <p:nvSpPr>
          <p:cNvPr id="14" name="Text 9"/>
          <p:cNvSpPr/>
          <p:nvPr/>
        </p:nvSpPr>
        <p:spPr>
          <a:xfrm>
            <a:off x="1234440" y="3886200"/>
            <a:ext cx="4389120" cy="512064"/>
          </a:xfrm>
          <a:prstGeom prst="rect">
            <a:avLst/>
          </a:prstGeom>
          <a:noFill/>
          <a:ln/>
        </p:spPr>
        <p:txBody>
          <a:bodyPr wrap="square" rtlCol="0" anchor="ctr"/>
          <a:lstStyle/>
          <a:p>
            <a:pPr indent="0" marL="0">
              <a:buNone/>
            </a:pPr>
            <a:r>
              <a:rPr lang="en-US" sz="1500" b="1" dirty="0">
                <a:solidFill>
                  <a:srgbClr val="26262A"/>
                </a:solidFill>
                <a:latin typeface="Calibri" pitchFamily="34" charset="0"/>
                <a:ea typeface="Calibri" pitchFamily="34" charset="-122"/>
                <a:cs typeface="Calibri" pitchFamily="34" charset="-120"/>
              </a:rPr>
              <a:t>Quality inspections</a:t>
            </a:r>
            <a:endParaRPr lang="en-US" sz="1500" dirty="0"/>
          </a:p>
        </p:txBody>
      </p:sp>
      <p:sp>
        <p:nvSpPr>
          <p:cNvPr id="15" name="Shape 10"/>
          <p:cNvSpPr/>
          <p:nvPr/>
        </p:nvSpPr>
        <p:spPr>
          <a:xfrm>
            <a:off x="548640" y="4617720"/>
            <a:ext cx="512064" cy="512064"/>
          </a:xfrm>
          <a:prstGeom prst="ellipse">
            <a:avLst/>
          </a:prstGeom>
          <a:solidFill>
            <a:srgbClr val="C89B3C"/>
          </a:solidFill>
          <a:ln/>
        </p:spPr>
      </p:sp>
      <p:pic>
        <p:nvPicPr>
          <p:cNvPr id="16" name="Image 3" descr="/home/claude/manjula/icons/check_white.png">    </p:cNvPr>
          <p:cNvPicPr>
            <a:picLocks noChangeAspect="1"/>
          </p:cNvPicPr>
          <p:nvPr/>
        </p:nvPicPr>
        <p:blipFill>
          <a:blip r:embed="rId4"/>
          <a:stretch>
            <a:fillRect/>
          </a:stretch>
        </p:blipFill>
        <p:spPr>
          <a:xfrm>
            <a:off x="640812" y="4709892"/>
            <a:ext cx="327721" cy="327721"/>
          </a:xfrm>
          <a:prstGeom prst="rect">
            <a:avLst/>
          </a:prstGeom>
        </p:spPr>
      </p:pic>
      <p:sp>
        <p:nvSpPr>
          <p:cNvPr id="17" name="Text 11"/>
          <p:cNvSpPr/>
          <p:nvPr/>
        </p:nvSpPr>
        <p:spPr>
          <a:xfrm>
            <a:off x="1234440" y="4617720"/>
            <a:ext cx="4389120" cy="512064"/>
          </a:xfrm>
          <a:prstGeom prst="rect">
            <a:avLst/>
          </a:prstGeom>
          <a:noFill/>
          <a:ln/>
        </p:spPr>
        <p:txBody>
          <a:bodyPr wrap="square" rtlCol="0" anchor="ctr"/>
          <a:lstStyle/>
          <a:p>
            <a:pPr indent="0" marL="0">
              <a:buNone/>
            </a:pPr>
            <a:r>
              <a:rPr lang="en-US" sz="1500" b="1" dirty="0">
                <a:solidFill>
                  <a:srgbClr val="26262A"/>
                </a:solidFill>
                <a:latin typeface="Calibri" pitchFamily="34" charset="0"/>
                <a:ea typeface="Calibri" pitchFamily="34" charset="-122"/>
                <a:cs typeface="Calibri" pitchFamily="34" charset="-120"/>
              </a:rPr>
              <a:t>Safety procedures</a:t>
            </a:r>
            <a:endParaRPr lang="en-US" sz="1500" dirty="0"/>
          </a:p>
        </p:txBody>
      </p:sp>
      <p:sp>
        <p:nvSpPr>
          <p:cNvPr id="18" name="Shape 12"/>
          <p:cNvSpPr/>
          <p:nvPr/>
        </p:nvSpPr>
        <p:spPr>
          <a:xfrm>
            <a:off x="6263640" y="914400"/>
            <a:ext cx="5349240" cy="5166360"/>
          </a:xfrm>
          <a:prstGeom prst="roundRect">
            <a:avLst>
              <a:gd name="adj" fmla="val 1593"/>
            </a:avLst>
          </a:prstGeom>
          <a:solidFill>
            <a:srgbClr val="16233F"/>
          </a:solidFill>
          <a:ln/>
        </p:spPr>
      </p:sp>
      <p:sp>
        <p:nvSpPr>
          <p:cNvPr id="19" name="Shape 13"/>
          <p:cNvSpPr/>
          <p:nvPr/>
        </p:nvSpPr>
        <p:spPr>
          <a:xfrm>
            <a:off x="6629400" y="1280160"/>
            <a:ext cx="777240" cy="777240"/>
          </a:xfrm>
          <a:prstGeom prst="ellipse">
            <a:avLst/>
          </a:prstGeom>
          <a:solidFill>
            <a:srgbClr val="C89B3C"/>
          </a:solidFill>
          <a:ln/>
        </p:spPr>
      </p:sp>
      <p:pic>
        <p:nvPicPr>
          <p:cNvPr id="20" name="Image 4" descr="/home/claude/manjula/icons/shield_navy.png">    </p:cNvPr>
          <p:cNvPicPr>
            <a:picLocks noChangeAspect="1"/>
          </p:cNvPicPr>
          <p:nvPr/>
        </p:nvPicPr>
        <p:blipFill>
          <a:blip r:embed="rId5"/>
          <a:stretch>
            <a:fillRect/>
          </a:stretch>
        </p:blipFill>
        <p:spPr>
          <a:xfrm>
            <a:off x="6769303" y="1420063"/>
            <a:ext cx="497434" cy="497434"/>
          </a:xfrm>
          <a:prstGeom prst="rect">
            <a:avLst/>
          </a:prstGeom>
        </p:spPr>
      </p:pic>
      <p:sp>
        <p:nvSpPr>
          <p:cNvPr id="21" name="Text 14"/>
          <p:cNvSpPr/>
          <p:nvPr/>
        </p:nvSpPr>
        <p:spPr>
          <a:xfrm>
            <a:off x="6629400" y="2240280"/>
            <a:ext cx="4572000" cy="320040"/>
          </a:xfrm>
          <a:prstGeom prst="rect">
            <a:avLst/>
          </a:prstGeom>
          <a:noFill/>
          <a:ln/>
        </p:spPr>
        <p:txBody>
          <a:bodyPr wrap="square" rtlCol="0" anchor="ctr"/>
          <a:lstStyle/>
          <a:p>
            <a:pPr indent="0" marL="0">
              <a:buNone/>
            </a:pPr>
            <a:r>
              <a:rPr lang="en-US" sz="1200" b="1" spc="200" kern="0" dirty="0">
                <a:solidFill>
                  <a:srgbClr val="C89B3C"/>
                </a:solidFill>
                <a:latin typeface="Calibri" pitchFamily="34" charset="0"/>
                <a:ea typeface="Calibri" pitchFamily="34" charset="-122"/>
                <a:cs typeface="Calibri" pitchFamily="34" charset="-120"/>
              </a:rPr>
              <a:t>SAFETY COMMITMENT</a:t>
            </a:r>
            <a:endParaRPr lang="en-US" sz="1200" dirty="0"/>
          </a:p>
        </p:txBody>
      </p:sp>
      <p:sp>
        <p:nvSpPr>
          <p:cNvPr id="22" name="Text 15"/>
          <p:cNvSpPr/>
          <p:nvPr/>
        </p:nvSpPr>
        <p:spPr>
          <a:xfrm>
            <a:off x="6629400" y="2651760"/>
            <a:ext cx="4663440" cy="2011680"/>
          </a:xfrm>
          <a:prstGeom prst="rect">
            <a:avLst/>
          </a:prstGeom>
          <a:noFill/>
          <a:ln/>
        </p:spPr>
        <p:txBody>
          <a:bodyPr wrap="square" rtlCol="0" anchor="ctr"/>
          <a:lstStyle/>
          <a:p>
            <a:pPr indent="0" marL="0">
              <a:lnSpc>
                <a:spcPct val="140000"/>
              </a:lnSpc>
              <a:buNone/>
            </a:pPr>
            <a:r>
              <a:rPr lang="en-US" sz="1700" i="1" dirty="0">
                <a:solidFill>
                  <a:srgbClr val="D8DEED"/>
                </a:solidFill>
                <a:latin typeface="Cambria" pitchFamily="34" charset="0"/>
                <a:ea typeface="Cambria" pitchFamily="34" charset="-122"/>
                <a:cs typeface="Cambria" pitchFamily="34" charset="-120"/>
              </a:rPr>
              <a:t>We maintain high construction standards throughout every phase of the project — from groundbreaking to final handover — protecting our workers, clients, and the communities we build in.</a:t>
            </a:r>
            <a:endParaRPr lang="en-US" sz="1700" dirty="0"/>
          </a:p>
        </p:txBody>
      </p:sp>
      <p:sp>
        <p:nvSpPr>
          <p:cNvPr id="23" name="Text 16"/>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24" name="Text 1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18</a:t>
            </a:r>
            <a:endParaRPr lang="en-US" sz="1600" dirty="0"/>
          </a:p>
        </p:txBody>
      </p:sp>
      <p:sp>
        <p:nvSpPr>
          <p:cNvPr id="3"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6E6E72"/>
                </a:solidFill>
                <a:latin typeface="Calibri" pitchFamily="34" charset="0"/>
                <a:ea typeface="Calibri" pitchFamily="34" charset="-122"/>
                <a:cs typeface="Calibri" pitchFamily="34" charset="-120"/>
              </a:rPr>
              <a:t>CUSTOMER TESTIMONIALS</a:t>
            </a:r>
            <a:endParaRPr lang="en-US" sz="1200" dirty="0"/>
          </a:p>
        </p:txBody>
      </p:sp>
      <p:sp>
        <p:nvSpPr>
          <p:cNvPr id="4" name="Text 2"/>
          <p:cNvSpPr/>
          <p:nvPr/>
        </p:nvSpPr>
        <p:spPr>
          <a:xfrm>
            <a:off x="548640" y="914400"/>
            <a:ext cx="7315200" cy="54864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What Our Clients Say</a:t>
            </a:r>
            <a:endParaRPr lang="en-US" sz="2600" dirty="0"/>
          </a:p>
        </p:txBody>
      </p:sp>
      <p:sp>
        <p:nvSpPr>
          <p:cNvPr id="5" name="Shape 3"/>
          <p:cNvSpPr/>
          <p:nvPr/>
        </p:nvSpPr>
        <p:spPr>
          <a:xfrm>
            <a:off x="548640" y="1920240"/>
            <a:ext cx="3520440" cy="3566160"/>
          </a:xfrm>
          <a:prstGeom prst="roundRect">
            <a:avLst>
              <a:gd name="adj" fmla="val 2338"/>
            </a:avLst>
          </a:prstGeom>
          <a:solidFill>
            <a:srgbClr val="FFFFFF"/>
          </a:solidFill>
          <a:ln/>
        </p:spPr>
      </p:sp>
      <p:pic>
        <p:nvPicPr>
          <p:cNvPr id="6" name="Image 0" descr="/home/claude/manjula/icons/quote_gold.png">    </p:cNvPr>
          <p:cNvPicPr>
            <a:picLocks noChangeAspect="1"/>
          </p:cNvPicPr>
          <p:nvPr/>
        </p:nvPicPr>
        <p:blipFill>
          <a:blip r:embed="rId1"/>
          <a:stretch>
            <a:fillRect/>
          </a:stretch>
        </p:blipFill>
        <p:spPr>
          <a:xfrm>
            <a:off x="868680" y="2240280"/>
            <a:ext cx="457200" cy="457200"/>
          </a:xfrm>
          <a:prstGeom prst="rect">
            <a:avLst/>
          </a:prstGeom>
        </p:spPr>
      </p:pic>
      <p:sp>
        <p:nvSpPr>
          <p:cNvPr id="7" name="Text 4"/>
          <p:cNvSpPr/>
          <p:nvPr/>
        </p:nvSpPr>
        <p:spPr>
          <a:xfrm>
            <a:off x="868680" y="2926080"/>
            <a:ext cx="2880360" cy="1645920"/>
          </a:xfrm>
          <a:prstGeom prst="rect">
            <a:avLst/>
          </a:prstGeom>
          <a:noFill/>
          <a:ln/>
        </p:spPr>
        <p:txBody>
          <a:bodyPr wrap="square" rtlCol="0" anchor="ctr"/>
          <a:lstStyle/>
          <a:p>
            <a:pPr indent="0" marL="0">
              <a:lnSpc>
                <a:spcPct val="135000"/>
              </a:lnSpc>
              <a:buNone/>
            </a:pPr>
            <a:r>
              <a:rPr lang="en-US" sz="1600" i="1" dirty="0">
                <a:solidFill>
                  <a:srgbClr val="26262A"/>
                </a:solidFill>
                <a:latin typeface="Cambria" pitchFamily="34" charset="0"/>
                <a:ea typeface="Cambria" pitchFamily="34" charset="-122"/>
                <a:cs typeface="Cambria" pitchFamily="34" charset="-120"/>
              </a:rPr>
              <a:t>Professional service and excellent project management.</a:t>
            </a:r>
            <a:endParaRPr lang="en-US" sz="1600" dirty="0"/>
          </a:p>
        </p:txBody>
      </p:sp>
      <p:sp>
        <p:nvSpPr>
          <p:cNvPr id="8" name="Shape 5"/>
          <p:cNvSpPr/>
          <p:nvPr/>
        </p:nvSpPr>
        <p:spPr>
          <a:xfrm>
            <a:off x="868680" y="4709160"/>
            <a:ext cx="548640" cy="0"/>
          </a:xfrm>
          <a:prstGeom prst="line">
            <a:avLst/>
          </a:prstGeom>
          <a:noFill/>
          <a:ln w="25400">
            <a:solidFill>
              <a:srgbClr val="C89B3C"/>
            </a:solidFill>
            <a:prstDash val="solid"/>
          </a:ln>
        </p:spPr>
      </p:sp>
      <p:sp>
        <p:nvSpPr>
          <p:cNvPr id="9" name="Text 6"/>
          <p:cNvSpPr/>
          <p:nvPr/>
        </p:nvSpPr>
        <p:spPr>
          <a:xfrm>
            <a:off x="868680" y="4892040"/>
            <a:ext cx="2880360" cy="365760"/>
          </a:xfrm>
          <a:prstGeom prst="rect">
            <a:avLst/>
          </a:prstGeom>
          <a:noFill/>
          <a:ln/>
        </p:spPr>
        <p:txBody>
          <a:bodyPr wrap="square" rtlCol="0" anchor="ctr"/>
          <a:lstStyle/>
          <a:p>
            <a:pPr indent="0" marL="0">
              <a:buNone/>
            </a:pPr>
            <a:r>
              <a:rPr lang="en-US" sz="1050" b="1" spc="150" kern="0" dirty="0">
                <a:solidFill>
                  <a:srgbClr val="6E6E72"/>
                </a:solidFill>
                <a:latin typeface="Calibri" pitchFamily="34" charset="0"/>
                <a:ea typeface="Calibri" pitchFamily="34" charset="-122"/>
                <a:cs typeface="Calibri" pitchFamily="34" charset="-120"/>
              </a:rPr>
              <a:t>RESIDENTIAL CLIENT</a:t>
            </a:r>
            <a:endParaRPr lang="en-US" sz="1050" dirty="0"/>
          </a:p>
        </p:txBody>
      </p:sp>
      <p:sp>
        <p:nvSpPr>
          <p:cNvPr id="10" name="Shape 7"/>
          <p:cNvSpPr/>
          <p:nvPr/>
        </p:nvSpPr>
        <p:spPr>
          <a:xfrm>
            <a:off x="4343400" y="1920240"/>
            <a:ext cx="3520440" cy="3566160"/>
          </a:xfrm>
          <a:prstGeom prst="roundRect">
            <a:avLst>
              <a:gd name="adj" fmla="val 2338"/>
            </a:avLst>
          </a:prstGeom>
          <a:solidFill>
            <a:srgbClr val="FFFFFF"/>
          </a:solidFill>
          <a:ln/>
        </p:spPr>
      </p:sp>
      <p:pic>
        <p:nvPicPr>
          <p:cNvPr id="11" name="Image 1" descr="/home/claude/manjula/icons/quote_gold.png">    </p:cNvPr>
          <p:cNvPicPr>
            <a:picLocks noChangeAspect="1"/>
          </p:cNvPicPr>
          <p:nvPr/>
        </p:nvPicPr>
        <p:blipFill>
          <a:blip r:embed="rId2"/>
          <a:stretch>
            <a:fillRect/>
          </a:stretch>
        </p:blipFill>
        <p:spPr>
          <a:xfrm>
            <a:off x="4663440" y="2240280"/>
            <a:ext cx="457200" cy="457200"/>
          </a:xfrm>
          <a:prstGeom prst="rect">
            <a:avLst/>
          </a:prstGeom>
        </p:spPr>
      </p:pic>
      <p:sp>
        <p:nvSpPr>
          <p:cNvPr id="12" name="Text 8"/>
          <p:cNvSpPr/>
          <p:nvPr/>
        </p:nvSpPr>
        <p:spPr>
          <a:xfrm>
            <a:off x="4663440" y="2926080"/>
            <a:ext cx="2880360" cy="1645920"/>
          </a:xfrm>
          <a:prstGeom prst="rect">
            <a:avLst/>
          </a:prstGeom>
          <a:noFill/>
          <a:ln/>
        </p:spPr>
        <p:txBody>
          <a:bodyPr wrap="square" rtlCol="0" anchor="ctr"/>
          <a:lstStyle/>
          <a:p>
            <a:pPr indent="0" marL="0">
              <a:lnSpc>
                <a:spcPct val="135000"/>
              </a:lnSpc>
              <a:buNone/>
            </a:pPr>
            <a:r>
              <a:rPr lang="en-US" sz="1600" i="1" dirty="0">
                <a:solidFill>
                  <a:srgbClr val="26262A"/>
                </a:solidFill>
                <a:latin typeface="Cambria" pitchFamily="34" charset="0"/>
                <a:ea typeface="Cambria" pitchFamily="34" charset="-122"/>
                <a:cs typeface="Cambria" pitchFamily="34" charset="-120"/>
              </a:rPr>
              <a:t>Outstanding quality and timely completion.</a:t>
            </a:r>
            <a:endParaRPr lang="en-US" sz="1600" dirty="0"/>
          </a:p>
        </p:txBody>
      </p:sp>
      <p:sp>
        <p:nvSpPr>
          <p:cNvPr id="13" name="Shape 9"/>
          <p:cNvSpPr/>
          <p:nvPr/>
        </p:nvSpPr>
        <p:spPr>
          <a:xfrm>
            <a:off x="4663440" y="4709160"/>
            <a:ext cx="548640" cy="0"/>
          </a:xfrm>
          <a:prstGeom prst="line">
            <a:avLst/>
          </a:prstGeom>
          <a:noFill/>
          <a:ln w="25400">
            <a:solidFill>
              <a:srgbClr val="C89B3C"/>
            </a:solidFill>
            <a:prstDash val="solid"/>
          </a:ln>
        </p:spPr>
      </p:sp>
      <p:sp>
        <p:nvSpPr>
          <p:cNvPr id="14" name="Text 10"/>
          <p:cNvSpPr/>
          <p:nvPr/>
        </p:nvSpPr>
        <p:spPr>
          <a:xfrm>
            <a:off x="4663440" y="4892040"/>
            <a:ext cx="2880360" cy="365760"/>
          </a:xfrm>
          <a:prstGeom prst="rect">
            <a:avLst/>
          </a:prstGeom>
          <a:noFill/>
          <a:ln/>
        </p:spPr>
        <p:txBody>
          <a:bodyPr wrap="square" rtlCol="0" anchor="ctr"/>
          <a:lstStyle/>
          <a:p>
            <a:pPr indent="0" marL="0">
              <a:buNone/>
            </a:pPr>
            <a:r>
              <a:rPr lang="en-US" sz="1050" b="1" spc="150" kern="0" dirty="0">
                <a:solidFill>
                  <a:srgbClr val="6E6E72"/>
                </a:solidFill>
                <a:latin typeface="Calibri" pitchFamily="34" charset="0"/>
                <a:ea typeface="Calibri" pitchFamily="34" charset="-122"/>
                <a:cs typeface="Calibri" pitchFamily="34" charset="-120"/>
              </a:rPr>
              <a:t>COMMERCIAL CLIENT</a:t>
            </a:r>
            <a:endParaRPr lang="en-US" sz="1050" dirty="0"/>
          </a:p>
        </p:txBody>
      </p:sp>
      <p:sp>
        <p:nvSpPr>
          <p:cNvPr id="15" name="Shape 11"/>
          <p:cNvSpPr/>
          <p:nvPr/>
        </p:nvSpPr>
        <p:spPr>
          <a:xfrm>
            <a:off x="8138160" y="1920240"/>
            <a:ext cx="3520440" cy="3566160"/>
          </a:xfrm>
          <a:prstGeom prst="roundRect">
            <a:avLst>
              <a:gd name="adj" fmla="val 2338"/>
            </a:avLst>
          </a:prstGeom>
          <a:solidFill>
            <a:srgbClr val="FFFFFF"/>
          </a:solidFill>
          <a:ln/>
        </p:spPr>
      </p:sp>
      <p:pic>
        <p:nvPicPr>
          <p:cNvPr id="16" name="Image 2" descr="/home/claude/manjula/icons/quote_gold.png">    </p:cNvPr>
          <p:cNvPicPr>
            <a:picLocks noChangeAspect="1"/>
          </p:cNvPicPr>
          <p:nvPr/>
        </p:nvPicPr>
        <p:blipFill>
          <a:blip r:embed="rId3"/>
          <a:stretch>
            <a:fillRect/>
          </a:stretch>
        </p:blipFill>
        <p:spPr>
          <a:xfrm>
            <a:off x="8458200" y="2240280"/>
            <a:ext cx="457200" cy="457200"/>
          </a:xfrm>
          <a:prstGeom prst="rect">
            <a:avLst/>
          </a:prstGeom>
        </p:spPr>
      </p:pic>
      <p:sp>
        <p:nvSpPr>
          <p:cNvPr id="17" name="Text 12"/>
          <p:cNvSpPr/>
          <p:nvPr/>
        </p:nvSpPr>
        <p:spPr>
          <a:xfrm>
            <a:off x="8458200" y="2926080"/>
            <a:ext cx="2880360" cy="1645920"/>
          </a:xfrm>
          <a:prstGeom prst="rect">
            <a:avLst/>
          </a:prstGeom>
          <a:noFill/>
          <a:ln/>
        </p:spPr>
        <p:txBody>
          <a:bodyPr wrap="square" rtlCol="0" anchor="ctr"/>
          <a:lstStyle/>
          <a:p>
            <a:pPr indent="0" marL="0">
              <a:lnSpc>
                <a:spcPct val="135000"/>
              </a:lnSpc>
              <a:buNone/>
            </a:pPr>
            <a:r>
              <a:rPr lang="en-US" sz="1600" i="1" dirty="0">
                <a:solidFill>
                  <a:srgbClr val="26262A"/>
                </a:solidFill>
                <a:latin typeface="Cambria" pitchFamily="34" charset="0"/>
                <a:ea typeface="Cambria" pitchFamily="34" charset="-122"/>
                <a:cs typeface="Cambria" pitchFamily="34" charset="-120"/>
              </a:rPr>
              <a:t>A trusted construction partner for our family.</a:t>
            </a:r>
            <a:endParaRPr lang="en-US" sz="1600" dirty="0"/>
          </a:p>
        </p:txBody>
      </p:sp>
      <p:sp>
        <p:nvSpPr>
          <p:cNvPr id="18" name="Shape 13"/>
          <p:cNvSpPr/>
          <p:nvPr/>
        </p:nvSpPr>
        <p:spPr>
          <a:xfrm>
            <a:off x="8458200" y="4709160"/>
            <a:ext cx="548640" cy="0"/>
          </a:xfrm>
          <a:prstGeom prst="line">
            <a:avLst/>
          </a:prstGeom>
          <a:noFill/>
          <a:ln w="25400">
            <a:solidFill>
              <a:srgbClr val="C89B3C"/>
            </a:solidFill>
            <a:prstDash val="solid"/>
          </a:ln>
        </p:spPr>
      </p:sp>
      <p:sp>
        <p:nvSpPr>
          <p:cNvPr id="19" name="Text 14"/>
          <p:cNvSpPr/>
          <p:nvPr/>
        </p:nvSpPr>
        <p:spPr>
          <a:xfrm>
            <a:off x="8458200" y="4892040"/>
            <a:ext cx="2880360" cy="365760"/>
          </a:xfrm>
          <a:prstGeom prst="rect">
            <a:avLst/>
          </a:prstGeom>
          <a:noFill/>
          <a:ln/>
        </p:spPr>
        <p:txBody>
          <a:bodyPr wrap="square" rtlCol="0" anchor="ctr"/>
          <a:lstStyle/>
          <a:p>
            <a:pPr indent="0" marL="0">
              <a:buNone/>
            </a:pPr>
            <a:r>
              <a:rPr lang="en-US" sz="1050" b="1" spc="150" kern="0" dirty="0">
                <a:solidFill>
                  <a:srgbClr val="6E6E72"/>
                </a:solidFill>
                <a:latin typeface="Calibri" pitchFamily="34" charset="0"/>
                <a:ea typeface="Calibri" pitchFamily="34" charset="-122"/>
                <a:cs typeface="Calibri" pitchFamily="34" charset="-120"/>
              </a:rPr>
              <a:t>VILLA OWNER</a:t>
            </a:r>
            <a:endParaRPr lang="en-US" sz="1050" dirty="0"/>
          </a:p>
        </p:txBody>
      </p:sp>
      <p:sp>
        <p:nvSpPr>
          <p:cNvPr id="20" name="Text 15"/>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6E6E72"/>
                </a:solidFill>
                <a:latin typeface="Calibri" pitchFamily="34" charset="0"/>
                <a:ea typeface="Calibri" pitchFamily="34" charset="-122"/>
                <a:cs typeface="Calibri" pitchFamily="34" charset="-120"/>
              </a:rPr>
              <a:t>MANJULA CONSTRUCTION</a:t>
            </a:r>
            <a:endParaRPr lang="en-US" sz="900" dirty="0"/>
          </a:p>
        </p:txBody>
      </p:sp>
      <p:sp>
        <p:nvSpPr>
          <p:cNvPr id="21"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6E7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33F"/>
        </a:solidFill>
      </p:bgPr>
    </p:bg>
    <p:spTree>
      <p:nvGrpSpPr>
        <p:cNvPr id="1" name=""/>
        <p:cNvGrpSpPr/>
        <p:nvPr/>
      </p:nvGrpSpPr>
      <p:grpSpPr>
        <a:xfrm>
          <a:off x="0" y="0"/>
          <a:ext cx="0" cy="0"/>
          <a:chOff x="0" y="0"/>
          <a:chExt cx="0" cy="0"/>
        </a:xfrm>
      </p:grpSpPr>
      <p:pic>
        <p:nvPicPr>
          <p:cNvPr id="2" name="Image 0" descr="/home/claude/manjula/icons/skyline_gold_faint.png">    </p:cNvPr>
          <p:cNvPicPr>
            <a:picLocks noChangeAspect="1"/>
          </p:cNvPicPr>
          <p:nvPr/>
        </p:nvPicPr>
        <p:blipFill>
          <a:blip r:embed="rId1"/>
          <a:stretch>
            <a:fillRect/>
          </a:stretch>
        </p:blipFill>
        <p:spPr>
          <a:xfrm>
            <a:off x="-274320" y="4663440"/>
            <a:ext cx="12801600" cy="2286000"/>
          </a:xfrm>
          <a:prstGeom prst="rect">
            <a:avLst/>
          </a:prstGeom>
        </p:spPr>
      </p:pic>
      <p:sp>
        <p:nvSpPr>
          <p:cNvPr id="3" name="Text 0"/>
          <p:cNvSpPr/>
          <p:nvPr/>
        </p:nvSpPr>
        <p:spPr>
          <a:xfrm>
            <a:off x="548640" y="384048"/>
            <a:ext cx="1097280" cy="457200"/>
          </a:xfrm>
          <a:prstGeom prst="rect">
            <a:avLst/>
          </a:prstGeom>
          <a:noFill/>
          <a:ln/>
        </p:spPr>
        <p:txBody>
          <a:bodyPr wrap="square" rtlCol="0" anchor="ctr"/>
          <a:lstStyle/>
          <a:p>
            <a:pPr indent="0" marL="0">
              <a:buNone/>
            </a:pPr>
            <a:r>
              <a:rPr lang="en-US" sz="1600" b="1" spc="100" kern="0" dirty="0">
                <a:solidFill>
                  <a:srgbClr val="C89B3C"/>
                </a:solidFill>
                <a:latin typeface="Cambria" pitchFamily="34" charset="0"/>
                <a:ea typeface="Cambria" pitchFamily="34" charset="-122"/>
                <a:cs typeface="Cambria" pitchFamily="34" charset="-120"/>
              </a:rPr>
              <a:t>19</a:t>
            </a:r>
            <a:endParaRPr lang="en-US" sz="1600" dirty="0"/>
          </a:p>
        </p:txBody>
      </p:sp>
      <p:sp>
        <p:nvSpPr>
          <p:cNvPr id="4" name="Text 1"/>
          <p:cNvSpPr/>
          <p:nvPr/>
        </p:nvSpPr>
        <p:spPr>
          <a:xfrm>
            <a:off x="1051560" y="384048"/>
            <a:ext cx="7315200" cy="457200"/>
          </a:xfrm>
          <a:prstGeom prst="rect">
            <a:avLst/>
          </a:prstGeom>
          <a:noFill/>
          <a:ln/>
        </p:spPr>
        <p:txBody>
          <a:bodyPr wrap="square" rtlCol="0" anchor="ctr"/>
          <a:lstStyle/>
          <a:p>
            <a:pPr indent="0" marL="0">
              <a:buNone/>
            </a:pPr>
            <a:r>
              <a:rPr lang="en-US" sz="1200" b="1" spc="200" kern="0" dirty="0">
                <a:solidFill>
                  <a:srgbClr val="AEB9D6"/>
                </a:solidFill>
                <a:latin typeface="Calibri" pitchFamily="34" charset="0"/>
                <a:ea typeface="Calibri" pitchFamily="34" charset="-122"/>
                <a:cs typeface="Calibri" pitchFamily="34" charset="-120"/>
              </a:rPr>
              <a:t>FUTURE VISION</a:t>
            </a:r>
            <a:endParaRPr lang="en-US" sz="1200" dirty="0"/>
          </a:p>
        </p:txBody>
      </p:sp>
      <p:sp>
        <p:nvSpPr>
          <p:cNvPr id="5" name="Shape 2"/>
          <p:cNvSpPr/>
          <p:nvPr/>
        </p:nvSpPr>
        <p:spPr>
          <a:xfrm>
            <a:off x="548640" y="1371600"/>
            <a:ext cx="822960" cy="822960"/>
          </a:xfrm>
          <a:prstGeom prst="ellipse">
            <a:avLst/>
          </a:prstGeom>
          <a:solidFill>
            <a:srgbClr val="C89B3C"/>
          </a:solidFill>
          <a:ln/>
        </p:spPr>
      </p:sp>
      <p:pic>
        <p:nvPicPr>
          <p:cNvPr id="6" name="Image 1" descr="/home/claude/manjula/icons/chart_navy.png">    </p:cNvPr>
          <p:cNvPicPr>
            <a:picLocks noChangeAspect="1"/>
          </p:cNvPicPr>
          <p:nvPr/>
        </p:nvPicPr>
        <p:blipFill>
          <a:blip r:embed="rId2"/>
          <a:stretch>
            <a:fillRect/>
          </a:stretch>
        </p:blipFill>
        <p:spPr>
          <a:xfrm>
            <a:off x="696773" y="1519733"/>
            <a:ext cx="526694" cy="526694"/>
          </a:xfrm>
          <a:prstGeom prst="rect">
            <a:avLst/>
          </a:prstGeom>
        </p:spPr>
      </p:pic>
      <p:sp>
        <p:nvSpPr>
          <p:cNvPr id="7" name="Text 3"/>
          <p:cNvSpPr/>
          <p:nvPr/>
        </p:nvSpPr>
        <p:spPr>
          <a:xfrm>
            <a:off x="548640" y="237744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Our Vision Forward</a:t>
            </a:r>
            <a:endParaRPr lang="en-US" sz="3000" dirty="0"/>
          </a:p>
        </p:txBody>
      </p:sp>
      <p:sp>
        <p:nvSpPr>
          <p:cNvPr id="8" name="Text 4"/>
          <p:cNvSpPr/>
          <p:nvPr/>
        </p:nvSpPr>
        <p:spPr>
          <a:xfrm>
            <a:off x="548640" y="3154680"/>
            <a:ext cx="8686800" cy="1463040"/>
          </a:xfrm>
          <a:prstGeom prst="rect">
            <a:avLst/>
          </a:prstGeom>
          <a:noFill/>
          <a:ln/>
        </p:spPr>
        <p:txBody>
          <a:bodyPr wrap="square" rtlCol="0" anchor="ctr"/>
          <a:lstStyle/>
          <a:p>
            <a:pPr indent="0" marL="0">
              <a:lnSpc>
                <a:spcPct val="145000"/>
              </a:lnSpc>
              <a:buNone/>
            </a:pPr>
            <a:r>
              <a:rPr lang="en-US" sz="1500" dirty="0">
                <a:solidFill>
                  <a:srgbClr val="C7CFE6"/>
                </a:solidFill>
                <a:latin typeface="Calibri" pitchFamily="34" charset="0"/>
                <a:ea typeface="Calibri" pitchFamily="34" charset="-122"/>
                <a:cs typeface="Calibri" pitchFamily="34" charset="-120"/>
              </a:rPr>
              <a:t>Our vision is to continue building modern, sustainable, and innovative projects that create long-term value for our clients. We are committed to expanding our expertise while maintaining the quality and trust that have defined Manjula Construction for more than 20 years.</a:t>
            </a:r>
            <a:endParaRPr lang="en-US" sz="1500" dirty="0"/>
          </a:p>
        </p:txBody>
      </p:sp>
      <p:sp>
        <p:nvSpPr>
          <p:cNvPr id="9" name="Text 5"/>
          <p:cNvSpPr/>
          <p:nvPr/>
        </p:nvSpPr>
        <p:spPr>
          <a:xfrm>
            <a:off x="457200" y="6473952"/>
            <a:ext cx="4572000" cy="274320"/>
          </a:xfrm>
          <a:prstGeom prst="rect">
            <a:avLst/>
          </a:prstGeom>
          <a:noFill/>
          <a:ln/>
        </p:spPr>
        <p:txBody>
          <a:bodyPr wrap="square" rtlCol="0" anchor="ctr"/>
          <a:lstStyle/>
          <a:p>
            <a:pPr algn="l" indent="0" marL="0">
              <a:buNone/>
            </a:pPr>
            <a:r>
              <a:rPr lang="en-US" sz="900" spc="200" kern="0" dirty="0">
                <a:solidFill>
                  <a:srgbClr val="9BA6C4"/>
                </a:solidFill>
                <a:latin typeface="Calibri" pitchFamily="34" charset="0"/>
                <a:ea typeface="Calibri" pitchFamily="34" charset="-122"/>
                <a:cs typeface="Calibri" pitchFamily="34" charset="-120"/>
              </a:rPr>
              <a:t>MANJULA CONSTRUCTION</a:t>
            </a:r>
            <a:endParaRPr lang="en-US" sz="900" dirty="0"/>
          </a:p>
        </p:txBody>
      </p:sp>
      <p:sp>
        <p:nvSpPr>
          <p:cNvPr id="10" name="Text 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BA6C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33F"/>
        </a:solidFill>
      </p:bgPr>
    </p:bg>
    <p:spTree>
      <p:nvGrpSpPr>
        <p:cNvPr id="1" name=""/>
        <p:cNvGrpSpPr/>
        <p:nvPr/>
      </p:nvGrpSpPr>
      <p:grpSpPr>
        <a:xfrm>
          <a:off x="0" y="0"/>
          <a:ext cx="0" cy="0"/>
          <a:chOff x="0" y="0"/>
          <a:chExt cx="0" cy="0"/>
        </a:xfrm>
      </p:grpSpPr>
      <p:pic>
        <p:nvPicPr>
          <p:cNvPr id="2" name="Image 0" descr="/home/claude/manjula/icons/skyline_gold_faint.png">    </p:cNvPr>
          <p:cNvPicPr>
            <a:picLocks noChangeAspect="1"/>
          </p:cNvPicPr>
          <p:nvPr/>
        </p:nvPicPr>
        <p:blipFill>
          <a:blip r:embed="rId1"/>
          <a:stretch>
            <a:fillRect/>
          </a:stretch>
        </p:blipFill>
        <p:spPr>
          <a:xfrm>
            <a:off x="-274320" y="4709160"/>
            <a:ext cx="12801600" cy="2286000"/>
          </a:xfrm>
          <a:prstGeom prst="rect">
            <a:avLst/>
          </a:prstGeom>
        </p:spPr>
      </p:pic>
      <p:sp>
        <p:nvSpPr>
          <p:cNvPr id="3" name="Text 0"/>
          <p:cNvSpPr/>
          <p:nvPr/>
        </p:nvSpPr>
        <p:spPr>
          <a:xfrm>
            <a:off x="822960" y="685800"/>
            <a:ext cx="9144000" cy="548640"/>
          </a:xfrm>
          <a:prstGeom prst="rect">
            <a:avLst/>
          </a:prstGeom>
          <a:noFill/>
          <a:ln/>
        </p:spPr>
        <p:txBody>
          <a:bodyPr wrap="square" rtlCol="0" anchor="ctr"/>
          <a:lstStyle/>
          <a:p>
            <a:pPr indent="0" marL="0">
              <a:buNone/>
            </a:pPr>
            <a:r>
              <a:rPr lang="en-US" sz="3000" b="1" spc="100" kern="0" dirty="0">
                <a:solidFill>
                  <a:srgbClr val="FFFFFF"/>
                </a:solidFill>
                <a:latin typeface="Cambria" pitchFamily="34" charset="0"/>
                <a:ea typeface="Cambria" pitchFamily="34" charset="-122"/>
                <a:cs typeface="Cambria" pitchFamily="34" charset="-120"/>
              </a:rPr>
              <a:t>MANJULA CONSTRUCTION</a:t>
            </a:r>
            <a:endParaRPr lang="en-US" sz="3000" dirty="0"/>
          </a:p>
        </p:txBody>
      </p:sp>
      <p:sp>
        <p:nvSpPr>
          <p:cNvPr id="4" name="Text 1"/>
          <p:cNvSpPr/>
          <p:nvPr/>
        </p:nvSpPr>
        <p:spPr>
          <a:xfrm>
            <a:off x="822960" y="1234440"/>
            <a:ext cx="9144000" cy="365760"/>
          </a:xfrm>
          <a:prstGeom prst="rect">
            <a:avLst/>
          </a:prstGeom>
          <a:noFill/>
          <a:ln/>
        </p:spPr>
        <p:txBody>
          <a:bodyPr wrap="square" rtlCol="0" anchor="ctr"/>
          <a:lstStyle/>
          <a:p>
            <a:pPr indent="0" marL="0">
              <a:buNone/>
            </a:pPr>
            <a:r>
              <a:rPr lang="en-US" sz="1200" spc="150" kern="0" dirty="0">
                <a:solidFill>
                  <a:srgbClr val="C89B3C"/>
                </a:solidFill>
                <a:latin typeface="Calibri" pitchFamily="34" charset="0"/>
                <a:ea typeface="Calibri" pitchFamily="34" charset="-122"/>
                <a:cs typeface="Calibri" pitchFamily="34" charset="-120"/>
              </a:rPr>
              <a:t>20+ YEARS OF EXCELLENCE   •   50+ COMPLETED PROJECTS</a:t>
            </a:r>
            <a:endParaRPr lang="en-US" sz="1200" dirty="0"/>
          </a:p>
        </p:txBody>
      </p:sp>
      <p:sp>
        <p:nvSpPr>
          <p:cNvPr id="5" name="Shape 2"/>
          <p:cNvSpPr/>
          <p:nvPr/>
        </p:nvSpPr>
        <p:spPr>
          <a:xfrm>
            <a:off x="841248" y="1737360"/>
            <a:ext cx="1280160" cy="0"/>
          </a:xfrm>
          <a:prstGeom prst="line">
            <a:avLst/>
          </a:prstGeom>
          <a:noFill/>
          <a:ln w="25400">
            <a:solidFill>
              <a:srgbClr val="C89B3C"/>
            </a:solidFill>
            <a:prstDash val="solid"/>
          </a:ln>
        </p:spPr>
      </p:sp>
      <p:sp>
        <p:nvSpPr>
          <p:cNvPr id="6" name="Shape 3"/>
          <p:cNvSpPr/>
          <p:nvPr/>
        </p:nvSpPr>
        <p:spPr>
          <a:xfrm>
            <a:off x="822960" y="2194560"/>
            <a:ext cx="438912" cy="438912"/>
          </a:xfrm>
          <a:prstGeom prst="ellipse">
            <a:avLst/>
          </a:prstGeom>
          <a:solidFill>
            <a:srgbClr val="C89B3C"/>
          </a:solidFill>
          <a:ln/>
        </p:spPr>
      </p:sp>
      <p:pic>
        <p:nvPicPr>
          <p:cNvPr id="7" name="Image 1" descr="/home/claude/manjula/icons/phone_navy.png">    </p:cNvPr>
          <p:cNvPicPr>
            <a:picLocks noChangeAspect="1"/>
          </p:cNvPicPr>
          <p:nvPr/>
        </p:nvPicPr>
        <p:blipFill>
          <a:blip r:embed="rId2"/>
          <a:stretch>
            <a:fillRect/>
          </a:stretch>
        </p:blipFill>
        <p:spPr>
          <a:xfrm>
            <a:off x="901964" y="2273564"/>
            <a:ext cx="280904" cy="280904"/>
          </a:xfrm>
          <a:prstGeom prst="rect">
            <a:avLst/>
          </a:prstGeom>
        </p:spPr>
      </p:pic>
      <p:sp>
        <p:nvSpPr>
          <p:cNvPr id="8" name="Text 4"/>
          <p:cNvSpPr/>
          <p:nvPr/>
        </p:nvSpPr>
        <p:spPr>
          <a:xfrm>
            <a:off x="1417320" y="2176272"/>
            <a:ext cx="3657600" cy="274320"/>
          </a:xfrm>
          <a:prstGeom prst="rect">
            <a:avLst/>
          </a:prstGeom>
          <a:noFill/>
          <a:ln/>
        </p:spPr>
        <p:txBody>
          <a:bodyPr wrap="square" rtlCol="0" anchor="ctr"/>
          <a:lstStyle/>
          <a:p>
            <a:pPr indent="0" marL="0">
              <a:buNone/>
            </a:pPr>
            <a:r>
              <a:rPr lang="en-US" sz="1000" b="1" spc="150" kern="0" dirty="0">
                <a:solidFill>
                  <a:srgbClr val="8C97B8"/>
                </a:solidFill>
                <a:latin typeface="Calibri" pitchFamily="34" charset="0"/>
                <a:ea typeface="Calibri" pitchFamily="34" charset="-122"/>
                <a:cs typeface="Calibri" pitchFamily="34" charset="-120"/>
              </a:rPr>
              <a:t>PHONE</a:t>
            </a:r>
            <a:endParaRPr lang="en-US" sz="1000" dirty="0"/>
          </a:p>
        </p:txBody>
      </p:sp>
      <p:sp>
        <p:nvSpPr>
          <p:cNvPr id="9" name="Text 5"/>
          <p:cNvSpPr/>
          <p:nvPr/>
        </p:nvSpPr>
        <p:spPr>
          <a:xfrm>
            <a:off x="1417320" y="2377440"/>
            <a:ext cx="6400800" cy="54864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95669 93556  •  63740 44464</a:t>
            </a:r>
            <a:endParaRPr lang="en-US" sz="1350" dirty="0"/>
          </a:p>
        </p:txBody>
      </p:sp>
      <p:sp>
        <p:nvSpPr>
          <p:cNvPr id="10" name="Shape 6"/>
          <p:cNvSpPr/>
          <p:nvPr/>
        </p:nvSpPr>
        <p:spPr>
          <a:xfrm>
            <a:off x="822960" y="2816352"/>
            <a:ext cx="438912" cy="438912"/>
          </a:xfrm>
          <a:prstGeom prst="ellipse">
            <a:avLst/>
          </a:prstGeom>
          <a:solidFill>
            <a:srgbClr val="C89B3C"/>
          </a:solidFill>
          <a:ln/>
        </p:spPr>
      </p:sp>
      <p:pic>
        <p:nvPicPr>
          <p:cNvPr id="11" name="Image 2" descr="/home/claude/manjula/icons/envelope_navy.png">    </p:cNvPr>
          <p:cNvPicPr>
            <a:picLocks noChangeAspect="1"/>
          </p:cNvPicPr>
          <p:nvPr/>
        </p:nvPicPr>
        <p:blipFill>
          <a:blip r:embed="rId3"/>
          <a:stretch>
            <a:fillRect/>
          </a:stretch>
        </p:blipFill>
        <p:spPr>
          <a:xfrm>
            <a:off x="901964" y="2895356"/>
            <a:ext cx="280904" cy="280904"/>
          </a:xfrm>
          <a:prstGeom prst="rect">
            <a:avLst/>
          </a:prstGeom>
        </p:spPr>
      </p:pic>
      <p:sp>
        <p:nvSpPr>
          <p:cNvPr id="12" name="Text 7"/>
          <p:cNvSpPr/>
          <p:nvPr/>
        </p:nvSpPr>
        <p:spPr>
          <a:xfrm>
            <a:off x="1417320" y="2798064"/>
            <a:ext cx="3657600" cy="274320"/>
          </a:xfrm>
          <a:prstGeom prst="rect">
            <a:avLst/>
          </a:prstGeom>
          <a:noFill/>
          <a:ln/>
        </p:spPr>
        <p:txBody>
          <a:bodyPr wrap="square" rtlCol="0" anchor="ctr"/>
          <a:lstStyle/>
          <a:p>
            <a:pPr indent="0" marL="0">
              <a:buNone/>
            </a:pPr>
            <a:r>
              <a:rPr lang="en-US" sz="1000" b="1" spc="150" kern="0" dirty="0">
                <a:solidFill>
                  <a:srgbClr val="8C97B8"/>
                </a:solidFill>
                <a:latin typeface="Calibri" pitchFamily="34" charset="0"/>
                <a:ea typeface="Calibri" pitchFamily="34" charset="-122"/>
                <a:cs typeface="Calibri" pitchFamily="34" charset="-120"/>
              </a:rPr>
              <a:t>EMAIL</a:t>
            </a:r>
            <a:endParaRPr lang="en-US" sz="1000" dirty="0"/>
          </a:p>
        </p:txBody>
      </p:sp>
      <p:sp>
        <p:nvSpPr>
          <p:cNvPr id="13" name="Text 8"/>
          <p:cNvSpPr/>
          <p:nvPr/>
        </p:nvSpPr>
        <p:spPr>
          <a:xfrm>
            <a:off x="1417320" y="2999232"/>
            <a:ext cx="6400800" cy="54864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manjulaconstruction04@gmail.com</a:t>
            </a:r>
            <a:endParaRPr lang="en-US" sz="1350" dirty="0"/>
          </a:p>
        </p:txBody>
      </p:sp>
      <p:sp>
        <p:nvSpPr>
          <p:cNvPr id="14" name="Shape 9"/>
          <p:cNvSpPr/>
          <p:nvPr/>
        </p:nvSpPr>
        <p:spPr>
          <a:xfrm>
            <a:off x="822960" y="3438144"/>
            <a:ext cx="438912" cy="438912"/>
          </a:xfrm>
          <a:prstGeom prst="ellipse">
            <a:avLst/>
          </a:prstGeom>
          <a:solidFill>
            <a:srgbClr val="C89B3C"/>
          </a:solidFill>
          <a:ln/>
        </p:spPr>
      </p:sp>
      <p:pic>
        <p:nvPicPr>
          <p:cNvPr id="15" name="Image 3" descr="/home/claude/manjula/icons/marker_navy.png">    </p:cNvPr>
          <p:cNvPicPr>
            <a:picLocks noChangeAspect="1"/>
          </p:cNvPicPr>
          <p:nvPr/>
        </p:nvPicPr>
        <p:blipFill>
          <a:blip r:embed="rId4"/>
          <a:stretch>
            <a:fillRect/>
          </a:stretch>
        </p:blipFill>
        <p:spPr>
          <a:xfrm>
            <a:off x="901964" y="3517148"/>
            <a:ext cx="280904" cy="280904"/>
          </a:xfrm>
          <a:prstGeom prst="rect">
            <a:avLst/>
          </a:prstGeom>
        </p:spPr>
      </p:pic>
      <p:sp>
        <p:nvSpPr>
          <p:cNvPr id="16" name="Text 10"/>
          <p:cNvSpPr/>
          <p:nvPr/>
        </p:nvSpPr>
        <p:spPr>
          <a:xfrm>
            <a:off x="1417320" y="3419856"/>
            <a:ext cx="3657600" cy="274320"/>
          </a:xfrm>
          <a:prstGeom prst="rect">
            <a:avLst/>
          </a:prstGeom>
          <a:noFill/>
          <a:ln/>
        </p:spPr>
        <p:txBody>
          <a:bodyPr wrap="square" rtlCol="0" anchor="ctr"/>
          <a:lstStyle/>
          <a:p>
            <a:pPr indent="0" marL="0">
              <a:buNone/>
            </a:pPr>
            <a:r>
              <a:rPr lang="en-US" sz="1000" b="1" spc="150" kern="0" dirty="0">
                <a:solidFill>
                  <a:srgbClr val="8C97B8"/>
                </a:solidFill>
                <a:latin typeface="Calibri" pitchFamily="34" charset="0"/>
                <a:ea typeface="Calibri" pitchFamily="34" charset="-122"/>
                <a:cs typeface="Calibri" pitchFamily="34" charset="-120"/>
              </a:rPr>
              <a:t>ADDRESS</a:t>
            </a:r>
            <a:endParaRPr lang="en-US" sz="1000" dirty="0"/>
          </a:p>
        </p:txBody>
      </p:sp>
      <p:sp>
        <p:nvSpPr>
          <p:cNvPr id="17" name="Text 11"/>
          <p:cNvSpPr/>
          <p:nvPr/>
        </p:nvSpPr>
        <p:spPr>
          <a:xfrm>
            <a:off x="1417320" y="3621024"/>
            <a:ext cx="6400800" cy="54864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109, ST-5 Annamalai Garden, Devampalayam,</a:t>
            </a:r>
            <a:endParaRPr lang="en-US" sz="1350" dirty="0"/>
          </a:p>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Kovilpalayam, Coimbatore 641107</a:t>
            </a:r>
            <a:endParaRPr lang="en-US" sz="1350" dirty="0"/>
          </a:p>
        </p:txBody>
      </p:sp>
      <p:sp>
        <p:nvSpPr>
          <p:cNvPr id="18" name="Shape 12"/>
          <p:cNvSpPr/>
          <p:nvPr/>
        </p:nvSpPr>
        <p:spPr>
          <a:xfrm>
            <a:off x="822960" y="4215384"/>
            <a:ext cx="438912" cy="438912"/>
          </a:xfrm>
          <a:prstGeom prst="ellipse">
            <a:avLst/>
          </a:prstGeom>
          <a:solidFill>
            <a:srgbClr val="C89B3C"/>
          </a:solidFill>
          <a:ln/>
        </p:spPr>
      </p:sp>
      <p:pic>
        <p:nvPicPr>
          <p:cNvPr id="19" name="Image 4" descr="/home/claude/manjula/icons/users_navy.png">    </p:cNvPr>
          <p:cNvPicPr>
            <a:picLocks noChangeAspect="1"/>
          </p:cNvPicPr>
          <p:nvPr/>
        </p:nvPicPr>
        <p:blipFill>
          <a:blip r:embed="rId5"/>
          <a:stretch>
            <a:fillRect/>
          </a:stretch>
        </p:blipFill>
        <p:spPr>
          <a:xfrm>
            <a:off x="901964" y="4294388"/>
            <a:ext cx="280904" cy="280904"/>
          </a:xfrm>
          <a:prstGeom prst="rect">
            <a:avLst/>
          </a:prstGeom>
        </p:spPr>
      </p:pic>
      <p:sp>
        <p:nvSpPr>
          <p:cNvPr id="20" name="Text 13"/>
          <p:cNvSpPr/>
          <p:nvPr/>
        </p:nvSpPr>
        <p:spPr>
          <a:xfrm>
            <a:off x="1417320" y="4197096"/>
            <a:ext cx="3657600" cy="274320"/>
          </a:xfrm>
          <a:prstGeom prst="rect">
            <a:avLst/>
          </a:prstGeom>
          <a:noFill/>
          <a:ln/>
        </p:spPr>
        <p:txBody>
          <a:bodyPr wrap="square" rtlCol="0" anchor="ctr"/>
          <a:lstStyle/>
          <a:p>
            <a:pPr indent="0" marL="0">
              <a:buNone/>
            </a:pPr>
            <a:r>
              <a:rPr lang="en-US" sz="1000" b="1" spc="150" kern="0" dirty="0">
                <a:solidFill>
                  <a:srgbClr val="8C97B8"/>
                </a:solidFill>
                <a:latin typeface="Calibri" pitchFamily="34" charset="0"/>
                <a:ea typeface="Calibri" pitchFamily="34" charset="-122"/>
                <a:cs typeface="Calibri" pitchFamily="34" charset="-120"/>
              </a:rPr>
              <a:t>INSTAGRAM</a:t>
            </a:r>
            <a:endParaRPr lang="en-US" sz="1000" dirty="0"/>
          </a:p>
        </p:txBody>
      </p:sp>
      <p:sp>
        <p:nvSpPr>
          <p:cNvPr id="21" name="Text 14"/>
          <p:cNvSpPr/>
          <p:nvPr/>
        </p:nvSpPr>
        <p:spPr>
          <a:xfrm>
            <a:off x="1417320" y="4398264"/>
            <a:ext cx="6400800" cy="54864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manjula_construction</a:t>
            </a:r>
            <a:endParaRPr lang="en-US" sz="1350" dirty="0"/>
          </a:p>
        </p:txBody>
      </p:sp>
      <p:sp>
        <p:nvSpPr>
          <p:cNvPr id="22" name="Text 15"/>
          <p:cNvSpPr/>
          <p:nvPr/>
        </p:nvSpPr>
        <p:spPr>
          <a:xfrm>
            <a:off x="822960" y="6080760"/>
            <a:ext cx="10058400" cy="457200"/>
          </a:xfrm>
          <a:prstGeom prst="rect">
            <a:avLst/>
          </a:prstGeom>
          <a:noFill/>
          <a:ln/>
        </p:spPr>
        <p:txBody>
          <a:bodyPr wrap="square" rtlCol="0" anchor="ctr"/>
          <a:lstStyle/>
          <a:p>
            <a:pPr indent="0" marL="0">
              <a:buNone/>
            </a:pPr>
            <a:r>
              <a:rPr lang="en-US" sz="1400" i="1" dirty="0">
                <a:solidFill>
                  <a:srgbClr val="AEB9D6"/>
                </a:solidFill>
                <a:latin typeface="Cambria" pitchFamily="34" charset="0"/>
                <a:ea typeface="Cambria" pitchFamily="34" charset="-122"/>
                <a:cs typeface="Cambria" pitchFamily="34" charset="-120"/>
              </a:rPr>
              <a:t>"We don’t just construct buildings. We build trust, relationships, and lasting value."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2026-08-20T09:26:56Z</dcterms:created>
  <dcterms:modified xsi:type="dcterms:W3CDTF">2026-08-20T09:26:56Z</dcterms:modified>
</cp:coreProperties>
</file>